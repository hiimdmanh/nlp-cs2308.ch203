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6858000" cx="12191675"/>
  <p:notesSz cx="6858000" cy="121916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F771489-7EA7-439F-9CA7-88DC3161A82E}">
  <a:tblStyle styleId="{CF771489-7EA7-439F-9CA7-88DC3161A82E}"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 name="Google Shape;3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 name="Google Shape;3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 name="Google Shape;72;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 name="Google Shape;73;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0" name="Google Shape;9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 name="Google Shape;91;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4" name="Google Shape;12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5" name="Google Shape;12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1" name="Google Shape;181;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2" name="Google Shape;182;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2" name="Google Shape;19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6" name="Google Shape;24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7" name="Google Shape;247;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7" name="Google Shape;277;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8" name="Google Shape;278;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5" name="Google Shape;305;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6" name="Google Shape;306;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0" name="Google Shape;320;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1" name="Google Shape;321;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0" name="Google Shape;360;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1" name="Google Shape;361;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6" name="Google Shape;376;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7" name="Google Shape;377;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3" name="Google Shape;423;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4" name="Google Shape;424;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8" name="Google Shape;448;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9" name="Google Shape;449;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7" name="Google Shape;467;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8" name="Google Shape;468;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3" name="Google Shape;483;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4" name="Google Shape;484;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0" name="Google Shape;520;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1" name="Google Shape;521;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3" name="Shape 533"/>
        <p:cNvGrpSpPr/>
        <p:nvPr/>
      </p:nvGrpSpPr>
      <p:grpSpPr>
        <a:xfrm>
          <a:off x="0" y="0"/>
          <a:ext cx="0" cy="0"/>
          <a:chOff x="0" y="0"/>
          <a:chExt cx="0" cy="0"/>
        </a:xfrm>
      </p:grpSpPr>
      <p:sp>
        <p:nvSpPr>
          <p:cNvPr id="534" name="Google Shape;534;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5" name="Google Shape;535;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6" name="Google Shape;536;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15" name="Shape 15"/>
        <p:cNvGrpSpPr/>
        <p:nvPr/>
      </p:nvGrpSpPr>
      <p:grpSpPr>
        <a:xfrm>
          <a:off x="0" y="0"/>
          <a:ext cx="0" cy="0"/>
          <a:chOff x="0" y="0"/>
          <a:chExt cx="0" cy="0"/>
        </a:xfrm>
      </p:grpSpPr>
      <p:sp>
        <p:nvSpPr>
          <p:cNvPr id="16" name="Google Shape;16;p3"/>
          <p:cNvSpPr/>
          <p:nvPr/>
        </p:nvSpPr>
        <p:spPr>
          <a:xfrm>
            <a:off x="8869680" y="777240"/>
            <a:ext cx="1371600" cy="1371600"/>
          </a:xfrm>
          <a:prstGeom prst="ellipse">
            <a:avLst/>
          </a:prstGeom>
          <a:solidFill>
            <a:srgbClr val="2334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8869680" y="777240"/>
            <a:ext cx="1371600" cy="1371600"/>
          </a:xfrm>
          <a:prstGeom prst="ellipse">
            <a:avLst/>
          </a:prstGeom>
          <a:noFill/>
          <a:ln cap="flat" cmpd="sng" w="19050">
            <a:solidFill>
              <a:srgbClr val="C9A2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9646920" y="1280160"/>
            <a:ext cx="1371600" cy="1371600"/>
          </a:xfrm>
          <a:prstGeom prst="ellipse">
            <a:avLst/>
          </a:prstGeom>
          <a:solidFill>
            <a:srgbClr val="2334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3"/>
          <p:cNvSpPr/>
          <p:nvPr/>
        </p:nvSpPr>
        <p:spPr>
          <a:xfrm>
            <a:off x="9646920" y="1280160"/>
            <a:ext cx="1371600" cy="1371600"/>
          </a:xfrm>
          <a:prstGeom prst="ellipse">
            <a:avLst/>
          </a:prstGeom>
          <a:noFill/>
          <a:ln cap="flat" cmpd="sng" w="19050">
            <a:solidFill>
              <a:srgbClr val="E8D48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a:off x="8321040" y="1828800"/>
            <a:ext cx="1165860" cy="1165860"/>
          </a:xfrm>
          <a:prstGeom prst="ellipse">
            <a:avLst/>
          </a:prstGeom>
          <a:solidFill>
            <a:srgbClr val="2334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
          <p:cNvSpPr/>
          <p:nvPr/>
        </p:nvSpPr>
        <p:spPr>
          <a:xfrm>
            <a:off x="8321040" y="1828800"/>
            <a:ext cx="1165860" cy="1165860"/>
          </a:xfrm>
          <a:prstGeom prst="ellipse">
            <a:avLst/>
          </a:prstGeom>
          <a:noFill/>
          <a:ln cap="flat" cmpd="sng" w="15225">
            <a:solidFill>
              <a:srgbClr val="8C9BB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3"/>
          <p:cNvSpPr txBox="1"/>
          <p:nvPr/>
        </p:nvSpPr>
        <p:spPr>
          <a:xfrm>
            <a:off x="640080" y="1554480"/>
            <a:ext cx="9144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1300"/>
              <a:buFont typeface="Calibri"/>
              <a:buNone/>
            </a:pPr>
            <a:r>
              <a:rPr b="1" i="0" lang="en-US" sz="1300" u="none" cap="none" strike="noStrike">
                <a:solidFill>
                  <a:srgbClr val="C9A227"/>
                </a:solidFill>
                <a:latin typeface="Calibri"/>
                <a:ea typeface="Calibri"/>
                <a:cs typeface="Calibri"/>
                <a:sym typeface="Calibri"/>
              </a:rPr>
              <a:t>ĐỒ ÁN CUỐI KỲ  ·  CS2308.CH203</a:t>
            </a:r>
            <a:endParaRPr b="0" i="0" sz="1300" u="none" cap="none" strike="noStrike">
              <a:solidFill>
                <a:schemeClr val="dk1"/>
              </a:solidFill>
              <a:latin typeface="Calibri"/>
              <a:ea typeface="Calibri"/>
              <a:cs typeface="Calibri"/>
              <a:sym typeface="Calibri"/>
            </a:endParaRPr>
          </a:p>
        </p:txBody>
      </p:sp>
      <p:sp>
        <p:nvSpPr>
          <p:cNvPr id="23" name="Google Shape;23;p3"/>
          <p:cNvSpPr txBox="1"/>
          <p:nvPr/>
        </p:nvSpPr>
        <p:spPr>
          <a:xfrm>
            <a:off x="640080" y="1783080"/>
            <a:ext cx="7863840" cy="141732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FFFFFF"/>
              </a:buClr>
              <a:buSzPts val="3400"/>
              <a:buFont typeface="Times New Roman"/>
              <a:buNone/>
            </a:pPr>
            <a:r>
              <a:rPr b="1" i="0" lang="en-US" sz="3400" u="none" cap="none" strike="noStrike">
                <a:solidFill>
                  <a:srgbClr val="FFFFFF"/>
                </a:solidFill>
                <a:latin typeface="Times New Roman"/>
                <a:ea typeface="Times New Roman"/>
                <a:cs typeface="Times New Roman"/>
                <a:sym typeface="Times New Roman"/>
              </a:rPr>
              <a:t>Self-RAG-Inspired Retrieval-</a:t>
            </a:r>
            <a:endParaRPr b="0" i="0" sz="34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FFFFFF"/>
              </a:buClr>
              <a:buSzPts val="3400"/>
              <a:buFont typeface="Times New Roman"/>
              <a:buNone/>
            </a:pPr>
            <a:r>
              <a:rPr b="1" i="0" lang="en-US" sz="3400" u="none" cap="none" strike="noStrike">
                <a:solidFill>
                  <a:srgbClr val="FFFFFF"/>
                </a:solidFill>
                <a:latin typeface="Times New Roman"/>
                <a:ea typeface="Times New Roman"/>
                <a:cs typeface="Times New Roman"/>
                <a:sym typeface="Times New Roman"/>
              </a:rPr>
              <a:t>Augmented Generation</a:t>
            </a:r>
            <a:endParaRPr b="0" i="0" sz="3400" u="none" cap="none" strike="noStrike">
              <a:solidFill>
                <a:schemeClr val="dk1"/>
              </a:solidFill>
              <a:latin typeface="Calibri"/>
              <a:ea typeface="Calibri"/>
              <a:cs typeface="Calibri"/>
              <a:sym typeface="Calibri"/>
            </a:endParaRPr>
          </a:p>
        </p:txBody>
      </p:sp>
      <p:sp>
        <p:nvSpPr>
          <p:cNvPr id="24" name="Google Shape;24;p3"/>
          <p:cNvSpPr txBox="1"/>
          <p:nvPr/>
        </p:nvSpPr>
        <p:spPr>
          <a:xfrm>
            <a:off x="640080" y="3200400"/>
            <a:ext cx="786384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D48A"/>
              </a:buClr>
              <a:buSzPts val="2400"/>
              <a:buFont typeface="Times New Roman"/>
              <a:buNone/>
            </a:pPr>
            <a:r>
              <a:rPr b="0" i="0" lang="en-US" sz="2400" u="none" cap="none" strike="noStrike">
                <a:solidFill>
                  <a:srgbClr val="E8D48A"/>
                </a:solidFill>
                <a:latin typeface="Times New Roman"/>
                <a:ea typeface="Times New Roman"/>
                <a:cs typeface="Times New Roman"/>
                <a:sym typeface="Times New Roman"/>
              </a:rPr>
              <a:t>cho Hỏi–Đáp Pháp Luật Tiếng Việt</a:t>
            </a:r>
            <a:endParaRPr b="0" i="0" sz="2400" u="none" cap="none" strike="noStrike">
              <a:solidFill>
                <a:schemeClr val="dk1"/>
              </a:solidFill>
              <a:latin typeface="Calibri"/>
              <a:ea typeface="Calibri"/>
              <a:cs typeface="Calibri"/>
              <a:sym typeface="Calibri"/>
            </a:endParaRPr>
          </a:p>
        </p:txBody>
      </p:sp>
      <p:cxnSp>
        <p:nvCxnSpPr>
          <p:cNvPr id="25" name="Google Shape;25;p3"/>
          <p:cNvCxnSpPr/>
          <p:nvPr/>
        </p:nvCxnSpPr>
        <p:spPr>
          <a:xfrm>
            <a:off x="658368" y="3913632"/>
            <a:ext cx="2011680" cy="0"/>
          </a:xfrm>
          <a:prstGeom prst="straightConnector1">
            <a:avLst/>
          </a:prstGeom>
          <a:noFill/>
          <a:ln cap="flat" cmpd="sng" w="25400">
            <a:solidFill>
              <a:srgbClr val="C9A227"/>
            </a:solidFill>
            <a:prstDash val="solid"/>
            <a:round/>
            <a:headEnd len="sm" w="sm" type="none"/>
            <a:tailEnd len="sm" w="sm" type="none"/>
          </a:ln>
        </p:spPr>
      </p:cxnSp>
      <p:sp>
        <p:nvSpPr>
          <p:cNvPr id="26" name="Google Shape;26;p3"/>
          <p:cNvSpPr txBox="1"/>
          <p:nvPr/>
        </p:nvSpPr>
        <p:spPr>
          <a:xfrm>
            <a:off x="640080" y="4096512"/>
            <a:ext cx="896112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D0E2"/>
              </a:buClr>
              <a:buSzPts val="1350"/>
              <a:buFont typeface="Calibri"/>
              <a:buNone/>
            </a:pPr>
            <a:r>
              <a:rPr b="0" i="1" lang="en-US" sz="1350" u="none" cap="none" strike="noStrike">
                <a:solidFill>
                  <a:srgbClr val="C7D0E2"/>
                </a:solidFill>
                <a:latin typeface="Calibri"/>
                <a:ea typeface="Calibri"/>
                <a:cs typeface="Calibri"/>
                <a:sym typeface="Calibri"/>
              </a:rPr>
              <a:t>Xây dựng và so sánh định lượng ba hệ thống hỏi–đáp pháp luật — No-RAG, Standard RAG,</a:t>
            </a:r>
            <a:endParaRPr b="0" i="0" sz="13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7D0E2"/>
              </a:buClr>
              <a:buSzPts val="1350"/>
              <a:buFont typeface="Calibri"/>
              <a:buNone/>
            </a:pPr>
            <a:r>
              <a:rPr b="0" i="1" lang="en-US" sz="1350" u="none" cap="none" strike="noStrike">
                <a:solidFill>
                  <a:srgbClr val="C7D0E2"/>
                </a:solidFill>
                <a:latin typeface="Calibri"/>
                <a:ea typeface="Calibri"/>
                <a:cs typeface="Calibri"/>
                <a:sym typeface="Calibri"/>
              </a:rPr>
              <a:t>và Self-RAG-inspired — lấy cảm hứng từ Self-RAG (Asai et al., ICLR 2024)</a:t>
            </a:r>
            <a:endParaRPr b="0" i="0" sz="1350" u="none" cap="none" strike="noStrike">
              <a:solidFill>
                <a:schemeClr val="dk1"/>
              </a:solidFill>
              <a:latin typeface="Calibri"/>
              <a:ea typeface="Calibri"/>
              <a:cs typeface="Calibri"/>
              <a:sym typeface="Calibri"/>
            </a:endParaRPr>
          </a:p>
        </p:txBody>
      </p:sp>
      <p:sp>
        <p:nvSpPr>
          <p:cNvPr id="27" name="Google Shape;27;p3"/>
          <p:cNvSpPr txBox="1"/>
          <p:nvPr/>
        </p:nvSpPr>
        <p:spPr>
          <a:xfrm>
            <a:off x="640080" y="5349240"/>
            <a:ext cx="7315200" cy="64008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Clr>
                <a:srgbClr val="FFFFFF"/>
              </a:buClr>
              <a:buSzPts val="1400"/>
              <a:buFont typeface="Calibri"/>
              <a:buNone/>
            </a:pPr>
            <a:r>
              <a:rPr b="1" i="0" lang="en-US" sz="1400" u="none" cap="none" strike="noStrike">
                <a:solidFill>
                  <a:srgbClr val="FFFFFF"/>
                </a:solidFill>
                <a:latin typeface="Calibri"/>
                <a:ea typeface="Calibri"/>
                <a:cs typeface="Calibri"/>
                <a:sym typeface="Calibri"/>
              </a:rPr>
              <a:t>Vũ Đức Mạnh</a:t>
            </a:r>
            <a:r>
              <a:rPr b="0" i="0" lang="en-US" sz="1400" u="none" cap="none" strike="noStrike">
                <a:solidFill>
                  <a:srgbClr val="C7D0E2"/>
                </a:solidFill>
                <a:latin typeface="Calibri"/>
                <a:ea typeface="Calibri"/>
                <a:cs typeface="Calibri"/>
                <a:sym typeface="Calibri"/>
              </a:rPr>
              <a:t>  ·  250201075</a:t>
            </a:r>
            <a:br>
              <a:rPr b="0" i="0" lang="en-US" sz="1400" u="none" cap="none" strike="noStrike">
                <a:solidFill>
                  <a:srgbClr val="C7D0E2"/>
                </a:solidFill>
                <a:latin typeface="Calibri"/>
                <a:ea typeface="Calibri"/>
                <a:cs typeface="Calibri"/>
                <a:sym typeface="Calibri"/>
              </a:rPr>
            </a:br>
            <a:r>
              <a:rPr b="1" i="0" lang="en-US" sz="1400" u="none" cap="none" strike="noStrike">
                <a:solidFill>
                  <a:srgbClr val="FFFFFF"/>
                </a:solidFill>
                <a:latin typeface="Calibri"/>
                <a:ea typeface="Calibri"/>
                <a:cs typeface="Calibri"/>
                <a:sym typeface="Calibri"/>
              </a:rPr>
              <a:t>Nguyễn Hoàng Nam</a:t>
            </a:r>
            <a:r>
              <a:rPr b="0" i="0" lang="en-US" sz="1400" u="none" cap="none" strike="noStrike">
                <a:solidFill>
                  <a:srgbClr val="C7D0E2"/>
                </a:solidFill>
                <a:latin typeface="Calibri"/>
                <a:ea typeface="Calibri"/>
                <a:cs typeface="Calibri"/>
                <a:sym typeface="Calibri"/>
              </a:rPr>
              <a:t>  ·  250201018</a:t>
            </a:r>
            <a:endParaRPr b="0" i="0" sz="1400" u="none" cap="none" strike="noStrike">
              <a:solidFill>
                <a:schemeClr val="dk1"/>
              </a:solidFill>
              <a:latin typeface="Calibri"/>
              <a:ea typeface="Calibri"/>
              <a:cs typeface="Calibri"/>
              <a:sym typeface="Calibri"/>
            </a:endParaRPr>
          </a:p>
        </p:txBody>
      </p:sp>
      <p:sp>
        <p:nvSpPr>
          <p:cNvPr id="28" name="Google Shape;28;p3"/>
          <p:cNvSpPr txBox="1"/>
          <p:nvPr/>
        </p:nvSpPr>
        <p:spPr>
          <a:xfrm>
            <a:off x="640080" y="6035040"/>
            <a:ext cx="8229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9BB5"/>
              </a:buClr>
              <a:buSzPts val="1150"/>
              <a:buFont typeface="Calibri"/>
              <a:buNone/>
            </a:pPr>
            <a:r>
              <a:rPr b="0" i="0" lang="en-US" sz="1150" u="none" cap="none" strike="noStrike">
                <a:solidFill>
                  <a:srgbClr val="8C9BB5"/>
                </a:solidFill>
                <a:latin typeface="Calibri"/>
                <a:ea typeface="Calibri"/>
                <a:cs typeface="Calibri"/>
                <a:sym typeface="Calibri"/>
              </a:rPr>
              <a:t>Trường Đại học Công nghệ Thông tin, ĐHQG-HCM</a:t>
            </a:r>
            <a:endParaRPr b="0" i="0" sz="1150" u="none" cap="none" strike="noStrike">
              <a:solidFill>
                <a:schemeClr val="dk1"/>
              </a:solidFill>
              <a:latin typeface="Calibri"/>
              <a:ea typeface="Calibri"/>
              <a:cs typeface="Calibri"/>
              <a:sym typeface="Calibri"/>
            </a:endParaRPr>
          </a:p>
        </p:txBody>
      </p:sp>
      <p:sp>
        <p:nvSpPr>
          <p:cNvPr id="29" name="Google Shape;29;p3"/>
          <p:cNvSpPr txBox="1"/>
          <p:nvPr/>
        </p:nvSpPr>
        <p:spPr>
          <a:xfrm>
            <a:off x="457200" y="6547104"/>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9BB5"/>
              </a:buClr>
              <a:buSzPts val="900"/>
              <a:buFont typeface="Calibri"/>
              <a:buNone/>
            </a:pPr>
            <a:r>
              <a:rPr b="0" i="0" lang="en-US" sz="900" u="none" cap="none" strike="noStrike">
                <a:solidFill>
                  <a:srgbClr val="8C9BB5"/>
                </a:solidFill>
                <a:latin typeface="Calibri"/>
                <a:ea typeface="Calibri"/>
                <a:cs typeface="Calibri"/>
                <a:sym typeface="Calibri"/>
              </a:rPr>
              <a:t>Self-RAG-Inspired Legal QA  ·  CS2308.CH203</a:t>
            </a:r>
            <a:endParaRPr b="0" i="0" sz="900" u="none" cap="none" strike="noStrike">
              <a:solidFill>
                <a:schemeClr val="dk1"/>
              </a:solidFill>
              <a:latin typeface="Calibri"/>
              <a:ea typeface="Calibri"/>
              <a:cs typeface="Calibri"/>
              <a:sym typeface="Calibri"/>
            </a:endParaRPr>
          </a:p>
        </p:txBody>
      </p:sp>
      <p:sp>
        <p:nvSpPr>
          <p:cNvPr id="30" name="Google Shape;30;p3"/>
          <p:cNvSpPr txBox="1"/>
          <p:nvPr/>
        </p:nvSpPr>
        <p:spPr>
          <a:xfrm>
            <a:off x="11274552" y="6547104"/>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C9BB5"/>
              </a:buClr>
              <a:buSzPts val="900"/>
              <a:buFont typeface="Calibri"/>
              <a:buNone/>
            </a:pPr>
            <a:r>
              <a:rPr b="0" i="0" lang="en-US" sz="900" u="none" cap="none" strike="noStrike">
                <a:solidFill>
                  <a:srgbClr val="8C9BB5"/>
                </a:solidFill>
                <a:latin typeface="Calibri"/>
                <a:ea typeface="Calibri"/>
                <a:cs typeface="Calibri"/>
                <a:sym typeface="Calibri"/>
              </a:rPr>
              <a:t>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 name="Shape 35"/>
        <p:cNvGrpSpPr/>
        <p:nvPr/>
      </p:nvGrpSpPr>
      <p:grpSpPr>
        <a:xfrm>
          <a:off x="0" y="0"/>
          <a:ext cx="0" cy="0"/>
          <a:chOff x="0" y="0"/>
          <a:chExt cx="0" cy="0"/>
        </a:xfrm>
      </p:grpSpPr>
      <p:sp>
        <p:nvSpPr>
          <p:cNvPr id="36" name="Google Shape;36;p4"/>
          <p:cNvSpPr txBox="1"/>
          <p:nvPr/>
        </p:nvSpPr>
        <p:spPr>
          <a:xfrm>
            <a:off x="457200" y="320040"/>
            <a:ext cx="105156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1200"/>
              <a:buFont typeface="Calibri"/>
              <a:buNone/>
            </a:pPr>
            <a:r>
              <a:rPr b="1" i="0" lang="en-US" sz="1200" u="none" cap="none" strike="noStrike">
                <a:solidFill>
                  <a:srgbClr val="C9A227"/>
                </a:solidFill>
                <a:latin typeface="Calibri"/>
                <a:ea typeface="Calibri"/>
                <a:cs typeface="Calibri"/>
                <a:sym typeface="Calibri"/>
              </a:rPr>
              <a:t>NỘI DUNG TRÌNH BÀY</a:t>
            </a:r>
            <a:endParaRPr b="0" i="0" sz="1200" u="none" cap="none" strike="noStrike">
              <a:solidFill>
                <a:schemeClr val="dk1"/>
              </a:solidFill>
              <a:latin typeface="Calibri"/>
              <a:ea typeface="Calibri"/>
              <a:cs typeface="Calibri"/>
              <a:sym typeface="Calibri"/>
            </a:endParaRPr>
          </a:p>
        </p:txBody>
      </p:sp>
      <p:sp>
        <p:nvSpPr>
          <p:cNvPr id="37" name="Google Shape;37;p4"/>
          <p:cNvSpPr txBox="1"/>
          <p:nvPr/>
        </p:nvSpPr>
        <p:spPr>
          <a:xfrm>
            <a:off x="457200" y="566928"/>
            <a:ext cx="1078992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A"/>
              </a:buClr>
              <a:buSzPts val="2800"/>
              <a:buFont typeface="Times New Roman"/>
              <a:buNone/>
            </a:pPr>
            <a:r>
              <a:rPr b="1" i="0" lang="en-US" sz="2800" u="none" cap="none" strike="noStrike">
                <a:solidFill>
                  <a:srgbClr val="1B2A4A"/>
                </a:solidFill>
                <a:latin typeface="Times New Roman"/>
                <a:ea typeface="Times New Roman"/>
                <a:cs typeface="Times New Roman"/>
                <a:sym typeface="Times New Roman"/>
              </a:rPr>
              <a:t>Agenda</a:t>
            </a:r>
            <a:endParaRPr b="0" i="0" sz="2800" u="none" cap="none" strike="noStrike">
              <a:solidFill>
                <a:schemeClr val="dk1"/>
              </a:solidFill>
              <a:latin typeface="Calibri"/>
              <a:ea typeface="Calibri"/>
              <a:cs typeface="Calibri"/>
              <a:sym typeface="Calibri"/>
            </a:endParaRPr>
          </a:p>
        </p:txBody>
      </p:sp>
      <p:sp>
        <p:nvSpPr>
          <p:cNvPr id="38" name="Google Shape;38;p4"/>
          <p:cNvSpPr/>
          <p:nvPr/>
        </p:nvSpPr>
        <p:spPr>
          <a:xfrm>
            <a:off x="457200" y="1508760"/>
            <a:ext cx="5349240" cy="1463040"/>
          </a:xfrm>
          <a:prstGeom prst="roundRect">
            <a:avLst>
              <a:gd fmla="val 5000" name="adj"/>
            </a:avLst>
          </a:prstGeom>
          <a:solidFill>
            <a:srgbClr val="EEF1F6"/>
          </a:solidFill>
          <a:ln>
            <a:noFill/>
          </a:ln>
          <a:effectLst>
            <a:outerShdw blurRad="76200" rotWithShape="0" algn="bl" dir="5400000" dist="25400">
              <a:srgbClr val="1B2A4A">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4"/>
          <p:cNvSpPr/>
          <p:nvPr/>
        </p:nvSpPr>
        <p:spPr>
          <a:xfrm>
            <a:off x="713232" y="1764792"/>
            <a:ext cx="566928" cy="566928"/>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4"/>
          <p:cNvSpPr txBox="1"/>
          <p:nvPr/>
        </p:nvSpPr>
        <p:spPr>
          <a:xfrm>
            <a:off x="713232" y="1764792"/>
            <a:ext cx="566928"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D48A"/>
              </a:buClr>
              <a:buSzPts val="1800"/>
              <a:buFont typeface="Times New Roman"/>
              <a:buNone/>
            </a:pPr>
            <a:r>
              <a:rPr b="1" i="0" lang="en-US" sz="1800" u="none" cap="none" strike="noStrike">
                <a:solidFill>
                  <a:srgbClr val="E8D48A"/>
                </a:solidFill>
                <a:latin typeface="Times New Roman"/>
                <a:ea typeface="Times New Roman"/>
                <a:cs typeface="Times New Roman"/>
                <a:sym typeface="Times New Roman"/>
              </a:rPr>
              <a:t>01</a:t>
            </a:r>
            <a:endParaRPr b="0" i="0" sz="1800" u="none" cap="none" strike="noStrike">
              <a:solidFill>
                <a:schemeClr val="dk1"/>
              </a:solidFill>
              <a:latin typeface="Calibri"/>
              <a:ea typeface="Calibri"/>
              <a:cs typeface="Calibri"/>
              <a:sym typeface="Calibri"/>
            </a:endParaRPr>
          </a:p>
        </p:txBody>
      </p:sp>
      <p:sp>
        <p:nvSpPr>
          <p:cNvPr id="41" name="Google Shape;41;p4"/>
          <p:cNvSpPr txBox="1"/>
          <p:nvPr/>
        </p:nvSpPr>
        <p:spPr>
          <a:xfrm>
            <a:off x="1463040" y="1709928"/>
            <a:ext cx="4114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1500"/>
              <a:buFont typeface="Calibri"/>
              <a:buNone/>
            </a:pPr>
            <a:r>
              <a:rPr b="1" i="0" lang="en-US" sz="1500" u="none" cap="none" strike="noStrike">
                <a:solidFill>
                  <a:srgbClr val="1B2A4A"/>
                </a:solidFill>
                <a:latin typeface="Calibri"/>
                <a:ea typeface="Calibri"/>
                <a:cs typeface="Calibri"/>
                <a:sym typeface="Calibri"/>
              </a:rPr>
              <a:t>Động lực nghiên cứu</a:t>
            </a:r>
            <a:endParaRPr b="0" i="0" sz="1500" u="none" cap="none" strike="noStrike">
              <a:solidFill>
                <a:schemeClr val="dk1"/>
              </a:solidFill>
              <a:latin typeface="Calibri"/>
              <a:ea typeface="Calibri"/>
              <a:cs typeface="Calibri"/>
              <a:sym typeface="Calibri"/>
            </a:endParaRPr>
          </a:p>
        </p:txBody>
      </p:sp>
      <p:sp>
        <p:nvSpPr>
          <p:cNvPr id="42" name="Google Shape;42;p4"/>
          <p:cNvSpPr txBox="1"/>
          <p:nvPr/>
        </p:nvSpPr>
        <p:spPr>
          <a:xfrm>
            <a:off x="1463040" y="2075688"/>
            <a:ext cx="411480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B85"/>
              </a:buClr>
              <a:buSzPts val="1150"/>
              <a:buFont typeface="Calibri"/>
              <a:buNone/>
            </a:pPr>
            <a:r>
              <a:rPr b="0" i="0" lang="en-US" sz="1150" u="none" cap="none" strike="noStrike">
                <a:solidFill>
                  <a:srgbClr val="5B6B85"/>
                </a:solidFill>
                <a:latin typeface="Calibri"/>
                <a:ea typeface="Calibri"/>
                <a:cs typeface="Calibri"/>
                <a:sym typeface="Calibri"/>
              </a:rPr>
              <a:t>Hallucination của LLM và vai trò của RAG</a:t>
            </a:r>
            <a:endParaRPr b="0" i="0" sz="1150" u="none" cap="none" strike="noStrike">
              <a:solidFill>
                <a:schemeClr val="dk1"/>
              </a:solidFill>
              <a:latin typeface="Calibri"/>
              <a:ea typeface="Calibri"/>
              <a:cs typeface="Calibri"/>
              <a:sym typeface="Calibri"/>
            </a:endParaRPr>
          </a:p>
        </p:txBody>
      </p:sp>
      <p:sp>
        <p:nvSpPr>
          <p:cNvPr id="43" name="Google Shape;43;p4"/>
          <p:cNvSpPr/>
          <p:nvPr/>
        </p:nvSpPr>
        <p:spPr>
          <a:xfrm>
            <a:off x="6126480" y="1508760"/>
            <a:ext cx="5349240" cy="1463040"/>
          </a:xfrm>
          <a:prstGeom prst="roundRect">
            <a:avLst>
              <a:gd fmla="val 5000" name="adj"/>
            </a:avLst>
          </a:prstGeom>
          <a:solidFill>
            <a:srgbClr val="EEF1F6"/>
          </a:solidFill>
          <a:ln>
            <a:noFill/>
          </a:ln>
          <a:effectLst>
            <a:outerShdw blurRad="76200" rotWithShape="0" algn="bl" dir="5400000" dist="25400">
              <a:srgbClr val="1B2A4A">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4"/>
          <p:cNvSpPr/>
          <p:nvPr/>
        </p:nvSpPr>
        <p:spPr>
          <a:xfrm>
            <a:off x="6382512" y="1764792"/>
            <a:ext cx="566928" cy="566928"/>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4"/>
          <p:cNvSpPr txBox="1"/>
          <p:nvPr/>
        </p:nvSpPr>
        <p:spPr>
          <a:xfrm>
            <a:off x="6382512" y="1764792"/>
            <a:ext cx="566928"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D48A"/>
              </a:buClr>
              <a:buSzPts val="1800"/>
              <a:buFont typeface="Times New Roman"/>
              <a:buNone/>
            </a:pPr>
            <a:r>
              <a:rPr b="1" i="0" lang="en-US" sz="1800" u="none" cap="none" strike="noStrike">
                <a:solidFill>
                  <a:srgbClr val="E8D48A"/>
                </a:solidFill>
                <a:latin typeface="Times New Roman"/>
                <a:ea typeface="Times New Roman"/>
                <a:cs typeface="Times New Roman"/>
                <a:sym typeface="Times New Roman"/>
              </a:rPr>
              <a:t>02</a:t>
            </a:r>
            <a:endParaRPr b="0" i="0" sz="1800" u="none" cap="none" strike="noStrike">
              <a:solidFill>
                <a:schemeClr val="dk1"/>
              </a:solidFill>
              <a:latin typeface="Calibri"/>
              <a:ea typeface="Calibri"/>
              <a:cs typeface="Calibri"/>
              <a:sym typeface="Calibri"/>
            </a:endParaRPr>
          </a:p>
        </p:txBody>
      </p:sp>
      <p:sp>
        <p:nvSpPr>
          <p:cNvPr id="46" name="Google Shape;46;p4"/>
          <p:cNvSpPr txBox="1"/>
          <p:nvPr/>
        </p:nvSpPr>
        <p:spPr>
          <a:xfrm>
            <a:off x="7132320" y="1709928"/>
            <a:ext cx="4114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1500"/>
              <a:buFont typeface="Calibri"/>
              <a:buNone/>
            </a:pPr>
            <a:r>
              <a:rPr b="1" i="0" lang="en-US" sz="1500" u="none" cap="none" strike="noStrike">
                <a:solidFill>
                  <a:srgbClr val="1B2A4A"/>
                </a:solidFill>
                <a:latin typeface="Calibri"/>
                <a:ea typeface="Calibri"/>
                <a:cs typeface="Calibri"/>
                <a:sym typeface="Calibri"/>
              </a:rPr>
              <a:t>Từ RAG đến Self-RAG</a:t>
            </a:r>
            <a:endParaRPr b="0" i="0" sz="1500" u="none" cap="none" strike="noStrike">
              <a:solidFill>
                <a:schemeClr val="dk1"/>
              </a:solidFill>
              <a:latin typeface="Calibri"/>
              <a:ea typeface="Calibri"/>
              <a:cs typeface="Calibri"/>
              <a:sym typeface="Calibri"/>
            </a:endParaRPr>
          </a:p>
        </p:txBody>
      </p:sp>
      <p:sp>
        <p:nvSpPr>
          <p:cNvPr id="47" name="Google Shape;47;p4"/>
          <p:cNvSpPr txBox="1"/>
          <p:nvPr/>
        </p:nvSpPr>
        <p:spPr>
          <a:xfrm>
            <a:off x="7132320" y="2075688"/>
            <a:ext cx="411480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B85"/>
              </a:buClr>
              <a:buSzPts val="1150"/>
              <a:buFont typeface="Calibri"/>
              <a:buNone/>
            </a:pPr>
            <a:r>
              <a:rPr b="0" i="0" lang="en-US" sz="1150" u="none" cap="none" strike="noStrike">
                <a:solidFill>
                  <a:srgbClr val="5B6B85"/>
                </a:solidFill>
                <a:latin typeface="Calibri"/>
                <a:ea typeface="Calibri"/>
                <a:cs typeface="Calibri"/>
                <a:sym typeface="Calibri"/>
              </a:rPr>
              <a:t>Hạn chế của RAG truyền thống &amp; ý tưởng self-reflection</a:t>
            </a:r>
            <a:endParaRPr b="0" i="0" sz="1150" u="none" cap="none" strike="noStrike">
              <a:solidFill>
                <a:schemeClr val="dk1"/>
              </a:solidFill>
              <a:latin typeface="Calibri"/>
              <a:ea typeface="Calibri"/>
              <a:cs typeface="Calibri"/>
              <a:sym typeface="Calibri"/>
            </a:endParaRPr>
          </a:p>
        </p:txBody>
      </p:sp>
      <p:sp>
        <p:nvSpPr>
          <p:cNvPr id="48" name="Google Shape;48;p4"/>
          <p:cNvSpPr/>
          <p:nvPr/>
        </p:nvSpPr>
        <p:spPr>
          <a:xfrm>
            <a:off x="457200" y="3108960"/>
            <a:ext cx="5349240" cy="1463040"/>
          </a:xfrm>
          <a:prstGeom prst="roundRect">
            <a:avLst>
              <a:gd fmla="val 5000" name="adj"/>
            </a:avLst>
          </a:prstGeom>
          <a:solidFill>
            <a:srgbClr val="EEF1F6"/>
          </a:solidFill>
          <a:ln>
            <a:noFill/>
          </a:ln>
          <a:effectLst>
            <a:outerShdw blurRad="76200" rotWithShape="0" algn="bl" dir="5400000" dist="25400">
              <a:srgbClr val="1B2A4A">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4"/>
          <p:cNvSpPr/>
          <p:nvPr/>
        </p:nvSpPr>
        <p:spPr>
          <a:xfrm>
            <a:off x="713232" y="3364992"/>
            <a:ext cx="566928" cy="566928"/>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4"/>
          <p:cNvSpPr txBox="1"/>
          <p:nvPr/>
        </p:nvSpPr>
        <p:spPr>
          <a:xfrm>
            <a:off x="713232" y="3364992"/>
            <a:ext cx="566928"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D48A"/>
              </a:buClr>
              <a:buSzPts val="1800"/>
              <a:buFont typeface="Times New Roman"/>
              <a:buNone/>
            </a:pPr>
            <a:r>
              <a:rPr b="1" i="0" lang="en-US" sz="1800" u="none" cap="none" strike="noStrike">
                <a:solidFill>
                  <a:srgbClr val="E8D48A"/>
                </a:solidFill>
                <a:latin typeface="Times New Roman"/>
                <a:ea typeface="Times New Roman"/>
                <a:cs typeface="Times New Roman"/>
                <a:sym typeface="Times New Roman"/>
              </a:rPr>
              <a:t>03</a:t>
            </a:r>
            <a:endParaRPr b="0" i="0" sz="1800" u="none" cap="none" strike="noStrike">
              <a:solidFill>
                <a:schemeClr val="dk1"/>
              </a:solidFill>
              <a:latin typeface="Calibri"/>
              <a:ea typeface="Calibri"/>
              <a:cs typeface="Calibri"/>
              <a:sym typeface="Calibri"/>
            </a:endParaRPr>
          </a:p>
        </p:txBody>
      </p:sp>
      <p:sp>
        <p:nvSpPr>
          <p:cNvPr id="51" name="Google Shape;51;p4"/>
          <p:cNvSpPr txBox="1"/>
          <p:nvPr/>
        </p:nvSpPr>
        <p:spPr>
          <a:xfrm>
            <a:off x="1463040" y="3310128"/>
            <a:ext cx="4114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1500"/>
              <a:buFont typeface="Calibri"/>
              <a:buNone/>
            </a:pPr>
            <a:r>
              <a:rPr b="1" i="0" lang="en-US" sz="1500" u="none" cap="none" strike="noStrike">
                <a:solidFill>
                  <a:srgbClr val="1B2A4A"/>
                </a:solidFill>
                <a:latin typeface="Calibri"/>
                <a:ea typeface="Calibri"/>
                <a:cs typeface="Calibri"/>
                <a:sym typeface="Calibri"/>
              </a:rPr>
              <a:t>Bài toán &amp; Kiến trúc đồ án</a:t>
            </a:r>
            <a:endParaRPr b="0" i="0" sz="1500" u="none" cap="none" strike="noStrike">
              <a:solidFill>
                <a:schemeClr val="dk1"/>
              </a:solidFill>
              <a:latin typeface="Calibri"/>
              <a:ea typeface="Calibri"/>
              <a:cs typeface="Calibri"/>
              <a:sym typeface="Calibri"/>
            </a:endParaRPr>
          </a:p>
        </p:txBody>
      </p:sp>
      <p:sp>
        <p:nvSpPr>
          <p:cNvPr id="52" name="Google Shape;52;p4"/>
          <p:cNvSpPr txBox="1"/>
          <p:nvPr/>
        </p:nvSpPr>
        <p:spPr>
          <a:xfrm>
            <a:off x="1463040" y="3675888"/>
            <a:ext cx="411480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B85"/>
              </a:buClr>
              <a:buSzPts val="1150"/>
              <a:buFont typeface="Calibri"/>
              <a:buNone/>
            </a:pPr>
            <a:r>
              <a:rPr b="0" i="0" lang="en-US" sz="1150" u="none" cap="none" strike="noStrike">
                <a:solidFill>
                  <a:srgbClr val="5B6B85"/>
                </a:solidFill>
                <a:latin typeface="Calibri"/>
                <a:ea typeface="Calibri"/>
                <a:cs typeface="Calibri"/>
                <a:sym typeface="Calibri"/>
              </a:rPr>
              <a:t>Câu hỏi nghiên cứu, 3 hệ thống so sánh, 4 module phản tư</a:t>
            </a:r>
            <a:endParaRPr b="0" i="0" sz="1150" u="none" cap="none" strike="noStrike">
              <a:solidFill>
                <a:schemeClr val="dk1"/>
              </a:solidFill>
              <a:latin typeface="Calibri"/>
              <a:ea typeface="Calibri"/>
              <a:cs typeface="Calibri"/>
              <a:sym typeface="Calibri"/>
            </a:endParaRPr>
          </a:p>
        </p:txBody>
      </p:sp>
      <p:sp>
        <p:nvSpPr>
          <p:cNvPr id="53" name="Google Shape;53;p4"/>
          <p:cNvSpPr/>
          <p:nvPr/>
        </p:nvSpPr>
        <p:spPr>
          <a:xfrm>
            <a:off x="6126480" y="3108960"/>
            <a:ext cx="5349240" cy="1463040"/>
          </a:xfrm>
          <a:prstGeom prst="roundRect">
            <a:avLst>
              <a:gd fmla="val 5000" name="adj"/>
            </a:avLst>
          </a:prstGeom>
          <a:solidFill>
            <a:srgbClr val="EEF1F6"/>
          </a:solidFill>
          <a:ln>
            <a:noFill/>
          </a:ln>
          <a:effectLst>
            <a:outerShdw blurRad="76200" rotWithShape="0" algn="bl" dir="5400000" dist="25400">
              <a:srgbClr val="1B2A4A">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4"/>
          <p:cNvSpPr/>
          <p:nvPr/>
        </p:nvSpPr>
        <p:spPr>
          <a:xfrm>
            <a:off x="6382512" y="3364992"/>
            <a:ext cx="566928" cy="566928"/>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4"/>
          <p:cNvSpPr txBox="1"/>
          <p:nvPr/>
        </p:nvSpPr>
        <p:spPr>
          <a:xfrm>
            <a:off x="6382512" y="3364992"/>
            <a:ext cx="566928"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D48A"/>
              </a:buClr>
              <a:buSzPts val="1800"/>
              <a:buFont typeface="Times New Roman"/>
              <a:buNone/>
            </a:pPr>
            <a:r>
              <a:rPr b="1" i="0" lang="en-US" sz="1800" u="none" cap="none" strike="noStrike">
                <a:solidFill>
                  <a:srgbClr val="E8D48A"/>
                </a:solidFill>
                <a:latin typeface="Times New Roman"/>
                <a:ea typeface="Times New Roman"/>
                <a:cs typeface="Times New Roman"/>
                <a:sym typeface="Times New Roman"/>
              </a:rPr>
              <a:t>04</a:t>
            </a:r>
            <a:endParaRPr b="0" i="0" sz="1800" u="none" cap="none" strike="noStrike">
              <a:solidFill>
                <a:schemeClr val="dk1"/>
              </a:solidFill>
              <a:latin typeface="Calibri"/>
              <a:ea typeface="Calibri"/>
              <a:cs typeface="Calibri"/>
              <a:sym typeface="Calibri"/>
            </a:endParaRPr>
          </a:p>
        </p:txBody>
      </p:sp>
      <p:sp>
        <p:nvSpPr>
          <p:cNvPr id="56" name="Google Shape;56;p4"/>
          <p:cNvSpPr txBox="1"/>
          <p:nvPr/>
        </p:nvSpPr>
        <p:spPr>
          <a:xfrm>
            <a:off x="7132320" y="3310128"/>
            <a:ext cx="4114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1500"/>
              <a:buFont typeface="Calibri"/>
              <a:buNone/>
            </a:pPr>
            <a:r>
              <a:rPr b="1" i="0" lang="en-US" sz="1500" u="none" cap="none" strike="noStrike">
                <a:solidFill>
                  <a:srgbClr val="1B2A4A"/>
                </a:solidFill>
                <a:latin typeface="Calibri"/>
                <a:ea typeface="Calibri"/>
                <a:cs typeface="Calibri"/>
                <a:sym typeface="Calibri"/>
              </a:rPr>
              <a:t>Dữ liệu &amp; Triển khai</a:t>
            </a:r>
            <a:endParaRPr b="0" i="0" sz="1500" u="none" cap="none" strike="noStrike">
              <a:solidFill>
                <a:schemeClr val="dk1"/>
              </a:solidFill>
              <a:latin typeface="Calibri"/>
              <a:ea typeface="Calibri"/>
              <a:cs typeface="Calibri"/>
              <a:sym typeface="Calibri"/>
            </a:endParaRPr>
          </a:p>
        </p:txBody>
      </p:sp>
      <p:sp>
        <p:nvSpPr>
          <p:cNvPr id="57" name="Google Shape;57;p4"/>
          <p:cNvSpPr txBox="1"/>
          <p:nvPr/>
        </p:nvSpPr>
        <p:spPr>
          <a:xfrm>
            <a:off x="7132320" y="3675888"/>
            <a:ext cx="411480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B85"/>
              </a:buClr>
              <a:buSzPts val="1150"/>
              <a:buFont typeface="Calibri"/>
              <a:buNone/>
            </a:pPr>
            <a:r>
              <a:rPr b="0" i="0" lang="en-US" sz="1150" u="none" cap="none" strike="noStrike">
                <a:solidFill>
                  <a:srgbClr val="5B6B85"/>
                </a:solidFill>
                <a:latin typeface="Calibri"/>
                <a:ea typeface="Calibri"/>
                <a:cs typeface="Calibri"/>
                <a:sym typeface="Calibri"/>
              </a:rPr>
              <a:t>VLSP2025 DRiLL, retriever, generator, thách thức kỹ thuật</a:t>
            </a:r>
            <a:endParaRPr b="0" i="0" sz="1150" u="none" cap="none" strike="noStrike">
              <a:solidFill>
                <a:schemeClr val="dk1"/>
              </a:solidFill>
              <a:latin typeface="Calibri"/>
              <a:ea typeface="Calibri"/>
              <a:cs typeface="Calibri"/>
              <a:sym typeface="Calibri"/>
            </a:endParaRPr>
          </a:p>
        </p:txBody>
      </p:sp>
      <p:sp>
        <p:nvSpPr>
          <p:cNvPr id="58" name="Google Shape;58;p4"/>
          <p:cNvSpPr/>
          <p:nvPr/>
        </p:nvSpPr>
        <p:spPr>
          <a:xfrm>
            <a:off x="457200" y="4709160"/>
            <a:ext cx="5349240" cy="1463040"/>
          </a:xfrm>
          <a:prstGeom prst="roundRect">
            <a:avLst>
              <a:gd fmla="val 5000" name="adj"/>
            </a:avLst>
          </a:prstGeom>
          <a:solidFill>
            <a:srgbClr val="EEF1F6"/>
          </a:solidFill>
          <a:ln>
            <a:noFill/>
          </a:ln>
          <a:effectLst>
            <a:outerShdw blurRad="76200" rotWithShape="0" algn="bl" dir="5400000" dist="25400">
              <a:srgbClr val="1B2A4A">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4"/>
          <p:cNvSpPr/>
          <p:nvPr/>
        </p:nvSpPr>
        <p:spPr>
          <a:xfrm>
            <a:off x="713232" y="4965192"/>
            <a:ext cx="566928" cy="566928"/>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4"/>
          <p:cNvSpPr txBox="1"/>
          <p:nvPr/>
        </p:nvSpPr>
        <p:spPr>
          <a:xfrm>
            <a:off x="713232" y="4965192"/>
            <a:ext cx="566928"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D48A"/>
              </a:buClr>
              <a:buSzPts val="1800"/>
              <a:buFont typeface="Times New Roman"/>
              <a:buNone/>
            </a:pPr>
            <a:r>
              <a:rPr b="1" i="0" lang="en-US" sz="1800" u="none" cap="none" strike="noStrike">
                <a:solidFill>
                  <a:srgbClr val="E8D48A"/>
                </a:solidFill>
                <a:latin typeface="Times New Roman"/>
                <a:ea typeface="Times New Roman"/>
                <a:cs typeface="Times New Roman"/>
                <a:sym typeface="Times New Roman"/>
              </a:rPr>
              <a:t>05</a:t>
            </a:r>
            <a:endParaRPr b="0" i="0" sz="1800" u="none" cap="none" strike="noStrike">
              <a:solidFill>
                <a:schemeClr val="dk1"/>
              </a:solidFill>
              <a:latin typeface="Calibri"/>
              <a:ea typeface="Calibri"/>
              <a:cs typeface="Calibri"/>
              <a:sym typeface="Calibri"/>
            </a:endParaRPr>
          </a:p>
        </p:txBody>
      </p:sp>
      <p:sp>
        <p:nvSpPr>
          <p:cNvPr id="61" name="Google Shape;61;p4"/>
          <p:cNvSpPr txBox="1"/>
          <p:nvPr/>
        </p:nvSpPr>
        <p:spPr>
          <a:xfrm>
            <a:off x="1463040" y="4910328"/>
            <a:ext cx="4114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1500"/>
              <a:buFont typeface="Calibri"/>
              <a:buNone/>
            </a:pPr>
            <a:r>
              <a:rPr b="1" i="0" lang="en-US" sz="1500" u="none" cap="none" strike="noStrike">
                <a:solidFill>
                  <a:srgbClr val="1B2A4A"/>
                </a:solidFill>
                <a:latin typeface="Calibri"/>
                <a:ea typeface="Calibri"/>
                <a:cs typeface="Calibri"/>
                <a:sym typeface="Calibri"/>
              </a:rPr>
              <a:t>Thực nghiệm &amp; Kết quả</a:t>
            </a:r>
            <a:endParaRPr b="0" i="0" sz="1500" u="none" cap="none" strike="noStrike">
              <a:solidFill>
                <a:schemeClr val="dk1"/>
              </a:solidFill>
              <a:latin typeface="Calibri"/>
              <a:ea typeface="Calibri"/>
              <a:cs typeface="Calibri"/>
              <a:sym typeface="Calibri"/>
            </a:endParaRPr>
          </a:p>
        </p:txBody>
      </p:sp>
      <p:sp>
        <p:nvSpPr>
          <p:cNvPr id="62" name="Google Shape;62;p4"/>
          <p:cNvSpPr txBox="1"/>
          <p:nvPr/>
        </p:nvSpPr>
        <p:spPr>
          <a:xfrm>
            <a:off x="1463040" y="5276088"/>
            <a:ext cx="411480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B85"/>
              </a:buClr>
              <a:buSzPts val="1150"/>
              <a:buFont typeface="Calibri"/>
              <a:buNone/>
            </a:pPr>
            <a:r>
              <a:rPr b="0" i="0" lang="en-US" sz="1150" u="none" cap="none" strike="noStrike">
                <a:solidFill>
                  <a:srgbClr val="5B6B85"/>
                </a:solidFill>
                <a:latin typeface="Calibri"/>
                <a:ea typeface="Calibri"/>
                <a:cs typeface="Calibri"/>
                <a:sym typeface="Calibri"/>
              </a:rPr>
              <a:t>Thiết lập đánh giá, bảng so sánh, ablation ISREL</a:t>
            </a:r>
            <a:endParaRPr b="0" i="0" sz="1150" u="none" cap="none" strike="noStrike">
              <a:solidFill>
                <a:schemeClr val="dk1"/>
              </a:solidFill>
              <a:latin typeface="Calibri"/>
              <a:ea typeface="Calibri"/>
              <a:cs typeface="Calibri"/>
              <a:sym typeface="Calibri"/>
            </a:endParaRPr>
          </a:p>
        </p:txBody>
      </p:sp>
      <p:sp>
        <p:nvSpPr>
          <p:cNvPr id="63" name="Google Shape;63;p4"/>
          <p:cNvSpPr/>
          <p:nvPr/>
        </p:nvSpPr>
        <p:spPr>
          <a:xfrm>
            <a:off x="6126480" y="4709160"/>
            <a:ext cx="5349240" cy="1463040"/>
          </a:xfrm>
          <a:prstGeom prst="roundRect">
            <a:avLst>
              <a:gd fmla="val 5000" name="adj"/>
            </a:avLst>
          </a:prstGeom>
          <a:solidFill>
            <a:srgbClr val="EEF1F6"/>
          </a:solidFill>
          <a:ln>
            <a:noFill/>
          </a:ln>
          <a:effectLst>
            <a:outerShdw blurRad="76200" rotWithShape="0" algn="bl" dir="5400000" dist="25400">
              <a:srgbClr val="1B2A4A">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4"/>
          <p:cNvSpPr/>
          <p:nvPr/>
        </p:nvSpPr>
        <p:spPr>
          <a:xfrm>
            <a:off x="6382512" y="4965192"/>
            <a:ext cx="566928" cy="566928"/>
          </a:xfrm>
          <a:prstGeom prst="ellipse">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4"/>
          <p:cNvSpPr txBox="1"/>
          <p:nvPr/>
        </p:nvSpPr>
        <p:spPr>
          <a:xfrm>
            <a:off x="6382512" y="4965192"/>
            <a:ext cx="566928"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D48A"/>
              </a:buClr>
              <a:buSzPts val="1800"/>
              <a:buFont typeface="Times New Roman"/>
              <a:buNone/>
            </a:pPr>
            <a:r>
              <a:rPr b="1" i="0" lang="en-US" sz="1800" u="none" cap="none" strike="noStrike">
                <a:solidFill>
                  <a:srgbClr val="E8D48A"/>
                </a:solidFill>
                <a:latin typeface="Times New Roman"/>
                <a:ea typeface="Times New Roman"/>
                <a:cs typeface="Times New Roman"/>
                <a:sym typeface="Times New Roman"/>
              </a:rPr>
              <a:t>06</a:t>
            </a:r>
            <a:endParaRPr b="0" i="0" sz="1800" u="none" cap="none" strike="noStrike">
              <a:solidFill>
                <a:schemeClr val="dk1"/>
              </a:solidFill>
              <a:latin typeface="Calibri"/>
              <a:ea typeface="Calibri"/>
              <a:cs typeface="Calibri"/>
              <a:sym typeface="Calibri"/>
            </a:endParaRPr>
          </a:p>
        </p:txBody>
      </p:sp>
      <p:sp>
        <p:nvSpPr>
          <p:cNvPr id="66" name="Google Shape;66;p4"/>
          <p:cNvSpPr txBox="1"/>
          <p:nvPr/>
        </p:nvSpPr>
        <p:spPr>
          <a:xfrm>
            <a:off x="7132320" y="4910328"/>
            <a:ext cx="41148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1500"/>
              <a:buFont typeface="Calibri"/>
              <a:buNone/>
            </a:pPr>
            <a:r>
              <a:rPr b="1" i="0" lang="en-US" sz="1500" u="none" cap="none" strike="noStrike">
                <a:solidFill>
                  <a:srgbClr val="1B2A4A"/>
                </a:solidFill>
                <a:latin typeface="Calibri"/>
                <a:ea typeface="Calibri"/>
                <a:cs typeface="Calibri"/>
                <a:sym typeface="Calibri"/>
              </a:rPr>
              <a:t>Thảo luận, Demo &amp; Kết luận</a:t>
            </a:r>
            <a:endParaRPr b="0" i="0" sz="1500" u="none" cap="none" strike="noStrike">
              <a:solidFill>
                <a:schemeClr val="dk1"/>
              </a:solidFill>
              <a:latin typeface="Calibri"/>
              <a:ea typeface="Calibri"/>
              <a:cs typeface="Calibri"/>
              <a:sym typeface="Calibri"/>
            </a:endParaRPr>
          </a:p>
        </p:txBody>
      </p:sp>
      <p:sp>
        <p:nvSpPr>
          <p:cNvPr id="67" name="Google Shape;67;p4"/>
          <p:cNvSpPr txBox="1"/>
          <p:nvPr/>
        </p:nvSpPr>
        <p:spPr>
          <a:xfrm>
            <a:off x="7132320" y="5276088"/>
            <a:ext cx="411480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B85"/>
              </a:buClr>
              <a:buSzPts val="1150"/>
              <a:buFont typeface="Calibri"/>
              <a:buNone/>
            </a:pPr>
            <a:r>
              <a:rPr b="0" i="0" lang="en-US" sz="1150" u="none" cap="none" strike="noStrike">
                <a:solidFill>
                  <a:srgbClr val="5B6B85"/>
                </a:solidFill>
                <a:latin typeface="Calibri"/>
                <a:ea typeface="Calibri"/>
                <a:cs typeface="Calibri"/>
                <a:sym typeface="Calibri"/>
              </a:rPr>
              <a:t>Phát hiện, case study, hạn chế, hướng phát triển</a:t>
            </a:r>
            <a:endParaRPr b="0" i="0" sz="1150" u="none" cap="none" strike="noStrike">
              <a:solidFill>
                <a:schemeClr val="dk1"/>
              </a:solidFill>
              <a:latin typeface="Calibri"/>
              <a:ea typeface="Calibri"/>
              <a:cs typeface="Calibri"/>
              <a:sym typeface="Calibri"/>
            </a:endParaRPr>
          </a:p>
        </p:txBody>
      </p:sp>
      <p:sp>
        <p:nvSpPr>
          <p:cNvPr id="68" name="Google Shape;68;p4"/>
          <p:cNvSpPr txBox="1"/>
          <p:nvPr/>
        </p:nvSpPr>
        <p:spPr>
          <a:xfrm>
            <a:off x="457200" y="6547104"/>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5"/>
              </a:buClr>
              <a:buSzPts val="900"/>
              <a:buFont typeface="Calibri"/>
              <a:buNone/>
            </a:pPr>
            <a:r>
              <a:rPr b="0" i="0" lang="en-US" sz="900" u="none" cap="none" strike="noStrike">
                <a:solidFill>
                  <a:srgbClr val="5B6B85"/>
                </a:solidFill>
                <a:latin typeface="Calibri"/>
                <a:ea typeface="Calibri"/>
                <a:cs typeface="Calibri"/>
                <a:sym typeface="Calibri"/>
              </a:rPr>
              <a:t>Self-RAG-Inspired Legal QA  ·  CS2308.CH203</a:t>
            </a:r>
            <a:endParaRPr b="0" i="0" sz="900" u="none" cap="none" strike="noStrike">
              <a:solidFill>
                <a:schemeClr val="dk1"/>
              </a:solidFill>
              <a:latin typeface="Calibri"/>
              <a:ea typeface="Calibri"/>
              <a:cs typeface="Calibri"/>
              <a:sym typeface="Calibri"/>
            </a:endParaRPr>
          </a:p>
        </p:txBody>
      </p:sp>
      <p:sp>
        <p:nvSpPr>
          <p:cNvPr id="69" name="Google Shape;69;p4"/>
          <p:cNvSpPr txBox="1"/>
          <p:nvPr/>
        </p:nvSpPr>
        <p:spPr>
          <a:xfrm>
            <a:off x="11274552" y="6547104"/>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B85"/>
              </a:buClr>
              <a:buSzPts val="900"/>
              <a:buFont typeface="Calibri"/>
              <a:buNone/>
            </a:pPr>
            <a:r>
              <a:rPr b="0" i="0" lang="en-US" sz="900" u="none" cap="none" strike="noStrike">
                <a:solidFill>
                  <a:srgbClr val="5B6B85"/>
                </a:solidFill>
                <a:latin typeface="Calibri"/>
                <a:ea typeface="Calibri"/>
                <a:cs typeface="Calibri"/>
                <a:sym typeface="Calibri"/>
              </a:rPr>
              <a:t>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4" name="Shape 74"/>
        <p:cNvGrpSpPr/>
        <p:nvPr/>
      </p:nvGrpSpPr>
      <p:grpSpPr>
        <a:xfrm>
          <a:off x="0" y="0"/>
          <a:ext cx="0" cy="0"/>
          <a:chOff x="0" y="0"/>
          <a:chExt cx="0" cy="0"/>
        </a:xfrm>
      </p:grpSpPr>
      <p:sp>
        <p:nvSpPr>
          <p:cNvPr id="75" name="Google Shape;75;p5"/>
          <p:cNvSpPr txBox="1"/>
          <p:nvPr/>
        </p:nvSpPr>
        <p:spPr>
          <a:xfrm>
            <a:off x="457200" y="320040"/>
            <a:ext cx="105156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1200"/>
              <a:buFont typeface="Calibri"/>
              <a:buNone/>
            </a:pPr>
            <a:r>
              <a:rPr b="1" i="0" lang="en-US" sz="1200" u="none" cap="none" strike="noStrike">
                <a:solidFill>
                  <a:srgbClr val="C9A227"/>
                </a:solidFill>
                <a:latin typeface="Calibri"/>
                <a:ea typeface="Calibri"/>
                <a:cs typeface="Calibri"/>
                <a:sym typeface="Calibri"/>
              </a:rPr>
              <a:t>01 · ĐỘNG LỰC</a:t>
            </a:r>
            <a:endParaRPr b="0" i="0" sz="1200" u="none" cap="none" strike="noStrike">
              <a:solidFill>
                <a:schemeClr val="dk1"/>
              </a:solidFill>
              <a:latin typeface="Calibri"/>
              <a:ea typeface="Calibri"/>
              <a:cs typeface="Calibri"/>
              <a:sym typeface="Calibri"/>
            </a:endParaRPr>
          </a:p>
        </p:txBody>
      </p:sp>
      <p:sp>
        <p:nvSpPr>
          <p:cNvPr id="76" name="Google Shape;76;p5"/>
          <p:cNvSpPr txBox="1"/>
          <p:nvPr/>
        </p:nvSpPr>
        <p:spPr>
          <a:xfrm>
            <a:off x="457200" y="566928"/>
            <a:ext cx="1078992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A"/>
              </a:buClr>
              <a:buSzPts val="2800"/>
              <a:buFont typeface="Times New Roman"/>
              <a:buNone/>
            </a:pPr>
            <a:r>
              <a:rPr b="1" i="0" lang="en-US" sz="2800" u="none" cap="none" strike="noStrike">
                <a:solidFill>
                  <a:srgbClr val="1B2A4A"/>
                </a:solidFill>
                <a:latin typeface="Times New Roman"/>
                <a:ea typeface="Times New Roman"/>
                <a:cs typeface="Times New Roman"/>
                <a:sym typeface="Times New Roman"/>
              </a:rPr>
              <a:t>LLM hay “ảo giác” — vì sao pháp luật là lĩnh vực rủi ro cao</a:t>
            </a:r>
            <a:endParaRPr b="0" i="0" sz="2800" u="none" cap="none" strike="noStrike">
              <a:solidFill>
                <a:schemeClr val="dk1"/>
              </a:solidFill>
              <a:latin typeface="Calibri"/>
              <a:ea typeface="Calibri"/>
              <a:cs typeface="Calibri"/>
              <a:sym typeface="Calibri"/>
            </a:endParaRPr>
          </a:p>
        </p:txBody>
      </p:sp>
      <p:sp>
        <p:nvSpPr>
          <p:cNvPr id="77" name="Google Shape;77;p5"/>
          <p:cNvSpPr/>
          <p:nvPr/>
        </p:nvSpPr>
        <p:spPr>
          <a:xfrm>
            <a:off x="457200" y="1554480"/>
            <a:ext cx="5349240" cy="4480560"/>
          </a:xfrm>
          <a:prstGeom prst="roundRect">
            <a:avLst>
              <a:gd fmla="val 1633" name="adj"/>
            </a:avLst>
          </a:prstGeom>
          <a:solidFill>
            <a:srgbClr val="EEF1F6"/>
          </a:solidFill>
          <a:ln>
            <a:noFill/>
          </a:ln>
          <a:effectLst>
            <a:outerShdw blurRad="76200" rotWithShape="0" algn="bl" dir="5400000" dist="25400">
              <a:srgbClr val="1B2A4A">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5"/>
          <p:cNvSpPr txBox="1"/>
          <p:nvPr/>
        </p:nvSpPr>
        <p:spPr>
          <a:xfrm>
            <a:off x="731520" y="1783080"/>
            <a:ext cx="4572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23A48"/>
              </a:buClr>
              <a:buSzPts val="1800"/>
              <a:buFont typeface="Times New Roman"/>
              <a:buNone/>
            </a:pPr>
            <a:r>
              <a:rPr b="1" i="0" lang="en-US" sz="1800" u="none" cap="none" strike="noStrike">
                <a:solidFill>
                  <a:srgbClr val="B23A48"/>
                </a:solidFill>
                <a:latin typeface="Times New Roman"/>
                <a:ea typeface="Times New Roman"/>
                <a:cs typeface="Times New Roman"/>
                <a:sym typeface="Times New Roman"/>
              </a:rPr>
              <a:t>Hallucination</a:t>
            </a:r>
            <a:endParaRPr b="0" i="0" sz="1800" u="none" cap="none" strike="noStrike">
              <a:solidFill>
                <a:schemeClr val="dk1"/>
              </a:solidFill>
              <a:latin typeface="Calibri"/>
              <a:ea typeface="Calibri"/>
              <a:cs typeface="Calibri"/>
              <a:sym typeface="Calibri"/>
            </a:endParaRPr>
          </a:p>
        </p:txBody>
      </p:sp>
      <p:sp>
        <p:nvSpPr>
          <p:cNvPr id="79" name="Google Shape;79;p5"/>
          <p:cNvSpPr txBox="1"/>
          <p:nvPr/>
        </p:nvSpPr>
        <p:spPr>
          <a:xfrm>
            <a:off x="731520" y="2194560"/>
            <a:ext cx="4800600" cy="3566160"/>
          </a:xfrm>
          <a:prstGeom prst="rect">
            <a:avLst/>
          </a:prstGeom>
          <a:noFill/>
          <a:ln>
            <a:noFill/>
          </a:ln>
        </p:spPr>
        <p:txBody>
          <a:bodyPr anchorCtr="0" anchor="t" bIns="0" lIns="0" spcFirstLastPara="1" rIns="0" wrap="square" tIns="0">
            <a:noAutofit/>
          </a:bodyPr>
          <a:lstStyle/>
          <a:p>
            <a:pPr indent="-342900" lvl="0" marL="342900" marR="0" rtl="0" algn="l">
              <a:lnSpc>
                <a:spcPct val="108000"/>
              </a:lnSpc>
              <a:spcBef>
                <a:spcPts val="0"/>
              </a:spcBef>
              <a:spcAft>
                <a:spcPts val="0"/>
              </a:spcAft>
              <a:buClr>
                <a:srgbClr val="1B2A4A"/>
              </a:buClr>
              <a:buSzPts val="1350"/>
              <a:buFont typeface="Calibri"/>
              <a:buChar char="•"/>
            </a:pPr>
            <a:r>
              <a:rPr b="0" i="0" lang="en-US" sz="1350" u="none" cap="none" strike="noStrike">
                <a:solidFill>
                  <a:srgbClr val="1B2A4A"/>
                </a:solidFill>
                <a:latin typeface="Calibri"/>
                <a:ea typeface="Calibri"/>
                <a:cs typeface="Calibri"/>
                <a:sym typeface="Calibri"/>
              </a:rPr>
              <a:t>LLM sinh thông tin sai sự thật, không có căn cứ, nhưng trình bày rất tự tin</a:t>
            </a:r>
            <a:endParaRPr b="0" i="0" sz="1350" u="none" cap="none" strike="noStrike">
              <a:solidFill>
                <a:schemeClr val="dk1"/>
              </a:solidFill>
              <a:latin typeface="Calibri"/>
              <a:ea typeface="Calibri"/>
              <a:cs typeface="Calibri"/>
              <a:sym typeface="Calibri"/>
            </a:endParaRPr>
          </a:p>
          <a:p>
            <a:pPr indent="-342900" lvl="0" marL="342900" marR="0" rtl="0" algn="l">
              <a:lnSpc>
                <a:spcPct val="108000"/>
              </a:lnSpc>
              <a:spcBef>
                <a:spcPts val="1000"/>
              </a:spcBef>
              <a:spcAft>
                <a:spcPts val="0"/>
              </a:spcAft>
              <a:buClr>
                <a:srgbClr val="1B2A4A"/>
              </a:buClr>
              <a:buSzPts val="1350"/>
              <a:buFont typeface="Calibri"/>
              <a:buChar char="•"/>
            </a:pPr>
            <a:r>
              <a:rPr b="0" i="0" lang="en-US" sz="1350" u="none" cap="none" strike="noStrike">
                <a:solidFill>
                  <a:srgbClr val="1B2A4A"/>
                </a:solidFill>
                <a:latin typeface="Calibri"/>
                <a:ea typeface="Calibri"/>
                <a:cs typeface="Calibri"/>
                <a:sym typeface="Calibri"/>
              </a:rPr>
              <a:t>Đặc biệt nguy hiểm với các tác vụ đòi hỏi kiến thức chuyên biệt, cập nhật, chính xác</a:t>
            </a:r>
            <a:endParaRPr b="0" i="0" sz="1350" u="none" cap="none" strike="noStrike">
              <a:solidFill>
                <a:schemeClr val="dk1"/>
              </a:solidFill>
              <a:latin typeface="Calibri"/>
              <a:ea typeface="Calibri"/>
              <a:cs typeface="Calibri"/>
              <a:sym typeface="Calibri"/>
            </a:endParaRPr>
          </a:p>
          <a:p>
            <a:pPr indent="-342900" lvl="0" marL="342900" marR="0" rtl="0" algn="l">
              <a:lnSpc>
                <a:spcPct val="108000"/>
              </a:lnSpc>
              <a:spcBef>
                <a:spcPts val="1000"/>
              </a:spcBef>
              <a:spcAft>
                <a:spcPts val="0"/>
              </a:spcAft>
              <a:buClr>
                <a:srgbClr val="1B2A4A"/>
              </a:buClr>
              <a:buSzPts val="1350"/>
              <a:buFont typeface="Calibri"/>
              <a:buChar char="•"/>
            </a:pPr>
            <a:r>
              <a:rPr b="0" i="0" lang="en-US" sz="1350" u="none" cap="none" strike="noStrike">
                <a:solidFill>
                  <a:srgbClr val="1B2A4A"/>
                </a:solidFill>
                <a:latin typeface="Calibri"/>
                <a:ea typeface="Calibri"/>
                <a:cs typeface="Calibri"/>
                <a:sym typeface="Calibri"/>
              </a:rPr>
              <a:t>Trong hỏi–đáp pháp luật: một trích dẫn điều luật sai có thể gây hậu quả thực tế</a:t>
            </a:r>
            <a:endParaRPr b="0" i="0" sz="1350" u="none" cap="none" strike="noStrike">
              <a:solidFill>
                <a:schemeClr val="dk1"/>
              </a:solidFill>
              <a:latin typeface="Calibri"/>
              <a:ea typeface="Calibri"/>
              <a:cs typeface="Calibri"/>
              <a:sym typeface="Calibri"/>
            </a:endParaRPr>
          </a:p>
          <a:p>
            <a:pPr indent="-342900" lvl="0" marL="342900" marR="0" rtl="0" algn="l">
              <a:lnSpc>
                <a:spcPct val="108000"/>
              </a:lnSpc>
              <a:spcBef>
                <a:spcPts val="1000"/>
              </a:spcBef>
              <a:spcAft>
                <a:spcPts val="0"/>
              </a:spcAft>
              <a:buClr>
                <a:srgbClr val="1B2A4A"/>
              </a:buClr>
              <a:buSzPts val="1350"/>
              <a:buFont typeface="Calibri"/>
              <a:buChar char="•"/>
            </a:pPr>
            <a:r>
              <a:rPr b="0" i="0" lang="en-US" sz="1350" u="none" cap="none" strike="noStrike">
                <a:solidFill>
                  <a:srgbClr val="1B2A4A"/>
                </a:solidFill>
                <a:latin typeface="Calibri"/>
                <a:ea typeface="Calibri"/>
                <a:cs typeface="Calibri"/>
                <a:sym typeface="Calibri"/>
              </a:rPr>
              <a:t>Ví dụ: “mẹ chồng mất không để lại di chúc, tôi có được thừa kế không?” cần neo vào đúng văn bản luật hiện hành — không phải một câu trả lời nghe hợp lý nhưng chỉ là đoán</a:t>
            </a:r>
            <a:endParaRPr b="0" i="0" sz="1350" u="none" cap="none" strike="noStrike">
              <a:solidFill>
                <a:schemeClr val="dk1"/>
              </a:solidFill>
              <a:latin typeface="Calibri"/>
              <a:ea typeface="Calibri"/>
              <a:cs typeface="Calibri"/>
              <a:sym typeface="Calibri"/>
            </a:endParaRPr>
          </a:p>
        </p:txBody>
      </p:sp>
      <p:sp>
        <p:nvSpPr>
          <p:cNvPr id="80" name="Google Shape;80;p5"/>
          <p:cNvSpPr/>
          <p:nvPr/>
        </p:nvSpPr>
        <p:spPr>
          <a:xfrm>
            <a:off x="6080760" y="1554480"/>
            <a:ext cx="5650992" cy="4480560"/>
          </a:xfrm>
          <a:prstGeom prst="roundRect">
            <a:avLst>
              <a:gd fmla="val 1633" name="adj"/>
            </a:avLst>
          </a:prstGeom>
          <a:solidFill>
            <a:srgbClr val="E4E9F2"/>
          </a:solidFill>
          <a:ln>
            <a:noFill/>
          </a:ln>
          <a:effectLst>
            <a:outerShdw blurRad="76200" rotWithShape="0" algn="bl" dir="5400000" dist="25400">
              <a:srgbClr val="1B2A4A">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5"/>
          <p:cNvSpPr txBox="1"/>
          <p:nvPr/>
        </p:nvSpPr>
        <p:spPr>
          <a:xfrm>
            <a:off x="6355080" y="1783080"/>
            <a:ext cx="51206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7D5B"/>
              </a:buClr>
              <a:buSzPts val="1800"/>
              <a:buFont typeface="Times New Roman"/>
              <a:buNone/>
            </a:pPr>
            <a:r>
              <a:rPr b="1" i="0" lang="en-US" sz="1800" u="none" cap="none" strike="noStrike">
                <a:solidFill>
                  <a:srgbClr val="2E7D5B"/>
                </a:solidFill>
                <a:latin typeface="Times New Roman"/>
                <a:ea typeface="Times New Roman"/>
                <a:cs typeface="Times New Roman"/>
                <a:sym typeface="Times New Roman"/>
              </a:rPr>
              <a:t>Retrieval-Augmented Generation (RAG)</a:t>
            </a:r>
            <a:endParaRPr b="0" i="0" sz="1800" u="none" cap="none" strike="noStrike">
              <a:solidFill>
                <a:schemeClr val="dk1"/>
              </a:solidFill>
              <a:latin typeface="Calibri"/>
              <a:ea typeface="Calibri"/>
              <a:cs typeface="Calibri"/>
              <a:sym typeface="Calibri"/>
            </a:endParaRPr>
          </a:p>
        </p:txBody>
      </p:sp>
      <p:sp>
        <p:nvSpPr>
          <p:cNvPr id="82" name="Google Shape;82;p5"/>
          <p:cNvSpPr txBox="1"/>
          <p:nvPr/>
        </p:nvSpPr>
        <p:spPr>
          <a:xfrm>
            <a:off x="6355080" y="2194560"/>
            <a:ext cx="5074920" cy="2286000"/>
          </a:xfrm>
          <a:prstGeom prst="rect">
            <a:avLst/>
          </a:prstGeom>
          <a:noFill/>
          <a:ln>
            <a:noFill/>
          </a:ln>
        </p:spPr>
        <p:txBody>
          <a:bodyPr anchorCtr="0" anchor="t" bIns="0" lIns="0" spcFirstLastPara="1" rIns="0" wrap="square" tIns="0">
            <a:noAutofit/>
          </a:bodyPr>
          <a:lstStyle/>
          <a:p>
            <a:pPr indent="-342900" lvl="0" marL="342900" marR="0" rtl="0" algn="l">
              <a:lnSpc>
                <a:spcPct val="108000"/>
              </a:lnSpc>
              <a:spcBef>
                <a:spcPts val="0"/>
              </a:spcBef>
              <a:spcAft>
                <a:spcPts val="0"/>
              </a:spcAft>
              <a:buClr>
                <a:srgbClr val="1B2A4A"/>
              </a:buClr>
              <a:buSzPts val="1350"/>
              <a:buFont typeface="Calibri"/>
              <a:buChar char="•"/>
            </a:pPr>
            <a:r>
              <a:rPr b="0" i="0" lang="en-US" sz="1350" u="none" cap="none" strike="noStrike">
                <a:solidFill>
                  <a:srgbClr val="1B2A4A"/>
                </a:solidFill>
                <a:latin typeface="Calibri"/>
                <a:ea typeface="Calibri"/>
                <a:cs typeface="Calibri"/>
                <a:sym typeface="Calibri"/>
              </a:rPr>
              <a:t>Lewis et al. (2020): điều kiện hoá việc sinh văn bản theo các đoạn truy xuất từ kho ngữ liệu ngoài</a:t>
            </a:r>
            <a:endParaRPr b="0" i="0" sz="1350" u="none" cap="none" strike="noStrike">
              <a:solidFill>
                <a:schemeClr val="dk1"/>
              </a:solidFill>
              <a:latin typeface="Calibri"/>
              <a:ea typeface="Calibri"/>
              <a:cs typeface="Calibri"/>
              <a:sym typeface="Calibri"/>
            </a:endParaRPr>
          </a:p>
          <a:p>
            <a:pPr indent="-342900" lvl="0" marL="342900" marR="0" rtl="0" algn="l">
              <a:lnSpc>
                <a:spcPct val="108000"/>
              </a:lnSpc>
              <a:spcBef>
                <a:spcPts val="1000"/>
              </a:spcBef>
              <a:spcAft>
                <a:spcPts val="0"/>
              </a:spcAft>
              <a:buClr>
                <a:srgbClr val="1B2A4A"/>
              </a:buClr>
              <a:buSzPts val="1350"/>
              <a:buFont typeface="Calibri"/>
              <a:buChar char="•"/>
            </a:pPr>
            <a:r>
              <a:rPr b="0" i="0" lang="en-US" sz="1350" u="none" cap="none" strike="noStrike">
                <a:solidFill>
                  <a:srgbClr val="1B2A4A"/>
                </a:solidFill>
                <a:latin typeface="Calibri"/>
                <a:ea typeface="Calibri"/>
                <a:cs typeface="Calibri"/>
                <a:sym typeface="Calibri"/>
              </a:rPr>
              <a:t>Bổ sung kiến thức ngoài tham số mô hình, có thể cập nhật, có thể cung cấp trích dẫn</a:t>
            </a:r>
            <a:endParaRPr b="0" i="0" sz="1350" u="none" cap="none" strike="noStrike">
              <a:solidFill>
                <a:schemeClr val="dk1"/>
              </a:solidFill>
              <a:latin typeface="Calibri"/>
              <a:ea typeface="Calibri"/>
              <a:cs typeface="Calibri"/>
              <a:sym typeface="Calibri"/>
            </a:endParaRPr>
          </a:p>
          <a:p>
            <a:pPr indent="-342900" lvl="0" marL="342900" marR="0" rtl="0" algn="l">
              <a:lnSpc>
                <a:spcPct val="108000"/>
              </a:lnSpc>
              <a:spcBef>
                <a:spcPts val="1000"/>
              </a:spcBef>
              <a:spcAft>
                <a:spcPts val="0"/>
              </a:spcAft>
              <a:buClr>
                <a:srgbClr val="1B2A4A"/>
              </a:buClr>
              <a:buSzPts val="1350"/>
              <a:buFont typeface="Calibri"/>
              <a:buChar char="•"/>
            </a:pPr>
            <a:r>
              <a:rPr b="0" i="0" lang="en-US" sz="1350" u="none" cap="none" strike="noStrike">
                <a:solidFill>
                  <a:srgbClr val="1B2A4A"/>
                </a:solidFill>
                <a:latin typeface="Calibri"/>
                <a:ea typeface="Calibri"/>
                <a:cs typeface="Calibri"/>
                <a:sym typeface="Calibri"/>
              </a:rPr>
              <a:t>Giảm hallucination trong nhiều trường hợp</a:t>
            </a:r>
            <a:endParaRPr b="0" i="0" sz="1350" u="none" cap="none" strike="noStrike">
              <a:solidFill>
                <a:schemeClr val="dk1"/>
              </a:solidFill>
              <a:latin typeface="Calibri"/>
              <a:ea typeface="Calibri"/>
              <a:cs typeface="Calibri"/>
              <a:sym typeface="Calibri"/>
            </a:endParaRPr>
          </a:p>
        </p:txBody>
      </p:sp>
      <p:cxnSp>
        <p:nvCxnSpPr>
          <p:cNvPr id="83" name="Google Shape;83;p5"/>
          <p:cNvCxnSpPr/>
          <p:nvPr/>
        </p:nvCxnSpPr>
        <p:spPr>
          <a:xfrm>
            <a:off x="6355080" y="4709160"/>
            <a:ext cx="5074920" cy="0"/>
          </a:xfrm>
          <a:prstGeom prst="straightConnector1">
            <a:avLst/>
          </a:prstGeom>
          <a:noFill/>
          <a:ln cap="flat" cmpd="sng" w="12700">
            <a:solidFill>
              <a:srgbClr val="B9C2D6"/>
            </a:solidFill>
            <a:prstDash val="solid"/>
            <a:round/>
            <a:headEnd len="sm" w="sm" type="none"/>
            <a:tailEnd len="sm" w="sm" type="none"/>
          </a:ln>
        </p:spPr>
      </p:cxnSp>
      <p:sp>
        <p:nvSpPr>
          <p:cNvPr id="84" name="Google Shape;84;p5"/>
          <p:cNvSpPr txBox="1"/>
          <p:nvPr/>
        </p:nvSpPr>
        <p:spPr>
          <a:xfrm>
            <a:off x="6355080" y="4846320"/>
            <a:ext cx="5074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5A80"/>
              </a:buClr>
              <a:buSzPts val="1200"/>
              <a:buFont typeface="Calibri"/>
              <a:buNone/>
            </a:pPr>
            <a:r>
              <a:rPr b="1" i="0" lang="en-US" sz="1200" u="none" cap="none" strike="noStrike">
                <a:solidFill>
                  <a:srgbClr val="3D5A80"/>
                </a:solidFill>
                <a:latin typeface="Calibri"/>
                <a:ea typeface="Calibri"/>
                <a:cs typeface="Calibri"/>
                <a:sym typeface="Calibri"/>
              </a:rPr>
              <a:t>Pipeline cơ bản:</a:t>
            </a:r>
            <a:endParaRPr b="0" i="0" sz="1200" u="none" cap="none" strike="noStrike">
              <a:solidFill>
                <a:schemeClr val="dk1"/>
              </a:solidFill>
              <a:latin typeface="Calibri"/>
              <a:ea typeface="Calibri"/>
              <a:cs typeface="Calibri"/>
              <a:sym typeface="Calibri"/>
            </a:endParaRPr>
          </a:p>
        </p:txBody>
      </p:sp>
      <p:sp>
        <p:nvSpPr>
          <p:cNvPr id="85" name="Google Shape;85;p5"/>
          <p:cNvSpPr txBox="1"/>
          <p:nvPr/>
        </p:nvSpPr>
        <p:spPr>
          <a:xfrm>
            <a:off x="6355080" y="5138928"/>
            <a:ext cx="507492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1250"/>
              <a:buFont typeface="Calibri"/>
              <a:buNone/>
            </a:pPr>
            <a:r>
              <a:rPr b="0" i="1" lang="en-US" sz="1250" u="none" cap="none" strike="noStrike">
                <a:solidFill>
                  <a:srgbClr val="1B2A4A"/>
                </a:solidFill>
                <a:latin typeface="Calibri"/>
                <a:ea typeface="Calibri"/>
                <a:cs typeface="Calibri"/>
                <a:sym typeface="Calibri"/>
              </a:rPr>
              <a:t>Câu hỏi  →  Retriever  →  Đoạn truy xuất  →  Generator  →  Câu trả lời</a:t>
            </a:r>
            <a:endParaRPr b="0" i="0" sz="1250" u="none" cap="none" strike="noStrike">
              <a:solidFill>
                <a:schemeClr val="dk1"/>
              </a:solidFill>
              <a:latin typeface="Calibri"/>
              <a:ea typeface="Calibri"/>
              <a:cs typeface="Calibri"/>
              <a:sym typeface="Calibri"/>
            </a:endParaRPr>
          </a:p>
        </p:txBody>
      </p:sp>
      <p:sp>
        <p:nvSpPr>
          <p:cNvPr id="86" name="Google Shape;86;p5"/>
          <p:cNvSpPr txBox="1"/>
          <p:nvPr/>
        </p:nvSpPr>
        <p:spPr>
          <a:xfrm>
            <a:off x="457200" y="6547104"/>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5"/>
              </a:buClr>
              <a:buSzPts val="900"/>
              <a:buFont typeface="Calibri"/>
              <a:buNone/>
            </a:pPr>
            <a:r>
              <a:rPr b="0" i="0" lang="en-US" sz="900" u="none" cap="none" strike="noStrike">
                <a:solidFill>
                  <a:srgbClr val="5B6B85"/>
                </a:solidFill>
                <a:latin typeface="Calibri"/>
                <a:ea typeface="Calibri"/>
                <a:cs typeface="Calibri"/>
                <a:sym typeface="Calibri"/>
              </a:rPr>
              <a:t>Self-RAG-Inspired Legal QA  ·  CS2308.CH203</a:t>
            </a:r>
            <a:endParaRPr b="0" i="0" sz="900" u="none" cap="none" strike="noStrike">
              <a:solidFill>
                <a:schemeClr val="dk1"/>
              </a:solidFill>
              <a:latin typeface="Calibri"/>
              <a:ea typeface="Calibri"/>
              <a:cs typeface="Calibri"/>
              <a:sym typeface="Calibri"/>
            </a:endParaRPr>
          </a:p>
        </p:txBody>
      </p:sp>
      <p:sp>
        <p:nvSpPr>
          <p:cNvPr id="87" name="Google Shape;87;p5"/>
          <p:cNvSpPr txBox="1"/>
          <p:nvPr/>
        </p:nvSpPr>
        <p:spPr>
          <a:xfrm>
            <a:off x="11274552" y="6547104"/>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B85"/>
              </a:buClr>
              <a:buSzPts val="900"/>
              <a:buFont typeface="Calibri"/>
              <a:buNone/>
            </a:pPr>
            <a:r>
              <a:rPr b="0" i="0" lang="en-US" sz="900" u="none" cap="none" strike="noStrike">
                <a:solidFill>
                  <a:srgbClr val="5B6B85"/>
                </a:solidFill>
                <a:latin typeface="Calibri"/>
                <a:ea typeface="Calibri"/>
                <a:cs typeface="Calibri"/>
                <a:sym typeface="Calibri"/>
              </a:rPr>
              <a:t>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2" name="Shape 92"/>
        <p:cNvGrpSpPr/>
        <p:nvPr/>
      </p:nvGrpSpPr>
      <p:grpSpPr>
        <a:xfrm>
          <a:off x="0" y="0"/>
          <a:ext cx="0" cy="0"/>
          <a:chOff x="0" y="0"/>
          <a:chExt cx="0" cy="0"/>
        </a:xfrm>
      </p:grpSpPr>
      <p:sp>
        <p:nvSpPr>
          <p:cNvPr id="93" name="Google Shape;93;p6"/>
          <p:cNvSpPr txBox="1"/>
          <p:nvPr/>
        </p:nvSpPr>
        <p:spPr>
          <a:xfrm>
            <a:off x="457200" y="320040"/>
            <a:ext cx="105156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1200"/>
              <a:buFont typeface="Calibri"/>
              <a:buNone/>
            </a:pPr>
            <a:r>
              <a:rPr b="1" i="0" lang="en-US" sz="1200" u="none" cap="none" strike="noStrike">
                <a:solidFill>
                  <a:srgbClr val="C9A227"/>
                </a:solidFill>
                <a:latin typeface="Calibri"/>
                <a:ea typeface="Calibri"/>
                <a:cs typeface="Calibri"/>
                <a:sym typeface="Calibri"/>
              </a:rPr>
              <a:t>02 · TỪ RAG ĐẾN SELF-RAG</a:t>
            </a:r>
            <a:endParaRPr b="0" i="0" sz="1200" u="none" cap="none" strike="noStrike">
              <a:solidFill>
                <a:schemeClr val="dk1"/>
              </a:solidFill>
              <a:latin typeface="Calibri"/>
              <a:ea typeface="Calibri"/>
              <a:cs typeface="Calibri"/>
              <a:sym typeface="Calibri"/>
            </a:endParaRPr>
          </a:p>
        </p:txBody>
      </p:sp>
      <p:sp>
        <p:nvSpPr>
          <p:cNvPr id="94" name="Google Shape;94;p6"/>
          <p:cNvSpPr txBox="1"/>
          <p:nvPr/>
        </p:nvSpPr>
        <p:spPr>
          <a:xfrm>
            <a:off x="457200" y="566928"/>
            <a:ext cx="1078992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A"/>
              </a:buClr>
              <a:buSzPts val="2800"/>
              <a:buFont typeface="Times New Roman"/>
              <a:buNone/>
            </a:pPr>
            <a:r>
              <a:rPr b="1" i="0" lang="en-US" sz="2800" u="none" cap="none" strike="noStrike">
                <a:solidFill>
                  <a:srgbClr val="1B2A4A"/>
                </a:solidFill>
                <a:latin typeface="Times New Roman"/>
                <a:ea typeface="Times New Roman"/>
                <a:cs typeface="Times New Roman"/>
                <a:sym typeface="Times New Roman"/>
              </a:rPr>
              <a:t>Hạn chế của RAG truyền thống &amp; ý tưởng Self-RAG (paper gốc)</a:t>
            </a:r>
            <a:endParaRPr b="0" i="0" sz="2800" u="none" cap="none" strike="noStrike">
              <a:solidFill>
                <a:schemeClr val="dk1"/>
              </a:solidFill>
              <a:latin typeface="Calibri"/>
              <a:ea typeface="Calibri"/>
              <a:cs typeface="Calibri"/>
              <a:sym typeface="Calibri"/>
            </a:endParaRPr>
          </a:p>
        </p:txBody>
      </p:sp>
      <p:sp>
        <p:nvSpPr>
          <p:cNvPr id="95" name="Google Shape;95;p6"/>
          <p:cNvSpPr/>
          <p:nvPr/>
        </p:nvSpPr>
        <p:spPr>
          <a:xfrm>
            <a:off x="457200" y="1508760"/>
            <a:ext cx="3977640" cy="4526280"/>
          </a:xfrm>
          <a:prstGeom prst="roundRect">
            <a:avLst>
              <a:gd fmla="val 1839" name="adj"/>
            </a:avLst>
          </a:prstGeom>
          <a:solidFill>
            <a:srgbClr val="EEF1F6"/>
          </a:solidFill>
          <a:ln>
            <a:noFill/>
          </a:ln>
          <a:effectLst>
            <a:outerShdw blurRad="76200" rotWithShape="0" algn="bl" dir="5400000" dist="25400">
              <a:srgbClr val="1B2A4A">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6"/>
          <p:cNvSpPr txBox="1"/>
          <p:nvPr/>
        </p:nvSpPr>
        <p:spPr>
          <a:xfrm>
            <a:off x="685800" y="1691640"/>
            <a:ext cx="356616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23A48"/>
              </a:buClr>
              <a:buSzPts val="1550"/>
              <a:buFont typeface="Times New Roman"/>
              <a:buNone/>
            </a:pPr>
            <a:r>
              <a:rPr b="1" i="0" lang="en-US" sz="1550" u="none" cap="none" strike="noStrike">
                <a:solidFill>
                  <a:srgbClr val="B23A48"/>
                </a:solidFill>
                <a:latin typeface="Times New Roman"/>
                <a:ea typeface="Times New Roman"/>
                <a:cs typeface="Times New Roman"/>
                <a:sym typeface="Times New Roman"/>
              </a:rPr>
              <a:t>RAG truyền thống — hạn chế</a:t>
            </a:r>
            <a:endParaRPr b="0" i="0" sz="1550" u="none" cap="none" strike="noStrike">
              <a:solidFill>
                <a:schemeClr val="dk1"/>
              </a:solidFill>
              <a:latin typeface="Calibri"/>
              <a:ea typeface="Calibri"/>
              <a:cs typeface="Calibri"/>
              <a:sym typeface="Calibri"/>
            </a:endParaRPr>
          </a:p>
        </p:txBody>
      </p:sp>
      <p:sp>
        <p:nvSpPr>
          <p:cNvPr id="97" name="Google Shape;97;p6"/>
          <p:cNvSpPr txBox="1"/>
          <p:nvPr/>
        </p:nvSpPr>
        <p:spPr>
          <a:xfrm>
            <a:off x="685800" y="2286000"/>
            <a:ext cx="3566160" cy="3657600"/>
          </a:xfrm>
          <a:prstGeom prst="rect">
            <a:avLst/>
          </a:prstGeom>
          <a:noFill/>
          <a:ln>
            <a:noFill/>
          </a:ln>
        </p:spPr>
        <p:txBody>
          <a:bodyPr anchorCtr="0" anchor="t" bIns="0" lIns="0" spcFirstLastPara="1" rIns="0" wrap="square" tIns="0">
            <a:noAutofit/>
          </a:bodyPr>
          <a:lstStyle/>
          <a:p>
            <a:pPr indent="-342900" lvl="0" marL="342900" marR="0" rtl="0" algn="l">
              <a:lnSpc>
                <a:spcPct val="108000"/>
              </a:lnSpc>
              <a:spcBef>
                <a:spcPts val="0"/>
              </a:spcBef>
              <a:spcAft>
                <a:spcPts val="0"/>
              </a:spcAft>
              <a:buClr>
                <a:srgbClr val="1B2A4A"/>
              </a:buClr>
              <a:buSzPts val="1250"/>
              <a:buFont typeface="Calibri"/>
              <a:buChar char="•"/>
            </a:pPr>
            <a:r>
              <a:rPr b="0" i="0" lang="en-US" sz="1250" u="none" cap="none" strike="noStrike">
                <a:solidFill>
                  <a:srgbClr val="1B2A4A"/>
                </a:solidFill>
                <a:latin typeface="Calibri"/>
                <a:ea typeface="Calibri"/>
                <a:cs typeface="Calibri"/>
                <a:sym typeface="Calibri"/>
              </a:rPr>
              <a:t>Retrieve với chiến lược cố định (top-k), bất kể câu hỏi có cần hay không</a:t>
            </a:r>
            <a:endParaRPr b="0" i="0" sz="1250" u="none" cap="none" strike="noStrike">
              <a:solidFill>
                <a:schemeClr val="dk1"/>
              </a:solidFill>
              <a:latin typeface="Calibri"/>
              <a:ea typeface="Calibri"/>
              <a:cs typeface="Calibri"/>
              <a:sym typeface="Calibri"/>
            </a:endParaRPr>
          </a:p>
          <a:p>
            <a:pPr indent="-342900" lvl="0" marL="342900" marR="0" rtl="0" algn="l">
              <a:lnSpc>
                <a:spcPct val="108000"/>
              </a:lnSpc>
              <a:spcBef>
                <a:spcPts val="900"/>
              </a:spcBef>
              <a:spcAft>
                <a:spcPts val="0"/>
              </a:spcAft>
              <a:buClr>
                <a:srgbClr val="1B2A4A"/>
              </a:buClr>
              <a:buSzPts val="1250"/>
              <a:buFont typeface="Calibri"/>
              <a:buChar char="•"/>
            </a:pPr>
            <a:r>
              <a:rPr b="0" i="0" lang="en-US" sz="1250" u="none" cap="none" strike="noStrike">
                <a:solidFill>
                  <a:srgbClr val="1B2A4A"/>
                </a:solidFill>
                <a:latin typeface="Calibri"/>
                <a:ea typeface="Calibri"/>
                <a:cs typeface="Calibri"/>
                <a:sym typeface="Calibri"/>
              </a:rPr>
              <a:t>Đưa toàn bộ đoạn truy xuất cho generator vô điều kiện</a:t>
            </a:r>
            <a:endParaRPr b="0" i="0" sz="1250" u="none" cap="none" strike="noStrike">
              <a:solidFill>
                <a:schemeClr val="dk1"/>
              </a:solidFill>
              <a:latin typeface="Calibri"/>
              <a:ea typeface="Calibri"/>
              <a:cs typeface="Calibri"/>
              <a:sym typeface="Calibri"/>
            </a:endParaRPr>
          </a:p>
          <a:p>
            <a:pPr indent="-342900" lvl="0" marL="342900" marR="0" rtl="0" algn="l">
              <a:lnSpc>
                <a:spcPct val="108000"/>
              </a:lnSpc>
              <a:spcBef>
                <a:spcPts val="900"/>
              </a:spcBef>
              <a:spcAft>
                <a:spcPts val="0"/>
              </a:spcAft>
              <a:buClr>
                <a:srgbClr val="1B2A4A"/>
              </a:buClr>
              <a:buSzPts val="1250"/>
              <a:buFont typeface="Calibri"/>
              <a:buChar char="•"/>
            </a:pPr>
            <a:r>
              <a:rPr b="0" i="0" lang="en-US" sz="1250" u="none" cap="none" strike="noStrike">
                <a:solidFill>
                  <a:srgbClr val="1B2A4A"/>
                </a:solidFill>
                <a:latin typeface="Calibri"/>
                <a:ea typeface="Calibri"/>
                <a:cs typeface="Calibri"/>
                <a:sym typeface="Calibri"/>
              </a:rPr>
              <a:t>Đoạn không liên quan có thể gây nhiễu / đánh lạc hướng</a:t>
            </a:r>
            <a:endParaRPr b="0" i="0" sz="1250" u="none" cap="none" strike="noStrike">
              <a:solidFill>
                <a:schemeClr val="dk1"/>
              </a:solidFill>
              <a:latin typeface="Calibri"/>
              <a:ea typeface="Calibri"/>
              <a:cs typeface="Calibri"/>
              <a:sym typeface="Calibri"/>
            </a:endParaRPr>
          </a:p>
          <a:p>
            <a:pPr indent="-342900" lvl="0" marL="342900" marR="0" rtl="0" algn="l">
              <a:lnSpc>
                <a:spcPct val="108000"/>
              </a:lnSpc>
              <a:spcBef>
                <a:spcPts val="900"/>
              </a:spcBef>
              <a:spcAft>
                <a:spcPts val="0"/>
              </a:spcAft>
              <a:buClr>
                <a:srgbClr val="1B2A4A"/>
              </a:buClr>
              <a:buSzPts val="1250"/>
              <a:buFont typeface="Calibri"/>
              <a:buChar char="•"/>
            </a:pPr>
            <a:r>
              <a:rPr b="0" i="0" lang="en-US" sz="1250" u="none" cap="none" strike="noStrike">
                <a:solidFill>
                  <a:srgbClr val="1B2A4A"/>
                </a:solidFill>
                <a:latin typeface="Calibri"/>
                <a:ea typeface="Calibri"/>
                <a:cs typeface="Calibri"/>
                <a:sym typeface="Calibri"/>
              </a:rPr>
              <a:t>Không tự kiểm tra câu trả lời có được evidence hỗ trợ hay hữu ích hay không</a:t>
            </a:r>
            <a:endParaRPr b="0" i="0" sz="1250" u="none" cap="none" strike="noStrike">
              <a:solidFill>
                <a:schemeClr val="dk1"/>
              </a:solidFill>
              <a:latin typeface="Calibri"/>
              <a:ea typeface="Calibri"/>
              <a:cs typeface="Calibri"/>
              <a:sym typeface="Calibri"/>
            </a:endParaRPr>
          </a:p>
        </p:txBody>
      </p:sp>
      <p:sp>
        <p:nvSpPr>
          <p:cNvPr id="98" name="Google Shape;98;p6"/>
          <p:cNvSpPr/>
          <p:nvPr/>
        </p:nvSpPr>
        <p:spPr>
          <a:xfrm>
            <a:off x="4617720" y="3291840"/>
            <a:ext cx="777240" cy="777240"/>
          </a:xfrm>
          <a:prstGeom prst="roundRect">
            <a:avLst>
              <a:gd fmla="val 49412"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6"/>
          <p:cNvSpPr txBox="1"/>
          <p:nvPr/>
        </p:nvSpPr>
        <p:spPr>
          <a:xfrm>
            <a:off x="4617720" y="3291840"/>
            <a:ext cx="77724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9A227"/>
              </a:buClr>
              <a:buSzPts val="2400"/>
              <a:buFont typeface="Calibri"/>
              <a:buNone/>
            </a:pPr>
            <a:r>
              <a:rPr b="1" i="0" lang="en-US" sz="2400" u="none" cap="none" strike="noStrike">
                <a:solidFill>
                  <a:srgbClr val="C9A227"/>
                </a:solidFill>
                <a:latin typeface="Calibri"/>
                <a:ea typeface="Calibri"/>
                <a:cs typeface="Calibri"/>
                <a:sym typeface="Calibri"/>
              </a:rPr>
              <a:t>→</a:t>
            </a:r>
            <a:endParaRPr b="0" i="0" sz="2400" u="none" cap="none" strike="noStrike">
              <a:solidFill>
                <a:schemeClr val="dk1"/>
              </a:solidFill>
              <a:latin typeface="Calibri"/>
              <a:ea typeface="Calibri"/>
              <a:cs typeface="Calibri"/>
              <a:sym typeface="Calibri"/>
            </a:endParaRPr>
          </a:p>
        </p:txBody>
      </p:sp>
      <p:sp>
        <p:nvSpPr>
          <p:cNvPr id="100" name="Google Shape;100;p6"/>
          <p:cNvSpPr/>
          <p:nvPr/>
        </p:nvSpPr>
        <p:spPr>
          <a:xfrm>
            <a:off x="5532120" y="1508760"/>
            <a:ext cx="6199632" cy="4526280"/>
          </a:xfrm>
          <a:prstGeom prst="roundRect">
            <a:avLst>
              <a:gd fmla="val 1616" name="adj"/>
            </a:avLst>
          </a:prstGeom>
          <a:solidFill>
            <a:srgbClr val="F5EFD9"/>
          </a:solidFill>
          <a:ln>
            <a:noFill/>
          </a:ln>
          <a:effectLst>
            <a:outerShdw blurRad="76200" rotWithShape="0" algn="bl" dir="5400000" dist="25400">
              <a:srgbClr val="1B2A4A">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6"/>
          <p:cNvSpPr txBox="1"/>
          <p:nvPr/>
        </p:nvSpPr>
        <p:spPr>
          <a:xfrm>
            <a:off x="5806440" y="1691640"/>
            <a:ext cx="56692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1550"/>
              <a:buFont typeface="Times New Roman"/>
              <a:buNone/>
            </a:pPr>
            <a:r>
              <a:rPr b="1" i="0" lang="en-US" sz="1550" u="none" cap="none" strike="noStrike">
                <a:solidFill>
                  <a:srgbClr val="1B2A4A"/>
                </a:solidFill>
                <a:latin typeface="Times New Roman"/>
                <a:ea typeface="Times New Roman"/>
                <a:cs typeface="Times New Roman"/>
                <a:sym typeface="Times New Roman"/>
              </a:rPr>
              <a:t>Self-RAG (Asai et al., ICLR 2024)</a:t>
            </a:r>
            <a:endParaRPr b="0" i="0" sz="1550" u="none" cap="none" strike="noStrike">
              <a:solidFill>
                <a:schemeClr val="dk1"/>
              </a:solidFill>
              <a:latin typeface="Calibri"/>
              <a:ea typeface="Calibri"/>
              <a:cs typeface="Calibri"/>
              <a:sym typeface="Calibri"/>
            </a:endParaRPr>
          </a:p>
        </p:txBody>
      </p:sp>
      <p:sp>
        <p:nvSpPr>
          <p:cNvPr id="102" name="Google Shape;102;p6"/>
          <p:cNvSpPr txBox="1"/>
          <p:nvPr/>
        </p:nvSpPr>
        <p:spPr>
          <a:xfrm>
            <a:off x="5806440" y="2084832"/>
            <a:ext cx="566928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5A80"/>
              </a:buClr>
              <a:buSzPts val="1200"/>
              <a:buFont typeface="Calibri"/>
              <a:buNone/>
            </a:pPr>
            <a:r>
              <a:rPr b="0" i="1" lang="en-US" sz="1200" u="none" cap="none" strike="noStrike">
                <a:solidFill>
                  <a:srgbClr val="3D5A80"/>
                </a:solidFill>
                <a:latin typeface="Calibri"/>
                <a:ea typeface="Calibri"/>
                <a:cs typeface="Calibri"/>
                <a:sym typeface="Calibri"/>
              </a:rPr>
              <a:t>Huấn luyện một LM để tự sinh “reflection tokens” xen kẽ với văn bản — quyết định khi nào retrieve, và tự phê bình evidence lẫn câu trả lời của chính nó.</a:t>
            </a:r>
            <a:endParaRPr b="0" i="0" sz="1200" u="none" cap="none" strike="noStrike">
              <a:solidFill>
                <a:schemeClr val="dk1"/>
              </a:solidFill>
              <a:latin typeface="Calibri"/>
              <a:ea typeface="Calibri"/>
              <a:cs typeface="Calibri"/>
              <a:sym typeface="Calibri"/>
            </a:endParaRPr>
          </a:p>
        </p:txBody>
      </p:sp>
      <p:graphicFrame>
        <p:nvGraphicFramePr>
          <p:cNvPr id="103" name="Google Shape;103;p6"/>
          <p:cNvGraphicFramePr/>
          <p:nvPr/>
        </p:nvGraphicFramePr>
        <p:xfrm>
          <a:off x="5806440" y="2834640"/>
          <a:ext cx="3000000" cy="3000000"/>
        </p:xfrm>
        <a:graphic>
          <a:graphicData uri="http://schemas.openxmlformats.org/drawingml/2006/table">
            <a:tbl>
              <a:tblPr>
                <a:noFill/>
                <a:tableStyleId>{CF771489-7EA7-439F-9CA7-88DC3161A82E}</a:tableStyleId>
              </a:tblPr>
              <a:tblGrid>
                <a:gridCol w="1234450"/>
                <a:gridCol w="3063250"/>
                <a:gridCol w="1371600"/>
              </a:tblGrid>
              <a:tr h="320050">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Token</a:t>
                      </a:r>
                      <a:endParaRPr sz="1100" u="none" cap="none" strike="noStrike">
                        <a:latin typeface="Calibri"/>
                        <a:ea typeface="Calibri"/>
                        <a:cs typeface="Calibri"/>
                        <a:sym typeface="Calibri"/>
                      </a:endParaRPr>
                    </a:p>
                  </a:txBody>
                  <a:tcPr marT="45725" marB="45725" marR="91450" marL="91450" anchor="ctr">
                    <a:lnL cap="flat" cmpd="sng" w="9525">
                      <a:solidFill>
                        <a:srgbClr val="D8D0AE"/>
                      </a:solidFill>
                      <a:prstDash val="solid"/>
                      <a:round/>
                      <a:headEnd len="sm" w="sm" type="none"/>
                      <a:tailEnd len="sm" w="sm" type="none"/>
                    </a:lnL>
                    <a:lnR cap="flat" cmpd="sng" w="9525">
                      <a:solidFill>
                        <a:srgbClr val="D8D0AE"/>
                      </a:solidFill>
                      <a:prstDash val="solid"/>
                      <a:round/>
                      <a:headEnd len="sm" w="sm" type="none"/>
                      <a:tailEnd len="sm" w="sm" type="none"/>
                    </a:lnR>
                    <a:lnT cap="flat" cmpd="sng" w="9525">
                      <a:solidFill>
                        <a:srgbClr val="D8D0AE"/>
                      </a:solidFill>
                      <a:prstDash val="solid"/>
                      <a:round/>
                      <a:headEnd len="sm" w="sm" type="none"/>
                      <a:tailEnd len="sm" w="sm" type="none"/>
                    </a:lnT>
                    <a:lnB cap="flat" cmpd="sng" w="9525">
                      <a:solidFill>
                        <a:srgbClr val="D8D0AE"/>
                      </a:solidFill>
                      <a:prstDash val="solid"/>
                      <a:round/>
                      <a:headEnd len="sm" w="sm" type="none"/>
                      <a:tailEnd len="sm" w="sm" type="none"/>
                    </a:lnB>
                    <a:solidFill>
                      <a:srgbClr val="1B2A4A"/>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Câu hỏi trả lời</a:t>
                      </a:r>
                      <a:endParaRPr sz="1100" u="none" cap="none" strike="noStrike">
                        <a:latin typeface="Calibri"/>
                        <a:ea typeface="Calibri"/>
                        <a:cs typeface="Calibri"/>
                        <a:sym typeface="Calibri"/>
                      </a:endParaRPr>
                    </a:p>
                  </a:txBody>
                  <a:tcPr marT="45725" marB="45725" marR="91450" marL="91450" anchor="ctr">
                    <a:lnL cap="flat" cmpd="sng" w="9525">
                      <a:solidFill>
                        <a:srgbClr val="D8D0AE"/>
                      </a:solidFill>
                      <a:prstDash val="solid"/>
                      <a:round/>
                      <a:headEnd len="sm" w="sm" type="none"/>
                      <a:tailEnd len="sm" w="sm" type="none"/>
                    </a:lnL>
                    <a:lnR cap="flat" cmpd="sng" w="9525">
                      <a:solidFill>
                        <a:srgbClr val="D8D0AE"/>
                      </a:solidFill>
                      <a:prstDash val="solid"/>
                      <a:round/>
                      <a:headEnd len="sm" w="sm" type="none"/>
                      <a:tailEnd len="sm" w="sm" type="none"/>
                    </a:lnR>
                    <a:lnT cap="flat" cmpd="sng" w="9525">
                      <a:solidFill>
                        <a:srgbClr val="D8D0AE"/>
                      </a:solidFill>
                      <a:prstDash val="solid"/>
                      <a:round/>
                      <a:headEnd len="sm" w="sm" type="none"/>
                      <a:tailEnd len="sm" w="sm" type="none"/>
                    </a:lnT>
                    <a:lnB cap="flat" cmpd="sng" w="9525">
                      <a:solidFill>
                        <a:srgbClr val="D8D0AE"/>
                      </a:solidFill>
                      <a:prstDash val="solid"/>
                      <a:round/>
                      <a:headEnd len="sm" w="sm" type="none"/>
                      <a:tailEnd len="sm" w="sm" type="none"/>
                    </a:lnB>
                    <a:solidFill>
                      <a:srgbClr val="1B2A4A"/>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Nhãn</a:t>
                      </a:r>
                      <a:endParaRPr sz="1100" u="none" cap="none" strike="noStrike">
                        <a:latin typeface="Calibri"/>
                        <a:ea typeface="Calibri"/>
                        <a:cs typeface="Calibri"/>
                        <a:sym typeface="Calibri"/>
                      </a:endParaRPr>
                    </a:p>
                  </a:txBody>
                  <a:tcPr marT="45725" marB="45725" marR="91450" marL="91450" anchor="ctr">
                    <a:lnL cap="flat" cmpd="sng" w="9525">
                      <a:solidFill>
                        <a:srgbClr val="D8D0AE"/>
                      </a:solidFill>
                      <a:prstDash val="solid"/>
                      <a:round/>
                      <a:headEnd len="sm" w="sm" type="none"/>
                      <a:tailEnd len="sm" w="sm" type="none"/>
                    </a:lnL>
                    <a:lnR cap="flat" cmpd="sng" w="9525">
                      <a:solidFill>
                        <a:srgbClr val="D8D0AE"/>
                      </a:solidFill>
                      <a:prstDash val="solid"/>
                      <a:round/>
                      <a:headEnd len="sm" w="sm" type="none"/>
                      <a:tailEnd len="sm" w="sm" type="none"/>
                    </a:lnR>
                    <a:lnT cap="flat" cmpd="sng" w="9525">
                      <a:solidFill>
                        <a:srgbClr val="D8D0AE"/>
                      </a:solidFill>
                      <a:prstDash val="solid"/>
                      <a:round/>
                      <a:headEnd len="sm" w="sm" type="none"/>
                      <a:tailEnd len="sm" w="sm" type="none"/>
                    </a:lnT>
                    <a:lnB cap="flat" cmpd="sng" w="9525">
                      <a:solidFill>
                        <a:srgbClr val="D8D0AE"/>
                      </a:solidFill>
                      <a:prstDash val="solid"/>
                      <a:round/>
                      <a:headEnd len="sm" w="sm" type="none"/>
                      <a:tailEnd len="sm" w="sm" type="none"/>
                    </a:lnB>
                    <a:solidFill>
                      <a:srgbClr val="1B2A4A"/>
                    </a:solidFill>
                  </a:tcPr>
                </a:tc>
              </a:tr>
              <a:tr h="411475">
                <a:tc>
                  <a:txBody>
                    <a:bodyPr/>
                    <a:lstStyle/>
                    <a:p>
                      <a:pPr indent="0" lvl="0" marL="0" marR="0" rtl="0" algn="l">
                        <a:spcBef>
                          <a:spcPts val="0"/>
                        </a:spcBef>
                        <a:spcAft>
                          <a:spcPts val="0"/>
                        </a:spcAft>
                        <a:buClr>
                          <a:srgbClr val="1B2A4A"/>
                        </a:buClr>
                        <a:buSzPts val="1100"/>
                        <a:buFont typeface="Calibri"/>
                        <a:buNone/>
                      </a:pPr>
                      <a:r>
                        <a:rPr lang="en-US" sz="1100" u="none" cap="none" strike="noStrike">
                          <a:solidFill>
                            <a:srgbClr val="1B2A4A"/>
                          </a:solidFill>
                          <a:latin typeface="Calibri"/>
                          <a:ea typeface="Calibri"/>
                          <a:cs typeface="Calibri"/>
                          <a:sym typeface="Calibri"/>
                        </a:rPr>
                        <a:t>RETRIEVE</a:t>
                      </a:r>
                      <a:endParaRPr sz="1100" u="none" cap="none" strike="noStrike">
                        <a:latin typeface="Calibri"/>
                        <a:ea typeface="Calibri"/>
                        <a:cs typeface="Calibri"/>
                        <a:sym typeface="Calibri"/>
                      </a:endParaRPr>
                    </a:p>
                  </a:txBody>
                  <a:tcPr marT="45725" marB="45725" marR="91450" marL="91450" anchor="ctr">
                    <a:lnL cap="flat" cmpd="sng" w="9525">
                      <a:solidFill>
                        <a:srgbClr val="D8D0AE"/>
                      </a:solidFill>
                      <a:prstDash val="solid"/>
                      <a:round/>
                      <a:headEnd len="sm" w="sm" type="none"/>
                      <a:tailEnd len="sm" w="sm" type="none"/>
                    </a:lnL>
                    <a:lnR cap="flat" cmpd="sng" w="9525">
                      <a:solidFill>
                        <a:srgbClr val="D8D0AE"/>
                      </a:solidFill>
                      <a:prstDash val="solid"/>
                      <a:round/>
                      <a:headEnd len="sm" w="sm" type="none"/>
                      <a:tailEnd len="sm" w="sm" type="none"/>
                    </a:lnR>
                    <a:lnT cap="flat" cmpd="sng" w="9525">
                      <a:solidFill>
                        <a:srgbClr val="D8D0AE"/>
                      </a:solidFill>
                      <a:prstDash val="solid"/>
                      <a:round/>
                      <a:headEnd len="sm" w="sm" type="none"/>
                      <a:tailEnd len="sm" w="sm" type="none"/>
                    </a:lnT>
                    <a:lnB cap="flat" cmpd="sng" w="9525">
                      <a:solidFill>
                        <a:srgbClr val="D8D0AE"/>
                      </a:solidFill>
                      <a:prstDash val="solid"/>
                      <a:round/>
                      <a:headEnd len="sm" w="sm" type="none"/>
                      <a:tailEnd len="sm" w="sm" type="none"/>
                    </a:lnB>
                  </a:tcPr>
                </a:tc>
                <a:tc>
                  <a:txBody>
                    <a:bodyPr/>
                    <a:lstStyle/>
                    <a:p>
                      <a:pPr indent="0" lvl="0" marL="0" marR="0" rtl="0" algn="l">
                        <a:spcBef>
                          <a:spcPts val="0"/>
                        </a:spcBef>
                        <a:spcAft>
                          <a:spcPts val="0"/>
                        </a:spcAft>
                        <a:buClr>
                          <a:srgbClr val="1B2A4A"/>
                        </a:buClr>
                        <a:buSzPts val="1100"/>
                        <a:buFont typeface="Calibri"/>
                        <a:buNone/>
                      </a:pPr>
                      <a:r>
                        <a:rPr lang="en-US" sz="1100" u="none" cap="none" strike="noStrike">
                          <a:solidFill>
                            <a:srgbClr val="1B2A4A"/>
                          </a:solidFill>
                          <a:latin typeface="Calibri"/>
                          <a:ea typeface="Calibri"/>
                          <a:cs typeface="Calibri"/>
                          <a:sym typeface="Calibri"/>
                        </a:rPr>
                        <a:t>Có cần truy xuất không?</a:t>
                      </a:r>
                      <a:endParaRPr sz="1100" u="none" cap="none" strike="noStrike">
                        <a:latin typeface="Calibri"/>
                        <a:ea typeface="Calibri"/>
                        <a:cs typeface="Calibri"/>
                        <a:sym typeface="Calibri"/>
                      </a:endParaRPr>
                    </a:p>
                  </a:txBody>
                  <a:tcPr marT="45725" marB="45725" marR="91450" marL="91450" anchor="ctr">
                    <a:lnL cap="flat" cmpd="sng" w="9525">
                      <a:solidFill>
                        <a:srgbClr val="D8D0AE"/>
                      </a:solidFill>
                      <a:prstDash val="solid"/>
                      <a:round/>
                      <a:headEnd len="sm" w="sm" type="none"/>
                      <a:tailEnd len="sm" w="sm" type="none"/>
                    </a:lnL>
                    <a:lnR cap="flat" cmpd="sng" w="9525">
                      <a:solidFill>
                        <a:srgbClr val="D8D0AE"/>
                      </a:solidFill>
                      <a:prstDash val="solid"/>
                      <a:round/>
                      <a:headEnd len="sm" w="sm" type="none"/>
                      <a:tailEnd len="sm" w="sm" type="none"/>
                    </a:lnR>
                    <a:lnT cap="flat" cmpd="sng" w="9525">
                      <a:solidFill>
                        <a:srgbClr val="D8D0AE"/>
                      </a:solidFill>
                      <a:prstDash val="solid"/>
                      <a:round/>
                      <a:headEnd len="sm" w="sm" type="none"/>
                      <a:tailEnd len="sm" w="sm" type="none"/>
                    </a:lnT>
                    <a:lnB cap="flat" cmpd="sng" w="9525">
                      <a:solidFill>
                        <a:srgbClr val="D8D0AE"/>
                      </a:solidFill>
                      <a:prstDash val="solid"/>
                      <a:round/>
                      <a:headEnd len="sm" w="sm" type="none"/>
                      <a:tailEnd len="sm" w="sm" type="none"/>
                    </a:lnB>
                  </a:tcPr>
                </a:tc>
                <a:tc>
                  <a:txBody>
                    <a:bodyPr/>
                    <a:lstStyle/>
                    <a:p>
                      <a:pPr indent="0" lvl="0" marL="0" marR="0" rtl="0" algn="l">
                        <a:spcBef>
                          <a:spcPts val="0"/>
                        </a:spcBef>
                        <a:spcAft>
                          <a:spcPts val="0"/>
                        </a:spcAft>
                        <a:buClr>
                          <a:srgbClr val="1B2A4A"/>
                        </a:buClr>
                        <a:buSzPts val="1100"/>
                        <a:buFont typeface="Calibri"/>
                        <a:buNone/>
                      </a:pPr>
                      <a:r>
                        <a:rPr lang="en-US" sz="1100" u="none" cap="none" strike="noStrike">
                          <a:solidFill>
                            <a:srgbClr val="1B2A4A"/>
                          </a:solidFill>
                          <a:latin typeface="Calibri"/>
                          <a:ea typeface="Calibri"/>
                          <a:cs typeface="Calibri"/>
                          <a:sym typeface="Calibri"/>
                        </a:rPr>
                        <a:t>Yes / No / Continue</a:t>
                      </a:r>
                      <a:endParaRPr sz="1100" u="none" cap="none" strike="noStrike">
                        <a:latin typeface="Calibri"/>
                        <a:ea typeface="Calibri"/>
                        <a:cs typeface="Calibri"/>
                        <a:sym typeface="Calibri"/>
                      </a:endParaRPr>
                    </a:p>
                  </a:txBody>
                  <a:tcPr marT="45725" marB="45725" marR="91450" marL="91450" anchor="ctr">
                    <a:lnL cap="flat" cmpd="sng" w="9525">
                      <a:solidFill>
                        <a:srgbClr val="D8D0AE"/>
                      </a:solidFill>
                      <a:prstDash val="solid"/>
                      <a:round/>
                      <a:headEnd len="sm" w="sm" type="none"/>
                      <a:tailEnd len="sm" w="sm" type="none"/>
                    </a:lnL>
                    <a:lnR cap="flat" cmpd="sng" w="9525">
                      <a:solidFill>
                        <a:srgbClr val="D8D0AE"/>
                      </a:solidFill>
                      <a:prstDash val="solid"/>
                      <a:round/>
                      <a:headEnd len="sm" w="sm" type="none"/>
                      <a:tailEnd len="sm" w="sm" type="none"/>
                    </a:lnR>
                    <a:lnT cap="flat" cmpd="sng" w="9525">
                      <a:solidFill>
                        <a:srgbClr val="D8D0AE"/>
                      </a:solidFill>
                      <a:prstDash val="solid"/>
                      <a:round/>
                      <a:headEnd len="sm" w="sm" type="none"/>
                      <a:tailEnd len="sm" w="sm" type="none"/>
                    </a:lnT>
                    <a:lnB cap="flat" cmpd="sng" w="9525">
                      <a:solidFill>
                        <a:srgbClr val="D8D0AE"/>
                      </a:solidFill>
                      <a:prstDash val="solid"/>
                      <a:round/>
                      <a:headEnd len="sm" w="sm" type="none"/>
                      <a:tailEnd len="sm" w="sm" type="none"/>
                    </a:lnB>
                  </a:tcPr>
                </a:tc>
              </a:tr>
              <a:tr h="411475">
                <a:tc>
                  <a:txBody>
                    <a:bodyPr/>
                    <a:lstStyle/>
                    <a:p>
                      <a:pPr indent="0" lvl="0" marL="0" marR="0" rtl="0" algn="l">
                        <a:spcBef>
                          <a:spcPts val="0"/>
                        </a:spcBef>
                        <a:spcAft>
                          <a:spcPts val="0"/>
                        </a:spcAft>
                        <a:buClr>
                          <a:srgbClr val="1B2A4A"/>
                        </a:buClr>
                        <a:buSzPts val="1100"/>
                        <a:buFont typeface="Calibri"/>
                        <a:buNone/>
                      </a:pPr>
                      <a:r>
                        <a:rPr lang="en-US" sz="1100" u="none" cap="none" strike="noStrike">
                          <a:solidFill>
                            <a:srgbClr val="1B2A4A"/>
                          </a:solidFill>
                          <a:latin typeface="Calibri"/>
                          <a:ea typeface="Calibri"/>
                          <a:cs typeface="Calibri"/>
                          <a:sym typeface="Calibri"/>
                        </a:rPr>
                        <a:t>ISREL</a:t>
                      </a:r>
                      <a:endParaRPr sz="1100" u="none" cap="none" strike="noStrike">
                        <a:latin typeface="Calibri"/>
                        <a:ea typeface="Calibri"/>
                        <a:cs typeface="Calibri"/>
                        <a:sym typeface="Calibri"/>
                      </a:endParaRPr>
                    </a:p>
                  </a:txBody>
                  <a:tcPr marT="45725" marB="45725" marR="91450" marL="91450" anchor="ctr">
                    <a:lnL cap="flat" cmpd="sng" w="9525">
                      <a:solidFill>
                        <a:srgbClr val="D8D0AE"/>
                      </a:solidFill>
                      <a:prstDash val="solid"/>
                      <a:round/>
                      <a:headEnd len="sm" w="sm" type="none"/>
                      <a:tailEnd len="sm" w="sm" type="none"/>
                    </a:lnL>
                    <a:lnR cap="flat" cmpd="sng" w="9525">
                      <a:solidFill>
                        <a:srgbClr val="D8D0AE"/>
                      </a:solidFill>
                      <a:prstDash val="solid"/>
                      <a:round/>
                      <a:headEnd len="sm" w="sm" type="none"/>
                      <a:tailEnd len="sm" w="sm" type="none"/>
                    </a:lnR>
                    <a:lnT cap="flat" cmpd="sng" w="9525">
                      <a:solidFill>
                        <a:srgbClr val="D8D0AE"/>
                      </a:solidFill>
                      <a:prstDash val="solid"/>
                      <a:round/>
                      <a:headEnd len="sm" w="sm" type="none"/>
                      <a:tailEnd len="sm" w="sm" type="none"/>
                    </a:lnT>
                    <a:lnB cap="flat" cmpd="sng" w="9525">
                      <a:solidFill>
                        <a:srgbClr val="D8D0AE"/>
                      </a:solidFill>
                      <a:prstDash val="solid"/>
                      <a:round/>
                      <a:headEnd len="sm" w="sm" type="none"/>
                      <a:tailEnd len="sm" w="sm" type="none"/>
                    </a:lnB>
                  </a:tcPr>
                </a:tc>
                <a:tc>
                  <a:txBody>
                    <a:bodyPr/>
                    <a:lstStyle/>
                    <a:p>
                      <a:pPr indent="0" lvl="0" marL="0" marR="0" rtl="0" algn="l">
                        <a:spcBef>
                          <a:spcPts val="0"/>
                        </a:spcBef>
                        <a:spcAft>
                          <a:spcPts val="0"/>
                        </a:spcAft>
                        <a:buClr>
                          <a:srgbClr val="1B2A4A"/>
                        </a:buClr>
                        <a:buSzPts val="1100"/>
                        <a:buFont typeface="Calibri"/>
                        <a:buNone/>
                      </a:pPr>
                      <a:r>
                        <a:rPr lang="en-US" sz="1100" u="none" cap="none" strike="noStrike">
                          <a:solidFill>
                            <a:srgbClr val="1B2A4A"/>
                          </a:solidFill>
                          <a:latin typeface="Calibri"/>
                          <a:ea typeface="Calibri"/>
                          <a:cs typeface="Calibri"/>
                          <a:sym typeface="Calibri"/>
                        </a:rPr>
                        <a:t>Đoạn này có liên quan không?</a:t>
                      </a:r>
                      <a:endParaRPr sz="1100" u="none" cap="none" strike="noStrike">
                        <a:latin typeface="Calibri"/>
                        <a:ea typeface="Calibri"/>
                        <a:cs typeface="Calibri"/>
                        <a:sym typeface="Calibri"/>
                      </a:endParaRPr>
                    </a:p>
                  </a:txBody>
                  <a:tcPr marT="45725" marB="45725" marR="91450" marL="91450" anchor="ctr">
                    <a:lnL cap="flat" cmpd="sng" w="9525">
                      <a:solidFill>
                        <a:srgbClr val="D8D0AE"/>
                      </a:solidFill>
                      <a:prstDash val="solid"/>
                      <a:round/>
                      <a:headEnd len="sm" w="sm" type="none"/>
                      <a:tailEnd len="sm" w="sm" type="none"/>
                    </a:lnL>
                    <a:lnR cap="flat" cmpd="sng" w="9525">
                      <a:solidFill>
                        <a:srgbClr val="D8D0AE"/>
                      </a:solidFill>
                      <a:prstDash val="solid"/>
                      <a:round/>
                      <a:headEnd len="sm" w="sm" type="none"/>
                      <a:tailEnd len="sm" w="sm" type="none"/>
                    </a:lnR>
                    <a:lnT cap="flat" cmpd="sng" w="9525">
                      <a:solidFill>
                        <a:srgbClr val="D8D0AE"/>
                      </a:solidFill>
                      <a:prstDash val="solid"/>
                      <a:round/>
                      <a:headEnd len="sm" w="sm" type="none"/>
                      <a:tailEnd len="sm" w="sm" type="none"/>
                    </a:lnT>
                    <a:lnB cap="flat" cmpd="sng" w="9525">
                      <a:solidFill>
                        <a:srgbClr val="D8D0AE"/>
                      </a:solidFill>
                      <a:prstDash val="solid"/>
                      <a:round/>
                      <a:headEnd len="sm" w="sm" type="none"/>
                      <a:tailEnd len="sm" w="sm" type="none"/>
                    </a:lnB>
                  </a:tcPr>
                </a:tc>
                <a:tc>
                  <a:txBody>
                    <a:bodyPr/>
                    <a:lstStyle/>
                    <a:p>
                      <a:pPr indent="0" lvl="0" marL="0" marR="0" rtl="0" algn="l">
                        <a:spcBef>
                          <a:spcPts val="0"/>
                        </a:spcBef>
                        <a:spcAft>
                          <a:spcPts val="0"/>
                        </a:spcAft>
                        <a:buClr>
                          <a:srgbClr val="1B2A4A"/>
                        </a:buClr>
                        <a:buSzPts val="1100"/>
                        <a:buFont typeface="Calibri"/>
                        <a:buNone/>
                      </a:pPr>
                      <a:r>
                        <a:rPr lang="en-US" sz="1100" u="none" cap="none" strike="noStrike">
                          <a:solidFill>
                            <a:srgbClr val="1B2A4A"/>
                          </a:solidFill>
                          <a:latin typeface="Calibri"/>
                          <a:ea typeface="Calibri"/>
                          <a:cs typeface="Calibri"/>
                          <a:sym typeface="Calibri"/>
                        </a:rPr>
                        <a:t>Relevant / Irrelevant</a:t>
                      </a:r>
                      <a:endParaRPr sz="1100" u="none" cap="none" strike="noStrike">
                        <a:latin typeface="Calibri"/>
                        <a:ea typeface="Calibri"/>
                        <a:cs typeface="Calibri"/>
                        <a:sym typeface="Calibri"/>
                      </a:endParaRPr>
                    </a:p>
                  </a:txBody>
                  <a:tcPr marT="45725" marB="45725" marR="91450" marL="91450" anchor="ctr">
                    <a:lnL cap="flat" cmpd="sng" w="9525">
                      <a:solidFill>
                        <a:srgbClr val="D8D0AE"/>
                      </a:solidFill>
                      <a:prstDash val="solid"/>
                      <a:round/>
                      <a:headEnd len="sm" w="sm" type="none"/>
                      <a:tailEnd len="sm" w="sm" type="none"/>
                    </a:lnL>
                    <a:lnR cap="flat" cmpd="sng" w="9525">
                      <a:solidFill>
                        <a:srgbClr val="D8D0AE"/>
                      </a:solidFill>
                      <a:prstDash val="solid"/>
                      <a:round/>
                      <a:headEnd len="sm" w="sm" type="none"/>
                      <a:tailEnd len="sm" w="sm" type="none"/>
                    </a:lnR>
                    <a:lnT cap="flat" cmpd="sng" w="9525">
                      <a:solidFill>
                        <a:srgbClr val="D8D0AE"/>
                      </a:solidFill>
                      <a:prstDash val="solid"/>
                      <a:round/>
                      <a:headEnd len="sm" w="sm" type="none"/>
                      <a:tailEnd len="sm" w="sm" type="none"/>
                    </a:lnT>
                    <a:lnB cap="flat" cmpd="sng" w="9525">
                      <a:solidFill>
                        <a:srgbClr val="D8D0AE"/>
                      </a:solidFill>
                      <a:prstDash val="solid"/>
                      <a:round/>
                      <a:headEnd len="sm" w="sm" type="none"/>
                      <a:tailEnd len="sm" w="sm" type="none"/>
                    </a:lnB>
                  </a:tcPr>
                </a:tc>
              </a:tr>
              <a:tr h="411475">
                <a:tc>
                  <a:txBody>
                    <a:bodyPr/>
                    <a:lstStyle/>
                    <a:p>
                      <a:pPr indent="0" lvl="0" marL="0" marR="0" rtl="0" algn="l">
                        <a:spcBef>
                          <a:spcPts val="0"/>
                        </a:spcBef>
                        <a:spcAft>
                          <a:spcPts val="0"/>
                        </a:spcAft>
                        <a:buClr>
                          <a:srgbClr val="1B2A4A"/>
                        </a:buClr>
                        <a:buSzPts val="1100"/>
                        <a:buFont typeface="Calibri"/>
                        <a:buNone/>
                      </a:pPr>
                      <a:r>
                        <a:rPr lang="en-US" sz="1100" u="none" cap="none" strike="noStrike">
                          <a:solidFill>
                            <a:srgbClr val="1B2A4A"/>
                          </a:solidFill>
                          <a:latin typeface="Calibri"/>
                          <a:ea typeface="Calibri"/>
                          <a:cs typeface="Calibri"/>
                          <a:sym typeface="Calibri"/>
                        </a:rPr>
                        <a:t>ISSUP</a:t>
                      </a:r>
                      <a:endParaRPr sz="1100" u="none" cap="none" strike="noStrike">
                        <a:latin typeface="Calibri"/>
                        <a:ea typeface="Calibri"/>
                        <a:cs typeface="Calibri"/>
                        <a:sym typeface="Calibri"/>
                      </a:endParaRPr>
                    </a:p>
                  </a:txBody>
                  <a:tcPr marT="45725" marB="45725" marR="91450" marL="91450" anchor="ctr">
                    <a:lnL cap="flat" cmpd="sng" w="9525">
                      <a:solidFill>
                        <a:srgbClr val="D8D0AE"/>
                      </a:solidFill>
                      <a:prstDash val="solid"/>
                      <a:round/>
                      <a:headEnd len="sm" w="sm" type="none"/>
                      <a:tailEnd len="sm" w="sm" type="none"/>
                    </a:lnL>
                    <a:lnR cap="flat" cmpd="sng" w="9525">
                      <a:solidFill>
                        <a:srgbClr val="D8D0AE"/>
                      </a:solidFill>
                      <a:prstDash val="solid"/>
                      <a:round/>
                      <a:headEnd len="sm" w="sm" type="none"/>
                      <a:tailEnd len="sm" w="sm" type="none"/>
                    </a:lnR>
                    <a:lnT cap="flat" cmpd="sng" w="9525">
                      <a:solidFill>
                        <a:srgbClr val="D8D0AE"/>
                      </a:solidFill>
                      <a:prstDash val="solid"/>
                      <a:round/>
                      <a:headEnd len="sm" w="sm" type="none"/>
                      <a:tailEnd len="sm" w="sm" type="none"/>
                    </a:lnT>
                    <a:lnB cap="flat" cmpd="sng" w="9525">
                      <a:solidFill>
                        <a:srgbClr val="D8D0AE"/>
                      </a:solidFill>
                      <a:prstDash val="solid"/>
                      <a:round/>
                      <a:headEnd len="sm" w="sm" type="none"/>
                      <a:tailEnd len="sm" w="sm" type="none"/>
                    </a:lnB>
                  </a:tcPr>
                </a:tc>
                <a:tc>
                  <a:txBody>
                    <a:bodyPr/>
                    <a:lstStyle/>
                    <a:p>
                      <a:pPr indent="0" lvl="0" marL="0" marR="0" rtl="0" algn="l">
                        <a:spcBef>
                          <a:spcPts val="0"/>
                        </a:spcBef>
                        <a:spcAft>
                          <a:spcPts val="0"/>
                        </a:spcAft>
                        <a:buClr>
                          <a:srgbClr val="1B2A4A"/>
                        </a:buClr>
                        <a:buSzPts val="1100"/>
                        <a:buFont typeface="Calibri"/>
                        <a:buNone/>
                      </a:pPr>
                      <a:r>
                        <a:rPr lang="en-US" sz="1100" u="none" cap="none" strike="noStrike">
                          <a:solidFill>
                            <a:srgbClr val="1B2A4A"/>
                          </a:solidFill>
                          <a:latin typeface="Calibri"/>
                          <a:ea typeface="Calibri"/>
                          <a:cs typeface="Calibri"/>
                          <a:sym typeface="Calibri"/>
                        </a:rPr>
                        <a:t>Câu trả lời có được hỗ trợ?</a:t>
                      </a:r>
                      <a:endParaRPr sz="1100" u="none" cap="none" strike="noStrike">
                        <a:latin typeface="Calibri"/>
                        <a:ea typeface="Calibri"/>
                        <a:cs typeface="Calibri"/>
                        <a:sym typeface="Calibri"/>
                      </a:endParaRPr>
                    </a:p>
                  </a:txBody>
                  <a:tcPr marT="45725" marB="45725" marR="91450" marL="91450" anchor="ctr">
                    <a:lnL cap="flat" cmpd="sng" w="9525">
                      <a:solidFill>
                        <a:srgbClr val="D8D0AE"/>
                      </a:solidFill>
                      <a:prstDash val="solid"/>
                      <a:round/>
                      <a:headEnd len="sm" w="sm" type="none"/>
                      <a:tailEnd len="sm" w="sm" type="none"/>
                    </a:lnL>
                    <a:lnR cap="flat" cmpd="sng" w="9525">
                      <a:solidFill>
                        <a:srgbClr val="D8D0AE"/>
                      </a:solidFill>
                      <a:prstDash val="solid"/>
                      <a:round/>
                      <a:headEnd len="sm" w="sm" type="none"/>
                      <a:tailEnd len="sm" w="sm" type="none"/>
                    </a:lnR>
                    <a:lnT cap="flat" cmpd="sng" w="9525">
                      <a:solidFill>
                        <a:srgbClr val="D8D0AE"/>
                      </a:solidFill>
                      <a:prstDash val="solid"/>
                      <a:round/>
                      <a:headEnd len="sm" w="sm" type="none"/>
                      <a:tailEnd len="sm" w="sm" type="none"/>
                    </a:lnT>
                    <a:lnB cap="flat" cmpd="sng" w="9525">
                      <a:solidFill>
                        <a:srgbClr val="D8D0AE"/>
                      </a:solidFill>
                      <a:prstDash val="solid"/>
                      <a:round/>
                      <a:headEnd len="sm" w="sm" type="none"/>
                      <a:tailEnd len="sm" w="sm" type="none"/>
                    </a:lnB>
                  </a:tcPr>
                </a:tc>
                <a:tc>
                  <a:txBody>
                    <a:bodyPr/>
                    <a:lstStyle/>
                    <a:p>
                      <a:pPr indent="0" lvl="0" marL="0" marR="0" rtl="0" algn="l">
                        <a:spcBef>
                          <a:spcPts val="0"/>
                        </a:spcBef>
                        <a:spcAft>
                          <a:spcPts val="0"/>
                        </a:spcAft>
                        <a:buClr>
                          <a:srgbClr val="1B2A4A"/>
                        </a:buClr>
                        <a:buSzPts val="1100"/>
                        <a:buFont typeface="Calibri"/>
                        <a:buNone/>
                      </a:pPr>
                      <a:r>
                        <a:rPr lang="en-US" sz="1100" u="none" cap="none" strike="noStrike">
                          <a:solidFill>
                            <a:srgbClr val="1B2A4A"/>
                          </a:solidFill>
                          <a:latin typeface="Calibri"/>
                          <a:ea typeface="Calibri"/>
                          <a:cs typeface="Calibri"/>
                          <a:sym typeface="Calibri"/>
                        </a:rPr>
                        <a:t>Fully / Partially / No</a:t>
                      </a:r>
                      <a:endParaRPr sz="1100" u="none" cap="none" strike="noStrike">
                        <a:latin typeface="Calibri"/>
                        <a:ea typeface="Calibri"/>
                        <a:cs typeface="Calibri"/>
                        <a:sym typeface="Calibri"/>
                      </a:endParaRPr>
                    </a:p>
                  </a:txBody>
                  <a:tcPr marT="45725" marB="45725" marR="91450" marL="91450" anchor="ctr">
                    <a:lnL cap="flat" cmpd="sng" w="9525">
                      <a:solidFill>
                        <a:srgbClr val="D8D0AE"/>
                      </a:solidFill>
                      <a:prstDash val="solid"/>
                      <a:round/>
                      <a:headEnd len="sm" w="sm" type="none"/>
                      <a:tailEnd len="sm" w="sm" type="none"/>
                    </a:lnL>
                    <a:lnR cap="flat" cmpd="sng" w="9525">
                      <a:solidFill>
                        <a:srgbClr val="D8D0AE"/>
                      </a:solidFill>
                      <a:prstDash val="solid"/>
                      <a:round/>
                      <a:headEnd len="sm" w="sm" type="none"/>
                      <a:tailEnd len="sm" w="sm" type="none"/>
                    </a:lnR>
                    <a:lnT cap="flat" cmpd="sng" w="9525">
                      <a:solidFill>
                        <a:srgbClr val="D8D0AE"/>
                      </a:solidFill>
                      <a:prstDash val="solid"/>
                      <a:round/>
                      <a:headEnd len="sm" w="sm" type="none"/>
                      <a:tailEnd len="sm" w="sm" type="none"/>
                    </a:lnT>
                    <a:lnB cap="flat" cmpd="sng" w="9525">
                      <a:solidFill>
                        <a:srgbClr val="D8D0AE"/>
                      </a:solidFill>
                      <a:prstDash val="solid"/>
                      <a:round/>
                      <a:headEnd len="sm" w="sm" type="none"/>
                      <a:tailEnd len="sm" w="sm" type="none"/>
                    </a:lnB>
                  </a:tcPr>
                </a:tc>
              </a:tr>
              <a:tr h="411475">
                <a:tc>
                  <a:txBody>
                    <a:bodyPr/>
                    <a:lstStyle/>
                    <a:p>
                      <a:pPr indent="0" lvl="0" marL="0" marR="0" rtl="0" algn="l">
                        <a:spcBef>
                          <a:spcPts val="0"/>
                        </a:spcBef>
                        <a:spcAft>
                          <a:spcPts val="0"/>
                        </a:spcAft>
                        <a:buClr>
                          <a:srgbClr val="1B2A4A"/>
                        </a:buClr>
                        <a:buSzPts val="1100"/>
                        <a:buFont typeface="Calibri"/>
                        <a:buNone/>
                      </a:pPr>
                      <a:r>
                        <a:rPr lang="en-US" sz="1100" u="none" cap="none" strike="noStrike">
                          <a:solidFill>
                            <a:srgbClr val="1B2A4A"/>
                          </a:solidFill>
                          <a:latin typeface="Calibri"/>
                          <a:ea typeface="Calibri"/>
                          <a:cs typeface="Calibri"/>
                          <a:sym typeface="Calibri"/>
                        </a:rPr>
                        <a:t>ISUSE</a:t>
                      </a:r>
                      <a:endParaRPr sz="1100" u="none" cap="none" strike="noStrike">
                        <a:latin typeface="Calibri"/>
                        <a:ea typeface="Calibri"/>
                        <a:cs typeface="Calibri"/>
                        <a:sym typeface="Calibri"/>
                      </a:endParaRPr>
                    </a:p>
                  </a:txBody>
                  <a:tcPr marT="45725" marB="45725" marR="91450" marL="91450" anchor="ctr">
                    <a:lnL cap="flat" cmpd="sng" w="9525">
                      <a:solidFill>
                        <a:srgbClr val="D8D0AE"/>
                      </a:solidFill>
                      <a:prstDash val="solid"/>
                      <a:round/>
                      <a:headEnd len="sm" w="sm" type="none"/>
                      <a:tailEnd len="sm" w="sm" type="none"/>
                    </a:lnL>
                    <a:lnR cap="flat" cmpd="sng" w="9525">
                      <a:solidFill>
                        <a:srgbClr val="D8D0AE"/>
                      </a:solidFill>
                      <a:prstDash val="solid"/>
                      <a:round/>
                      <a:headEnd len="sm" w="sm" type="none"/>
                      <a:tailEnd len="sm" w="sm" type="none"/>
                    </a:lnR>
                    <a:lnT cap="flat" cmpd="sng" w="9525">
                      <a:solidFill>
                        <a:srgbClr val="D8D0AE"/>
                      </a:solidFill>
                      <a:prstDash val="solid"/>
                      <a:round/>
                      <a:headEnd len="sm" w="sm" type="none"/>
                      <a:tailEnd len="sm" w="sm" type="none"/>
                    </a:lnT>
                    <a:lnB cap="flat" cmpd="sng" w="9525">
                      <a:solidFill>
                        <a:srgbClr val="D8D0AE"/>
                      </a:solidFill>
                      <a:prstDash val="solid"/>
                      <a:round/>
                      <a:headEnd len="sm" w="sm" type="none"/>
                      <a:tailEnd len="sm" w="sm" type="none"/>
                    </a:lnB>
                  </a:tcPr>
                </a:tc>
                <a:tc>
                  <a:txBody>
                    <a:bodyPr/>
                    <a:lstStyle/>
                    <a:p>
                      <a:pPr indent="0" lvl="0" marL="0" marR="0" rtl="0" algn="l">
                        <a:spcBef>
                          <a:spcPts val="0"/>
                        </a:spcBef>
                        <a:spcAft>
                          <a:spcPts val="0"/>
                        </a:spcAft>
                        <a:buClr>
                          <a:srgbClr val="1B2A4A"/>
                        </a:buClr>
                        <a:buSzPts val="1100"/>
                        <a:buFont typeface="Calibri"/>
                        <a:buNone/>
                      </a:pPr>
                      <a:r>
                        <a:rPr lang="en-US" sz="1100" u="none" cap="none" strike="noStrike">
                          <a:solidFill>
                            <a:srgbClr val="1B2A4A"/>
                          </a:solidFill>
                          <a:latin typeface="Calibri"/>
                          <a:ea typeface="Calibri"/>
                          <a:cs typeface="Calibri"/>
                          <a:sym typeface="Calibri"/>
                        </a:rPr>
                        <a:t>Câu trả lời có hữu ích?</a:t>
                      </a:r>
                      <a:endParaRPr sz="1100" u="none" cap="none" strike="noStrike">
                        <a:latin typeface="Calibri"/>
                        <a:ea typeface="Calibri"/>
                        <a:cs typeface="Calibri"/>
                        <a:sym typeface="Calibri"/>
                      </a:endParaRPr>
                    </a:p>
                  </a:txBody>
                  <a:tcPr marT="45725" marB="45725" marR="91450" marL="91450" anchor="ctr">
                    <a:lnL cap="flat" cmpd="sng" w="9525">
                      <a:solidFill>
                        <a:srgbClr val="D8D0AE"/>
                      </a:solidFill>
                      <a:prstDash val="solid"/>
                      <a:round/>
                      <a:headEnd len="sm" w="sm" type="none"/>
                      <a:tailEnd len="sm" w="sm" type="none"/>
                    </a:lnL>
                    <a:lnR cap="flat" cmpd="sng" w="9525">
                      <a:solidFill>
                        <a:srgbClr val="D8D0AE"/>
                      </a:solidFill>
                      <a:prstDash val="solid"/>
                      <a:round/>
                      <a:headEnd len="sm" w="sm" type="none"/>
                      <a:tailEnd len="sm" w="sm" type="none"/>
                    </a:lnR>
                    <a:lnT cap="flat" cmpd="sng" w="9525">
                      <a:solidFill>
                        <a:srgbClr val="D8D0AE"/>
                      </a:solidFill>
                      <a:prstDash val="solid"/>
                      <a:round/>
                      <a:headEnd len="sm" w="sm" type="none"/>
                      <a:tailEnd len="sm" w="sm" type="none"/>
                    </a:lnT>
                    <a:lnB cap="flat" cmpd="sng" w="9525">
                      <a:solidFill>
                        <a:srgbClr val="D8D0AE"/>
                      </a:solidFill>
                      <a:prstDash val="solid"/>
                      <a:round/>
                      <a:headEnd len="sm" w="sm" type="none"/>
                      <a:tailEnd len="sm" w="sm" type="none"/>
                    </a:lnB>
                  </a:tcPr>
                </a:tc>
                <a:tc>
                  <a:txBody>
                    <a:bodyPr/>
                    <a:lstStyle/>
                    <a:p>
                      <a:pPr indent="0" lvl="0" marL="0" marR="0" rtl="0" algn="l">
                        <a:spcBef>
                          <a:spcPts val="0"/>
                        </a:spcBef>
                        <a:spcAft>
                          <a:spcPts val="0"/>
                        </a:spcAft>
                        <a:buClr>
                          <a:srgbClr val="1B2A4A"/>
                        </a:buClr>
                        <a:buSzPts val="1100"/>
                        <a:buFont typeface="Calibri"/>
                        <a:buNone/>
                      </a:pPr>
                      <a:r>
                        <a:rPr lang="en-US" sz="1100" u="none" cap="none" strike="noStrike">
                          <a:solidFill>
                            <a:srgbClr val="1B2A4A"/>
                          </a:solidFill>
                          <a:latin typeface="Calibri"/>
                          <a:ea typeface="Calibri"/>
                          <a:cs typeface="Calibri"/>
                          <a:sym typeface="Calibri"/>
                        </a:rPr>
                        <a:t>Useful / Partially / Not</a:t>
                      </a:r>
                      <a:endParaRPr sz="1100" u="none" cap="none" strike="noStrike">
                        <a:latin typeface="Calibri"/>
                        <a:ea typeface="Calibri"/>
                        <a:cs typeface="Calibri"/>
                        <a:sym typeface="Calibri"/>
                      </a:endParaRPr>
                    </a:p>
                  </a:txBody>
                  <a:tcPr marT="45725" marB="45725" marR="91450" marL="91450" anchor="ctr">
                    <a:lnL cap="flat" cmpd="sng" w="9525">
                      <a:solidFill>
                        <a:srgbClr val="D8D0AE"/>
                      </a:solidFill>
                      <a:prstDash val="solid"/>
                      <a:round/>
                      <a:headEnd len="sm" w="sm" type="none"/>
                      <a:tailEnd len="sm" w="sm" type="none"/>
                    </a:lnL>
                    <a:lnR cap="flat" cmpd="sng" w="9525">
                      <a:solidFill>
                        <a:srgbClr val="D8D0AE"/>
                      </a:solidFill>
                      <a:prstDash val="solid"/>
                      <a:round/>
                      <a:headEnd len="sm" w="sm" type="none"/>
                      <a:tailEnd len="sm" w="sm" type="none"/>
                    </a:lnR>
                    <a:lnT cap="flat" cmpd="sng" w="9525">
                      <a:solidFill>
                        <a:srgbClr val="D8D0AE"/>
                      </a:solidFill>
                      <a:prstDash val="solid"/>
                      <a:round/>
                      <a:headEnd len="sm" w="sm" type="none"/>
                      <a:tailEnd len="sm" w="sm" type="none"/>
                    </a:lnT>
                    <a:lnB cap="flat" cmpd="sng" w="9525">
                      <a:solidFill>
                        <a:srgbClr val="D8D0AE"/>
                      </a:solidFill>
                      <a:prstDash val="solid"/>
                      <a:round/>
                      <a:headEnd len="sm" w="sm" type="none"/>
                      <a:tailEnd len="sm" w="sm" type="none"/>
                    </a:lnB>
                  </a:tcPr>
                </a:tc>
              </a:tr>
            </a:tbl>
          </a:graphicData>
        </a:graphic>
      </p:graphicFrame>
      <p:sp>
        <p:nvSpPr>
          <p:cNvPr id="104" name="Google Shape;104;p6"/>
          <p:cNvSpPr txBox="1"/>
          <p:nvPr/>
        </p:nvSpPr>
        <p:spPr>
          <a:xfrm>
            <a:off x="5806440" y="4919472"/>
            <a:ext cx="56692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5"/>
              </a:buClr>
              <a:buSzPts val="1050"/>
              <a:buFont typeface="Calibri"/>
              <a:buNone/>
            </a:pPr>
            <a:r>
              <a:rPr b="0" i="1" lang="en-US" sz="1050" u="none" cap="none" strike="noStrike">
                <a:solidFill>
                  <a:srgbClr val="5B6B85"/>
                </a:solidFill>
                <a:latin typeface="Calibri"/>
                <a:ea typeface="Calibri"/>
                <a:cs typeface="Calibri"/>
                <a:sym typeface="Calibri"/>
              </a:rPr>
              <a:t>Bản gốc đòi hỏi fine-tune cả critic model lẫn generator để tự sinh các token này.</a:t>
            </a:r>
            <a:endParaRPr b="0" i="0" sz="1050" u="none" cap="none" strike="noStrike">
              <a:solidFill>
                <a:schemeClr val="dk1"/>
              </a:solidFill>
              <a:latin typeface="Calibri"/>
              <a:ea typeface="Calibri"/>
              <a:cs typeface="Calibri"/>
              <a:sym typeface="Calibri"/>
            </a:endParaRPr>
          </a:p>
        </p:txBody>
      </p:sp>
      <p:sp>
        <p:nvSpPr>
          <p:cNvPr id="105" name="Google Shape;105;p6"/>
          <p:cNvSpPr txBox="1"/>
          <p:nvPr/>
        </p:nvSpPr>
        <p:spPr>
          <a:xfrm>
            <a:off x="457200" y="6547104"/>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5"/>
              </a:buClr>
              <a:buSzPts val="900"/>
              <a:buFont typeface="Calibri"/>
              <a:buNone/>
            </a:pPr>
            <a:r>
              <a:rPr b="0" i="0" lang="en-US" sz="900" u="none" cap="none" strike="noStrike">
                <a:solidFill>
                  <a:srgbClr val="5B6B85"/>
                </a:solidFill>
                <a:latin typeface="Calibri"/>
                <a:ea typeface="Calibri"/>
                <a:cs typeface="Calibri"/>
                <a:sym typeface="Calibri"/>
              </a:rPr>
              <a:t>Self-RAG-Inspired Legal QA  ·  CS2308.CH203</a:t>
            </a:r>
            <a:endParaRPr b="0" i="0" sz="900" u="none" cap="none" strike="noStrike">
              <a:solidFill>
                <a:schemeClr val="dk1"/>
              </a:solidFill>
              <a:latin typeface="Calibri"/>
              <a:ea typeface="Calibri"/>
              <a:cs typeface="Calibri"/>
              <a:sym typeface="Calibri"/>
            </a:endParaRPr>
          </a:p>
        </p:txBody>
      </p:sp>
      <p:sp>
        <p:nvSpPr>
          <p:cNvPr id="106" name="Google Shape;106;p6"/>
          <p:cNvSpPr txBox="1"/>
          <p:nvPr/>
        </p:nvSpPr>
        <p:spPr>
          <a:xfrm>
            <a:off x="11274552" y="6547104"/>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B85"/>
              </a:buClr>
              <a:buSzPts val="900"/>
              <a:buFont typeface="Calibri"/>
              <a:buNone/>
            </a:pPr>
            <a:r>
              <a:rPr b="0" i="0" lang="en-US" sz="900" u="none" cap="none" strike="noStrike">
                <a:solidFill>
                  <a:srgbClr val="5B6B85"/>
                </a:solidFill>
                <a:latin typeface="Calibri"/>
                <a:ea typeface="Calibri"/>
                <a:cs typeface="Calibri"/>
                <a:sym typeface="Calibri"/>
              </a:rPr>
              <a:t>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1" name="Shape 111"/>
        <p:cNvGrpSpPr/>
        <p:nvPr/>
      </p:nvGrpSpPr>
      <p:grpSpPr>
        <a:xfrm>
          <a:off x="0" y="0"/>
          <a:ext cx="0" cy="0"/>
          <a:chOff x="0" y="0"/>
          <a:chExt cx="0" cy="0"/>
        </a:xfrm>
      </p:grpSpPr>
      <p:sp>
        <p:nvSpPr>
          <p:cNvPr id="112" name="Google Shape;112;p7"/>
          <p:cNvSpPr txBox="1"/>
          <p:nvPr/>
        </p:nvSpPr>
        <p:spPr>
          <a:xfrm>
            <a:off x="457200" y="320040"/>
            <a:ext cx="105156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1200"/>
              <a:buFont typeface="Calibri"/>
              <a:buNone/>
            </a:pPr>
            <a:r>
              <a:rPr b="1" i="0" lang="en-US" sz="1200" u="none" cap="none" strike="noStrike">
                <a:solidFill>
                  <a:srgbClr val="C9A227"/>
                </a:solidFill>
                <a:latin typeface="Calibri"/>
                <a:ea typeface="Calibri"/>
                <a:cs typeface="Calibri"/>
                <a:sym typeface="Calibri"/>
              </a:rPr>
              <a:t>03 · BÀI TOÁN CỦA ĐỒ ÁN</a:t>
            </a:r>
            <a:endParaRPr b="0" i="0" sz="1200" u="none" cap="none" strike="noStrike">
              <a:solidFill>
                <a:schemeClr val="dk1"/>
              </a:solidFill>
              <a:latin typeface="Calibri"/>
              <a:ea typeface="Calibri"/>
              <a:cs typeface="Calibri"/>
              <a:sym typeface="Calibri"/>
            </a:endParaRPr>
          </a:p>
        </p:txBody>
      </p:sp>
      <p:sp>
        <p:nvSpPr>
          <p:cNvPr id="113" name="Google Shape;113;p7"/>
          <p:cNvSpPr txBox="1"/>
          <p:nvPr/>
        </p:nvSpPr>
        <p:spPr>
          <a:xfrm>
            <a:off x="457200" y="566928"/>
            <a:ext cx="1078992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A"/>
              </a:buClr>
              <a:buSzPts val="2800"/>
              <a:buFont typeface="Times New Roman"/>
              <a:buNone/>
            </a:pPr>
            <a:r>
              <a:rPr b="1" i="0" lang="en-US" sz="2800" u="none" cap="none" strike="noStrike">
                <a:solidFill>
                  <a:srgbClr val="1B2A4A"/>
                </a:solidFill>
                <a:latin typeface="Times New Roman"/>
                <a:ea typeface="Times New Roman"/>
                <a:cs typeface="Times New Roman"/>
                <a:sym typeface="Times New Roman"/>
              </a:rPr>
              <a:t>Vấn đề nghiên cứu &amp; đóng góp</a:t>
            </a:r>
            <a:endParaRPr b="0" i="0" sz="2800" u="none" cap="none" strike="noStrike">
              <a:solidFill>
                <a:schemeClr val="dk1"/>
              </a:solidFill>
              <a:latin typeface="Calibri"/>
              <a:ea typeface="Calibri"/>
              <a:cs typeface="Calibri"/>
              <a:sym typeface="Calibri"/>
            </a:endParaRPr>
          </a:p>
        </p:txBody>
      </p:sp>
      <p:sp>
        <p:nvSpPr>
          <p:cNvPr id="114" name="Google Shape;114;p7"/>
          <p:cNvSpPr/>
          <p:nvPr/>
        </p:nvSpPr>
        <p:spPr>
          <a:xfrm>
            <a:off x="457200" y="1508760"/>
            <a:ext cx="10817352" cy="1600200"/>
          </a:xfrm>
          <a:prstGeom prst="roundRect">
            <a:avLst>
              <a:gd fmla="val 4571" name="adj"/>
            </a:avLst>
          </a:prstGeom>
          <a:solidFill>
            <a:srgbClr val="F5EFD9"/>
          </a:solidFill>
          <a:ln>
            <a:noFill/>
          </a:ln>
          <a:effectLst>
            <a:outerShdw blurRad="76200" rotWithShape="0" algn="bl" dir="5400000" dist="25400">
              <a:srgbClr val="1B2A4A">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7"/>
          <p:cNvSpPr txBox="1"/>
          <p:nvPr/>
        </p:nvSpPr>
        <p:spPr>
          <a:xfrm>
            <a:off x="777240" y="1691640"/>
            <a:ext cx="10195560" cy="12801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1500"/>
              <a:buFont typeface="Times New Roman"/>
              <a:buNone/>
            </a:pPr>
            <a:r>
              <a:rPr b="0" i="1" lang="en-US" sz="1500" u="none" cap="none" strike="noStrike">
                <a:solidFill>
                  <a:srgbClr val="1B2A4A"/>
                </a:solidFill>
                <a:latin typeface="Times New Roman"/>
                <a:ea typeface="Times New Roman"/>
                <a:cs typeface="Times New Roman"/>
                <a:sym typeface="Times New Roman"/>
              </a:rPr>
              <a:t>“Trên miền văn bản pháp luật tiếng Việt, việc thêm cơ chế tự phản tư (quyết định retrieve, đánh giá liên quan, đánh giá hỗ trợ, đánh giá hữu ích) vào RAG có cải thiện độ chính xác truy xuất và chất lượng câu trả lời so với RAG truy xuất cố định hay không — khi các tín hiệu phản tư được mô phỏng bằng prompting thay vì học qua fine-tune?”</a:t>
            </a:r>
            <a:endParaRPr b="0" i="0" sz="1500" u="none" cap="none" strike="noStrike">
              <a:solidFill>
                <a:schemeClr val="dk1"/>
              </a:solidFill>
              <a:latin typeface="Calibri"/>
              <a:ea typeface="Calibri"/>
              <a:cs typeface="Calibri"/>
              <a:sym typeface="Calibri"/>
            </a:endParaRPr>
          </a:p>
        </p:txBody>
      </p:sp>
      <p:sp>
        <p:nvSpPr>
          <p:cNvPr id="116" name="Google Shape;116;p7"/>
          <p:cNvSpPr txBox="1"/>
          <p:nvPr/>
        </p:nvSpPr>
        <p:spPr>
          <a:xfrm>
            <a:off x="457200" y="3337560"/>
            <a:ext cx="51206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5A80"/>
              </a:buClr>
              <a:buSzPts val="1400"/>
              <a:buFont typeface="Calibri"/>
              <a:buNone/>
            </a:pPr>
            <a:r>
              <a:rPr b="1" i="0" lang="en-US" sz="1400" u="none" cap="none" strike="noStrike">
                <a:solidFill>
                  <a:srgbClr val="3D5A80"/>
                </a:solidFill>
                <a:latin typeface="Calibri"/>
                <a:ea typeface="Calibri"/>
                <a:cs typeface="Calibri"/>
                <a:sym typeface="Calibri"/>
              </a:rPr>
              <a:t>Ràng buộc thực tế</a:t>
            </a:r>
            <a:endParaRPr b="0" i="0" sz="1400" u="none" cap="none" strike="noStrike">
              <a:solidFill>
                <a:schemeClr val="dk1"/>
              </a:solidFill>
              <a:latin typeface="Calibri"/>
              <a:ea typeface="Calibri"/>
              <a:cs typeface="Calibri"/>
              <a:sym typeface="Calibri"/>
            </a:endParaRPr>
          </a:p>
        </p:txBody>
      </p:sp>
      <p:sp>
        <p:nvSpPr>
          <p:cNvPr id="117" name="Google Shape;117;p7"/>
          <p:cNvSpPr txBox="1"/>
          <p:nvPr/>
        </p:nvSpPr>
        <p:spPr>
          <a:xfrm>
            <a:off x="457200" y="3749040"/>
            <a:ext cx="5120640" cy="2286000"/>
          </a:xfrm>
          <a:prstGeom prst="rect">
            <a:avLst/>
          </a:prstGeom>
          <a:noFill/>
          <a:ln>
            <a:noFill/>
          </a:ln>
        </p:spPr>
        <p:txBody>
          <a:bodyPr anchorCtr="0" anchor="t" bIns="0" lIns="0" spcFirstLastPara="1" rIns="0" wrap="square" tIns="0">
            <a:noAutofit/>
          </a:bodyPr>
          <a:lstStyle/>
          <a:p>
            <a:pPr indent="-342900" lvl="0" marL="342900" marR="0" rtl="0" algn="l">
              <a:lnSpc>
                <a:spcPct val="108000"/>
              </a:lnSpc>
              <a:spcBef>
                <a:spcPts val="0"/>
              </a:spcBef>
              <a:spcAft>
                <a:spcPts val="0"/>
              </a:spcAft>
              <a:buClr>
                <a:srgbClr val="1B2A4A"/>
              </a:buClr>
              <a:buSzPts val="1300"/>
              <a:buFont typeface="Calibri"/>
              <a:buChar char="•"/>
            </a:pPr>
            <a:r>
              <a:rPr b="0" i="0" lang="en-US" sz="1300" u="none" cap="none" strike="noStrike">
                <a:solidFill>
                  <a:srgbClr val="1B2A4A"/>
                </a:solidFill>
                <a:latin typeface="Calibri"/>
                <a:ea typeface="Calibri"/>
                <a:cs typeface="Calibri"/>
                <a:sym typeface="Calibri"/>
              </a:rPr>
              <a:t>Colab free: không đủ ngân sách GPU/thời gian để fine-tune critic + generator như paper gốc</a:t>
            </a:r>
            <a:endParaRPr b="0" i="0" sz="1300" u="none" cap="none" strike="noStrike">
              <a:solidFill>
                <a:schemeClr val="dk1"/>
              </a:solidFill>
              <a:latin typeface="Calibri"/>
              <a:ea typeface="Calibri"/>
              <a:cs typeface="Calibri"/>
              <a:sym typeface="Calibri"/>
            </a:endParaRPr>
          </a:p>
          <a:p>
            <a:pPr indent="-342900" lvl="0" marL="342900" marR="0" rtl="0" algn="l">
              <a:lnSpc>
                <a:spcPct val="108000"/>
              </a:lnSpc>
              <a:spcBef>
                <a:spcPts val="1000"/>
              </a:spcBef>
              <a:spcAft>
                <a:spcPts val="0"/>
              </a:spcAft>
              <a:buClr>
                <a:srgbClr val="1B2A4A"/>
              </a:buClr>
              <a:buSzPts val="1300"/>
              <a:buFont typeface="Calibri"/>
              <a:buChar char="•"/>
            </a:pPr>
            <a:r>
              <a:rPr b="0" i="0" lang="en-US" sz="1300" u="none" cap="none" strike="noStrike">
                <a:solidFill>
                  <a:srgbClr val="1B2A4A"/>
                </a:solidFill>
                <a:latin typeface="Calibri"/>
                <a:ea typeface="Calibri"/>
                <a:cs typeface="Calibri"/>
                <a:sym typeface="Calibri"/>
              </a:rPr>
              <a:t>Giải pháp: mô phỏng 4 tín hiệu phản tư hoàn toàn bằng prompting có cấu trúc (JSON) trên một LLM instruction-tuned cố định (Groq API)</a:t>
            </a:r>
            <a:endParaRPr b="0" i="0" sz="1300" u="none" cap="none" strike="noStrike">
              <a:solidFill>
                <a:schemeClr val="dk1"/>
              </a:solidFill>
              <a:latin typeface="Calibri"/>
              <a:ea typeface="Calibri"/>
              <a:cs typeface="Calibri"/>
              <a:sym typeface="Calibri"/>
            </a:endParaRPr>
          </a:p>
        </p:txBody>
      </p:sp>
      <p:sp>
        <p:nvSpPr>
          <p:cNvPr id="118" name="Google Shape;118;p7"/>
          <p:cNvSpPr txBox="1"/>
          <p:nvPr/>
        </p:nvSpPr>
        <p:spPr>
          <a:xfrm>
            <a:off x="5852160" y="3337560"/>
            <a:ext cx="53949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5A80"/>
              </a:buClr>
              <a:buSzPts val="1400"/>
              <a:buFont typeface="Calibri"/>
              <a:buNone/>
            </a:pPr>
            <a:r>
              <a:rPr b="1" i="0" lang="en-US" sz="1400" u="none" cap="none" strike="noStrike">
                <a:solidFill>
                  <a:srgbClr val="3D5A80"/>
                </a:solidFill>
                <a:latin typeface="Calibri"/>
                <a:ea typeface="Calibri"/>
                <a:cs typeface="Calibri"/>
                <a:sym typeface="Calibri"/>
              </a:rPr>
              <a:t>Đóng góp chính</a:t>
            </a:r>
            <a:endParaRPr b="0" i="0" sz="1400" u="none" cap="none" strike="noStrike">
              <a:solidFill>
                <a:schemeClr val="dk1"/>
              </a:solidFill>
              <a:latin typeface="Calibri"/>
              <a:ea typeface="Calibri"/>
              <a:cs typeface="Calibri"/>
              <a:sym typeface="Calibri"/>
            </a:endParaRPr>
          </a:p>
        </p:txBody>
      </p:sp>
      <p:sp>
        <p:nvSpPr>
          <p:cNvPr id="119" name="Google Shape;119;p7"/>
          <p:cNvSpPr txBox="1"/>
          <p:nvPr/>
        </p:nvSpPr>
        <p:spPr>
          <a:xfrm>
            <a:off x="5852160" y="3749040"/>
            <a:ext cx="5394960" cy="2743200"/>
          </a:xfrm>
          <a:prstGeom prst="rect">
            <a:avLst/>
          </a:prstGeom>
          <a:noFill/>
          <a:ln>
            <a:noFill/>
          </a:ln>
        </p:spPr>
        <p:txBody>
          <a:bodyPr anchorCtr="0" anchor="t" bIns="0" lIns="0" spcFirstLastPara="1" rIns="0" wrap="square" tIns="0">
            <a:noAutofit/>
          </a:bodyPr>
          <a:lstStyle/>
          <a:p>
            <a:pPr indent="-342900" lvl="0" marL="342900" marR="0" rtl="0" algn="l">
              <a:lnSpc>
                <a:spcPct val="108000"/>
              </a:lnSpc>
              <a:spcBef>
                <a:spcPts val="0"/>
              </a:spcBef>
              <a:spcAft>
                <a:spcPts val="0"/>
              </a:spcAft>
              <a:buClr>
                <a:srgbClr val="1B2A4A"/>
              </a:buClr>
              <a:buSzPts val="1250"/>
              <a:buFont typeface="Calibri"/>
              <a:buChar char="•"/>
            </a:pPr>
            <a:r>
              <a:rPr b="0" i="0" lang="en-US" sz="1250" u="none" cap="none" strike="noStrike">
                <a:solidFill>
                  <a:srgbClr val="1B2A4A"/>
                </a:solidFill>
                <a:latin typeface="Calibri"/>
                <a:ea typeface="Calibri"/>
                <a:cs typeface="Calibri"/>
                <a:sym typeface="Calibri"/>
              </a:rPr>
              <a:t>Tái tạo 4 tín hiệu phản tư chỉ-bằng-prompting, không tinh chỉnh, hoạt động được</a:t>
            </a:r>
            <a:endParaRPr b="0" i="0" sz="1250" u="none" cap="none" strike="noStrike">
              <a:solidFill>
                <a:schemeClr val="dk1"/>
              </a:solidFill>
              <a:latin typeface="Calibri"/>
              <a:ea typeface="Calibri"/>
              <a:cs typeface="Calibri"/>
              <a:sym typeface="Calibri"/>
            </a:endParaRPr>
          </a:p>
          <a:p>
            <a:pPr indent="-342900" lvl="0" marL="342900" marR="0" rtl="0" algn="l">
              <a:lnSpc>
                <a:spcPct val="108000"/>
              </a:lnSpc>
              <a:spcBef>
                <a:spcPts val="800"/>
              </a:spcBef>
              <a:spcAft>
                <a:spcPts val="0"/>
              </a:spcAft>
              <a:buClr>
                <a:srgbClr val="1B2A4A"/>
              </a:buClr>
              <a:buSzPts val="1250"/>
              <a:buFont typeface="Calibri"/>
              <a:buChar char="•"/>
            </a:pPr>
            <a:r>
              <a:rPr b="0" i="0" lang="en-US" sz="1250" u="none" cap="none" strike="noStrike">
                <a:solidFill>
                  <a:srgbClr val="1B2A4A"/>
                </a:solidFill>
                <a:latin typeface="Calibri"/>
                <a:ea typeface="Calibri"/>
                <a:cs typeface="Calibri"/>
                <a:sym typeface="Calibri"/>
              </a:rPr>
              <a:t>So sánh định lượng trên corpus pháp luật tiếng Việt thật, mô hình chưa từng thấy</a:t>
            </a:r>
            <a:endParaRPr b="0" i="0" sz="1250" u="none" cap="none" strike="noStrike">
              <a:solidFill>
                <a:schemeClr val="dk1"/>
              </a:solidFill>
              <a:latin typeface="Calibri"/>
              <a:ea typeface="Calibri"/>
              <a:cs typeface="Calibri"/>
              <a:sym typeface="Calibri"/>
            </a:endParaRPr>
          </a:p>
          <a:p>
            <a:pPr indent="-342900" lvl="0" marL="342900" marR="0" rtl="0" algn="l">
              <a:lnSpc>
                <a:spcPct val="108000"/>
              </a:lnSpc>
              <a:spcBef>
                <a:spcPts val="800"/>
              </a:spcBef>
              <a:spcAft>
                <a:spcPts val="0"/>
              </a:spcAft>
              <a:buClr>
                <a:srgbClr val="1B2A4A"/>
              </a:buClr>
              <a:buSzPts val="1250"/>
              <a:buFont typeface="Calibri"/>
              <a:buChar char="•"/>
            </a:pPr>
            <a:r>
              <a:rPr b="0" i="0" lang="en-US" sz="1250" u="none" cap="none" strike="noStrike">
                <a:solidFill>
                  <a:srgbClr val="1B2A4A"/>
                </a:solidFill>
                <a:latin typeface="Calibri"/>
                <a:ea typeface="Calibri"/>
                <a:cs typeface="Calibri"/>
                <a:sym typeface="Calibri"/>
              </a:rPr>
              <a:t>Ablation tái hiện được, tách bạch tác động nhân quả của ISREL lên tính có-căn-cứ</a:t>
            </a:r>
            <a:endParaRPr b="0" i="0" sz="1250" u="none" cap="none" strike="noStrike">
              <a:solidFill>
                <a:schemeClr val="dk1"/>
              </a:solidFill>
              <a:latin typeface="Calibri"/>
              <a:ea typeface="Calibri"/>
              <a:cs typeface="Calibri"/>
              <a:sym typeface="Calibri"/>
            </a:endParaRPr>
          </a:p>
          <a:p>
            <a:pPr indent="-342900" lvl="0" marL="342900" marR="0" rtl="0" algn="l">
              <a:lnSpc>
                <a:spcPct val="108000"/>
              </a:lnSpc>
              <a:spcBef>
                <a:spcPts val="800"/>
              </a:spcBef>
              <a:spcAft>
                <a:spcPts val="0"/>
              </a:spcAft>
              <a:buClr>
                <a:srgbClr val="1B2A4A"/>
              </a:buClr>
              <a:buSzPts val="1250"/>
              <a:buFont typeface="Calibri"/>
              <a:buChar char="•"/>
            </a:pPr>
            <a:r>
              <a:rPr b="0" i="0" lang="en-US" sz="1250" u="none" cap="none" strike="noStrike">
                <a:solidFill>
                  <a:srgbClr val="1B2A4A"/>
                </a:solidFill>
                <a:latin typeface="Calibri"/>
                <a:ea typeface="Calibri"/>
                <a:cs typeface="Calibri"/>
                <a:sym typeface="Calibri"/>
              </a:rPr>
              <a:t>Trình bày trung thực các thất bại &amp; trở ngại kỹ thuật khi vận hành LLM-judge ở quy mô lớn trên hạ tầng miễn phí</a:t>
            </a:r>
            <a:endParaRPr b="0" i="0" sz="1250" u="none" cap="none" strike="noStrike">
              <a:solidFill>
                <a:schemeClr val="dk1"/>
              </a:solidFill>
              <a:latin typeface="Calibri"/>
              <a:ea typeface="Calibri"/>
              <a:cs typeface="Calibri"/>
              <a:sym typeface="Calibri"/>
            </a:endParaRPr>
          </a:p>
        </p:txBody>
      </p:sp>
      <p:sp>
        <p:nvSpPr>
          <p:cNvPr id="120" name="Google Shape;120;p7"/>
          <p:cNvSpPr txBox="1"/>
          <p:nvPr/>
        </p:nvSpPr>
        <p:spPr>
          <a:xfrm>
            <a:off x="457200" y="6547104"/>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5"/>
              </a:buClr>
              <a:buSzPts val="900"/>
              <a:buFont typeface="Calibri"/>
              <a:buNone/>
            </a:pPr>
            <a:r>
              <a:rPr b="0" i="0" lang="en-US" sz="900" u="none" cap="none" strike="noStrike">
                <a:solidFill>
                  <a:srgbClr val="5B6B85"/>
                </a:solidFill>
                <a:latin typeface="Calibri"/>
                <a:ea typeface="Calibri"/>
                <a:cs typeface="Calibri"/>
                <a:sym typeface="Calibri"/>
              </a:rPr>
              <a:t>Self-RAG-Inspired Legal QA  ·  CS2308.CH203</a:t>
            </a:r>
            <a:endParaRPr b="0" i="0" sz="900" u="none" cap="none" strike="noStrike">
              <a:solidFill>
                <a:schemeClr val="dk1"/>
              </a:solidFill>
              <a:latin typeface="Calibri"/>
              <a:ea typeface="Calibri"/>
              <a:cs typeface="Calibri"/>
              <a:sym typeface="Calibri"/>
            </a:endParaRPr>
          </a:p>
        </p:txBody>
      </p:sp>
      <p:sp>
        <p:nvSpPr>
          <p:cNvPr id="121" name="Google Shape;121;p7"/>
          <p:cNvSpPr txBox="1"/>
          <p:nvPr/>
        </p:nvSpPr>
        <p:spPr>
          <a:xfrm>
            <a:off x="11274552" y="6547104"/>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B85"/>
              </a:buClr>
              <a:buSzPts val="900"/>
              <a:buFont typeface="Calibri"/>
              <a:buNone/>
            </a:pPr>
            <a:r>
              <a:rPr b="0" i="0" lang="en-US" sz="900" u="none" cap="none" strike="noStrike">
                <a:solidFill>
                  <a:srgbClr val="5B6B85"/>
                </a:solidFill>
                <a:latin typeface="Calibri"/>
                <a:ea typeface="Calibri"/>
                <a:cs typeface="Calibri"/>
                <a:sym typeface="Calibri"/>
              </a:rPr>
              <a:t>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6" name="Shape 126"/>
        <p:cNvGrpSpPr/>
        <p:nvPr/>
      </p:nvGrpSpPr>
      <p:grpSpPr>
        <a:xfrm>
          <a:off x="0" y="0"/>
          <a:ext cx="0" cy="0"/>
          <a:chOff x="0" y="0"/>
          <a:chExt cx="0" cy="0"/>
        </a:xfrm>
      </p:grpSpPr>
      <p:sp>
        <p:nvSpPr>
          <p:cNvPr id="127" name="Google Shape;127;p8"/>
          <p:cNvSpPr txBox="1"/>
          <p:nvPr/>
        </p:nvSpPr>
        <p:spPr>
          <a:xfrm>
            <a:off x="457200" y="320040"/>
            <a:ext cx="105156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1200"/>
              <a:buFont typeface="Calibri"/>
              <a:buNone/>
            </a:pPr>
            <a:r>
              <a:rPr b="1" i="0" lang="en-US" sz="1200" u="none" cap="none" strike="noStrike">
                <a:solidFill>
                  <a:srgbClr val="C9A227"/>
                </a:solidFill>
                <a:latin typeface="Calibri"/>
                <a:ea typeface="Calibri"/>
                <a:cs typeface="Calibri"/>
                <a:sym typeface="Calibri"/>
              </a:rPr>
              <a:t>03 · KIẾN TRÚC ĐỒ ÁN</a:t>
            </a:r>
            <a:endParaRPr b="0" i="0" sz="1200" u="none" cap="none" strike="noStrike">
              <a:solidFill>
                <a:schemeClr val="dk1"/>
              </a:solidFill>
              <a:latin typeface="Calibri"/>
              <a:ea typeface="Calibri"/>
              <a:cs typeface="Calibri"/>
              <a:sym typeface="Calibri"/>
            </a:endParaRPr>
          </a:p>
        </p:txBody>
      </p:sp>
      <p:sp>
        <p:nvSpPr>
          <p:cNvPr id="128" name="Google Shape;128;p8"/>
          <p:cNvSpPr txBox="1"/>
          <p:nvPr/>
        </p:nvSpPr>
        <p:spPr>
          <a:xfrm>
            <a:off x="457200" y="566928"/>
            <a:ext cx="1078992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A"/>
              </a:buClr>
              <a:buSzPts val="2800"/>
              <a:buFont typeface="Times New Roman"/>
              <a:buNone/>
            </a:pPr>
            <a:r>
              <a:rPr b="1" i="0" lang="en-US" sz="2800" u="none" cap="none" strike="noStrike">
                <a:solidFill>
                  <a:srgbClr val="1B2A4A"/>
                </a:solidFill>
                <a:latin typeface="Times New Roman"/>
                <a:ea typeface="Times New Roman"/>
                <a:cs typeface="Times New Roman"/>
                <a:sym typeface="Times New Roman"/>
              </a:rPr>
              <a:t>Ba hệ thống được xây dựng và so sánh</a:t>
            </a:r>
            <a:endParaRPr b="0" i="0" sz="2800" u="none" cap="none" strike="noStrike">
              <a:solidFill>
                <a:schemeClr val="dk1"/>
              </a:solidFill>
              <a:latin typeface="Calibri"/>
              <a:ea typeface="Calibri"/>
              <a:cs typeface="Calibri"/>
              <a:sym typeface="Calibri"/>
            </a:endParaRPr>
          </a:p>
        </p:txBody>
      </p:sp>
      <p:sp>
        <p:nvSpPr>
          <p:cNvPr id="129" name="Google Shape;129;p8"/>
          <p:cNvSpPr/>
          <p:nvPr/>
        </p:nvSpPr>
        <p:spPr>
          <a:xfrm>
            <a:off x="457200" y="1554480"/>
            <a:ext cx="3246120" cy="4709160"/>
          </a:xfrm>
          <a:prstGeom prst="roundRect">
            <a:avLst>
              <a:gd fmla="val 2254" name="adj"/>
            </a:avLst>
          </a:prstGeom>
          <a:solidFill>
            <a:srgbClr val="EEF1F6"/>
          </a:solidFill>
          <a:ln>
            <a:noFill/>
          </a:ln>
          <a:effectLst>
            <a:outerShdw blurRad="76200" rotWithShape="0" algn="bl" dir="5400000" dist="25400">
              <a:srgbClr val="1B2A4A">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8"/>
          <p:cNvSpPr txBox="1"/>
          <p:nvPr/>
        </p:nvSpPr>
        <p:spPr>
          <a:xfrm>
            <a:off x="685800" y="1719072"/>
            <a:ext cx="27889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5"/>
              </a:buClr>
              <a:buSzPts val="950"/>
              <a:buFont typeface="Calibri"/>
              <a:buNone/>
            </a:pPr>
            <a:r>
              <a:rPr b="1" i="0" lang="en-US" sz="950" u="none" cap="none" strike="noStrike">
                <a:solidFill>
                  <a:srgbClr val="5B6B85"/>
                </a:solidFill>
                <a:latin typeface="Calibri"/>
                <a:ea typeface="Calibri"/>
                <a:cs typeface="Calibri"/>
                <a:sym typeface="Calibri"/>
              </a:rPr>
              <a:t>BASELINE DƯỚI</a:t>
            </a:r>
            <a:endParaRPr b="0" i="0" sz="950" u="none" cap="none" strike="noStrike">
              <a:solidFill>
                <a:schemeClr val="dk1"/>
              </a:solidFill>
              <a:latin typeface="Calibri"/>
              <a:ea typeface="Calibri"/>
              <a:cs typeface="Calibri"/>
              <a:sym typeface="Calibri"/>
            </a:endParaRPr>
          </a:p>
        </p:txBody>
      </p:sp>
      <p:sp>
        <p:nvSpPr>
          <p:cNvPr id="131" name="Google Shape;131;p8"/>
          <p:cNvSpPr txBox="1"/>
          <p:nvPr/>
        </p:nvSpPr>
        <p:spPr>
          <a:xfrm>
            <a:off x="685800" y="1965960"/>
            <a:ext cx="278892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1600"/>
              <a:buFont typeface="Times New Roman"/>
              <a:buNone/>
            </a:pPr>
            <a:r>
              <a:rPr b="1" i="0" lang="en-US" sz="1600" u="none" cap="none" strike="noStrike">
                <a:solidFill>
                  <a:srgbClr val="1B2A4A"/>
                </a:solidFill>
                <a:latin typeface="Times New Roman"/>
                <a:ea typeface="Times New Roman"/>
                <a:cs typeface="Times New Roman"/>
                <a:sym typeface="Times New Roman"/>
              </a:rPr>
              <a:t>Hệ 1 — No-RAG</a:t>
            </a:r>
            <a:endParaRPr b="0" i="0" sz="1600" u="none" cap="none" strike="noStrike">
              <a:solidFill>
                <a:schemeClr val="dk1"/>
              </a:solidFill>
              <a:latin typeface="Calibri"/>
              <a:ea typeface="Calibri"/>
              <a:cs typeface="Calibri"/>
              <a:sym typeface="Calibri"/>
            </a:endParaRPr>
          </a:p>
        </p:txBody>
      </p:sp>
      <p:sp>
        <p:nvSpPr>
          <p:cNvPr id="132" name="Google Shape;132;p8"/>
          <p:cNvSpPr/>
          <p:nvPr/>
        </p:nvSpPr>
        <p:spPr>
          <a:xfrm>
            <a:off x="685800" y="2514600"/>
            <a:ext cx="2788920" cy="1060704"/>
          </a:xfrm>
          <a:prstGeom prst="roundRect">
            <a:avLst>
              <a:gd fmla="val 5172" name="adj"/>
            </a:avLst>
          </a:prstGeom>
          <a:solidFill>
            <a:srgbClr val="FFFFFF"/>
          </a:solidFill>
          <a:ln cap="flat" cmpd="sng" w="12700">
            <a:solidFill>
              <a:srgbClr val="5B6B8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8"/>
          <p:cNvSpPr txBox="1"/>
          <p:nvPr/>
        </p:nvSpPr>
        <p:spPr>
          <a:xfrm>
            <a:off x="777240" y="2514600"/>
            <a:ext cx="2606040" cy="10607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2A4A"/>
              </a:buClr>
              <a:buSzPts val="1100"/>
              <a:buFont typeface="Calibri"/>
              <a:buNone/>
            </a:pPr>
            <a:r>
              <a:rPr b="0" i="0" lang="en-US" sz="1100" u="none" cap="none" strike="noStrike">
                <a:solidFill>
                  <a:srgbClr val="1B2A4A"/>
                </a:solidFill>
                <a:latin typeface="Calibri"/>
                <a:ea typeface="Calibri"/>
                <a:cs typeface="Calibri"/>
                <a:sym typeface="Calibri"/>
              </a:rPr>
              <a:t>Câu hỏi</a:t>
            </a:r>
            <a:endParaRPr b="0" i="0" sz="1100" u="none" cap="none" strike="noStrike">
              <a:solidFill>
                <a:schemeClr val="dk1"/>
              </a:solidFill>
              <a:latin typeface="Calibri"/>
              <a:ea typeface="Calibri"/>
              <a:cs typeface="Calibri"/>
              <a:sym typeface="Calibri"/>
            </a:endParaRPr>
          </a:p>
        </p:txBody>
      </p:sp>
      <p:sp>
        <p:nvSpPr>
          <p:cNvPr id="134" name="Google Shape;134;p8"/>
          <p:cNvSpPr txBox="1"/>
          <p:nvPr/>
        </p:nvSpPr>
        <p:spPr>
          <a:xfrm>
            <a:off x="1623060" y="3557016"/>
            <a:ext cx="914400"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B85"/>
              </a:buClr>
              <a:buSzPts val="1100"/>
              <a:buFont typeface="Calibri"/>
              <a:buNone/>
            </a:pPr>
            <a:r>
              <a:rPr b="0" i="0" lang="en-US" sz="1100" u="none" cap="none" strike="noStrike">
                <a:solidFill>
                  <a:srgbClr val="5B6B85"/>
                </a:solidFill>
                <a:latin typeface="Calibri"/>
                <a:ea typeface="Calibri"/>
                <a:cs typeface="Calibri"/>
                <a:sym typeface="Calibri"/>
              </a:rPr>
              <a:t>↓</a:t>
            </a:r>
            <a:endParaRPr b="0" i="0" sz="1100" u="none" cap="none" strike="noStrike">
              <a:solidFill>
                <a:schemeClr val="dk1"/>
              </a:solidFill>
              <a:latin typeface="Calibri"/>
              <a:ea typeface="Calibri"/>
              <a:cs typeface="Calibri"/>
              <a:sym typeface="Calibri"/>
            </a:endParaRPr>
          </a:p>
        </p:txBody>
      </p:sp>
      <p:sp>
        <p:nvSpPr>
          <p:cNvPr id="135" name="Google Shape;135;p8"/>
          <p:cNvSpPr/>
          <p:nvPr/>
        </p:nvSpPr>
        <p:spPr>
          <a:xfrm>
            <a:off x="685800" y="3703320"/>
            <a:ext cx="2788920" cy="1060704"/>
          </a:xfrm>
          <a:prstGeom prst="roundRect">
            <a:avLst>
              <a:gd fmla="val 5172" name="adj"/>
            </a:avLst>
          </a:prstGeom>
          <a:solidFill>
            <a:srgbClr val="FFFFFF"/>
          </a:solidFill>
          <a:ln cap="flat" cmpd="sng" w="12700">
            <a:solidFill>
              <a:srgbClr val="5B6B8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8"/>
          <p:cNvSpPr txBox="1"/>
          <p:nvPr/>
        </p:nvSpPr>
        <p:spPr>
          <a:xfrm>
            <a:off x="777240" y="3703320"/>
            <a:ext cx="2606040" cy="10607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2A4A"/>
              </a:buClr>
              <a:buSzPts val="1100"/>
              <a:buFont typeface="Calibri"/>
              <a:buNone/>
            </a:pPr>
            <a:r>
              <a:rPr b="0" i="0" lang="en-US" sz="1100" u="none" cap="none" strike="noStrike">
                <a:solidFill>
                  <a:srgbClr val="1B2A4A"/>
                </a:solidFill>
                <a:latin typeface="Calibri"/>
                <a:ea typeface="Calibri"/>
                <a:cs typeface="Calibri"/>
                <a:sym typeface="Calibri"/>
              </a:rPr>
              <a:t>LLM</a:t>
            </a:r>
            <a:endParaRPr b="0" i="0" sz="1100" u="none" cap="none" strike="noStrike">
              <a:solidFill>
                <a:schemeClr val="dk1"/>
              </a:solidFill>
              <a:latin typeface="Calibri"/>
              <a:ea typeface="Calibri"/>
              <a:cs typeface="Calibri"/>
              <a:sym typeface="Calibri"/>
            </a:endParaRPr>
          </a:p>
        </p:txBody>
      </p:sp>
      <p:sp>
        <p:nvSpPr>
          <p:cNvPr id="137" name="Google Shape;137;p8"/>
          <p:cNvSpPr txBox="1"/>
          <p:nvPr/>
        </p:nvSpPr>
        <p:spPr>
          <a:xfrm>
            <a:off x="1623060" y="4745736"/>
            <a:ext cx="914400"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B85"/>
              </a:buClr>
              <a:buSzPts val="1100"/>
              <a:buFont typeface="Calibri"/>
              <a:buNone/>
            </a:pPr>
            <a:r>
              <a:rPr b="0" i="0" lang="en-US" sz="1100" u="none" cap="none" strike="noStrike">
                <a:solidFill>
                  <a:srgbClr val="5B6B85"/>
                </a:solidFill>
                <a:latin typeface="Calibri"/>
                <a:ea typeface="Calibri"/>
                <a:cs typeface="Calibri"/>
                <a:sym typeface="Calibri"/>
              </a:rPr>
              <a:t>↓</a:t>
            </a:r>
            <a:endParaRPr b="0" i="0" sz="1100" u="none" cap="none" strike="noStrike">
              <a:solidFill>
                <a:schemeClr val="dk1"/>
              </a:solidFill>
              <a:latin typeface="Calibri"/>
              <a:ea typeface="Calibri"/>
              <a:cs typeface="Calibri"/>
              <a:sym typeface="Calibri"/>
            </a:endParaRPr>
          </a:p>
        </p:txBody>
      </p:sp>
      <p:sp>
        <p:nvSpPr>
          <p:cNvPr id="138" name="Google Shape;138;p8"/>
          <p:cNvSpPr/>
          <p:nvPr/>
        </p:nvSpPr>
        <p:spPr>
          <a:xfrm>
            <a:off x="685800" y="4892040"/>
            <a:ext cx="2788920" cy="1060704"/>
          </a:xfrm>
          <a:prstGeom prst="roundRect">
            <a:avLst>
              <a:gd fmla="val 5172" name="adj"/>
            </a:avLst>
          </a:prstGeom>
          <a:solidFill>
            <a:srgbClr val="FFFFFF"/>
          </a:solidFill>
          <a:ln cap="flat" cmpd="sng" w="12700">
            <a:solidFill>
              <a:srgbClr val="5B6B8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8"/>
          <p:cNvSpPr txBox="1"/>
          <p:nvPr/>
        </p:nvSpPr>
        <p:spPr>
          <a:xfrm>
            <a:off x="777240" y="4892040"/>
            <a:ext cx="2606040" cy="106070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B6B85"/>
              </a:buClr>
              <a:buSzPts val="1100"/>
              <a:buFont typeface="Calibri"/>
              <a:buNone/>
            </a:pPr>
            <a:r>
              <a:rPr b="1" i="0" lang="en-US" sz="1100" u="none" cap="none" strike="noStrike">
                <a:solidFill>
                  <a:srgbClr val="5B6B85"/>
                </a:solidFill>
                <a:latin typeface="Calibri"/>
                <a:ea typeface="Calibri"/>
                <a:cs typeface="Calibri"/>
                <a:sym typeface="Calibri"/>
              </a:rPr>
              <a:t>Câu trả lời</a:t>
            </a:r>
            <a:endParaRPr b="0" i="0" sz="1100" u="none" cap="none" strike="noStrike">
              <a:solidFill>
                <a:schemeClr val="dk1"/>
              </a:solidFill>
              <a:latin typeface="Calibri"/>
              <a:ea typeface="Calibri"/>
              <a:cs typeface="Calibri"/>
              <a:sym typeface="Calibri"/>
            </a:endParaRPr>
          </a:p>
        </p:txBody>
      </p:sp>
      <p:sp>
        <p:nvSpPr>
          <p:cNvPr id="140" name="Google Shape;140;p8"/>
          <p:cNvSpPr/>
          <p:nvPr/>
        </p:nvSpPr>
        <p:spPr>
          <a:xfrm>
            <a:off x="3877056" y="1554480"/>
            <a:ext cx="3429000" cy="4709160"/>
          </a:xfrm>
          <a:prstGeom prst="roundRect">
            <a:avLst>
              <a:gd fmla="val 2133" name="adj"/>
            </a:avLst>
          </a:prstGeom>
          <a:solidFill>
            <a:srgbClr val="EEF1F6"/>
          </a:solidFill>
          <a:ln>
            <a:noFill/>
          </a:ln>
          <a:effectLst>
            <a:outerShdw blurRad="76200" rotWithShape="0" algn="bl" dir="5400000" dist="25400">
              <a:srgbClr val="1B2A4A">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8"/>
          <p:cNvSpPr txBox="1"/>
          <p:nvPr/>
        </p:nvSpPr>
        <p:spPr>
          <a:xfrm>
            <a:off x="4105656" y="1719072"/>
            <a:ext cx="2971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5A80"/>
              </a:buClr>
              <a:buSzPts val="950"/>
              <a:buFont typeface="Calibri"/>
              <a:buNone/>
            </a:pPr>
            <a:r>
              <a:rPr b="1" i="0" lang="en-US" sz="950" u="none" cap="none" strike="noStrike">
                <a:solidFill>
                  <a:srgbClr val="3D5A80"/>
                </a:solidFill>
                <a:latin typeface="Calibri"/>
                <a:ea typeface="Calibri"/>
                <a:cs typeface="Calibri"/>
                <a:sym typeface="Calibri"/>
              </a:rPr>
              <a:t>BASELINE GIỮA</a:t>
            </a:r>
            <a:endParaRPr b="0" i="0" sz="950" u="none" cap="none" strike="noStrike">
              <a:solidFill>
                <a:schemeClr val="dk1"/>
              </a:solidFill>
              <a:latin typeface="Calibri"/>
              <a:ea typeface="Calibri"/>
              <a:cs typeface="Calibri"/>
              <a:sym typeface="Calibri"/>
            </a:endParaRPr>
          </a:p>
        </p:txBody>
      </p:sp>
      <p:sp>
        <p:nvSpPr>
          <p:cNvPr id="142" name="Google Shape;142;p8"/>
          <p:cNvSpPr txBox="1"/>
          <p:nvPr/>
        </p:nvSpPr>
        <p:spPr>
          <a:xfrm>
            <a:off x="4105656" y="1965960"/>
            <a:ext cx="2971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1600"/>
              <a:buFont typeface="Times New Roman"/>
              <a:buNone/>
            </a:pPr>
            <a:r>
              <a:rPr b="1" i="0" lang="en-US" sz="1600" u="none" cap="none" strike="noStrike">
                <a:solidFill>
                  <a:srgbClr val="1B2A4A"/>
                </a:solidFill>
                <a:latin typeface="Times New Roman"/>
                <a:ea typeface="Times New Roman"/>
                <a:cs typeface="Times New Roman"/>
                <a:sym typeface="Times New Roman"/>
              </a:rPr>
              <a:t>Hệ 2 — Standard RAG</a:t>
            </a:r>
            <a:endParaRPr b="0" i="0" sz="1600" u="none" cap="none" strike="noStrike">
              <a:solidFill>
                <a:schemeClr val="dk1"/>
              </a:solidFill>
              <a:latin typeface="Calibri"/>
              <a:ea typeface="Calibri"/>
              <a:cs typeface="Calibri"/>
              <a:sym typeface="Calibri"/>
            </a:endParaRPr>
          </a:p>
        </p:txBody>
      </p:sp>
      <p:sp>
        <p:nvSpPr>
          <p:cNvPr id="143" name="Google Shape;143;p8"/>
          <p:cNvSpPr/>
          <p:nvPr/>
        </p:nvSpPr>
        <p:spPr>
          <a:xfrm>
            <a:off x="4105656" y="2514600"/>
            <a:ext cx="2971800" cy="763524"/>
          </a:xfrm>
          <a:prstGeom prst="roundRect">
            <a:avLst>
              <a:gd fmla="val 7186" name="adj"/>
            </a:avLst>
          </a:prstGeom>
          <a:solidFill>
            <a:srgbClr val="FFFFFF"/>
          </a:solidFill>
          <a:ln cap="flat" cmpd="sng" w="12700">
            <a:solidFill>
              <a:srgbClr val="3D5A8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8"/>
          <p:cNvSpPr txBox="1"/>
          <p:nvPr/>
        </p:nvSpPr>
        <p:spPr>
          <a:xfrm>
            <a:off x="4197096" y="2514600"/>
            <a:ext cx="2788920" cy="7635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2A4A"/>
              </a:buClr>
              <a:buSzPts val="1100"/>
              <a:buFont typeface="Calibri"/>
              <a:buNone/>
            </a:pPr>
            <a:r>
              <a:rPr b="0" i="0" lang="en-US" sz="1100" u="none" cap="none" strike="noStrike">
                <a:solidFill>
                  <a:srgbClr val="1B2A4A"/>
                </a:solidFill>
                <a:latin typeface="Calibri"/>
                <a:ea typeface="Calibri"/>
                <a:cs typeface="Calibri"/>
                <a:sym typeface="Calibri"/>
              </a:rPr>
              <a:t>Câu hỏi</a:t>
            </a:r>
            <a:endParaRPr b="0" i="0" sz="1100" u="none" cap="none" strike="noStrike">
              <a:solidFill>
                <a:schemeClr val="dk1"/>
              </a:solidFill>
              <a:latin typeface="Calibri"/>
              <a:ea typeface="Calibri"/>
              <a:cs typeface="Calibri"/>
              <a:sym typeface="Calibri"/>
            </a:endParaRPr>
          </a:p>
        </p:txBody>
      </p:sp>
      <p:sp>
        <p:nvSpPr>
          <p:cNvPr id="145" name="Google Shape;145;p8"/>
          <p:cNvSpPr txBox="1"/>
          <p:nvPr/>
        </p:nvSpPr>
        <p:spPr>
          <a:xfrm>
            <a:off x="5134356" y="3259836"/>
            <a:ext cx="914400"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D5A80"/>
              </a:buClr>
              <a:buSzPts val="1100"/>
              <a:buFont typeface="Calibri"/>
              <a:buNone/>
            </a:pPr>
            <a:r>
              <a:rPr b="0" i="0" lang="en-US" sz="1100" u="none" cap="none" strike="noStrike">
                <a:solidFill>
                  <a:srgbClr val="3D5A80"/>
                </a:solidFill>
                <a:latin typeface="Calibri"/>
                <a:ea typeface="Calibri"/>
                <a:cs typeface="Calibri"/>
                <a:sym typeface="Calibri"/>
              </a:rPr>
              <a:t>↓</a:t>
            </a:r>
            <a:endParaRPr b="0" i="0" sz="1100" u="none" cap="none" strike="noStrike">
              <a:solidFill>
                <a:schemeClr val="dk1"/>
              </a:solidFill>
              <a:latin typeface="Calibri"/>
              <a:ea typeface="Calibri"/>
              <a:cs typeface="Calibri"/>
              <a:sym typeface="Calibri"/>
            </a:endParaRPr>
          </a:p>
        </p:txBody>
      </p:sp>
      <p:sp>
        <p:nvSpPr>
          <p:cNvPr id="146" name="Google Shape;146;p8"/>
          <p:cNvSpPr/>
          <p:nvPr/>
        </p:nvSpPr>
        <p:spPr>
          <a:xfrm>
            <a:off x="4105656" y="3406140"/>
            <a:ext cx="2971800" cy="763524"/>
          </a:xfrm>
          <a:prstGeom prst="roundRect">
            <a:avLst>
              <a:gd fmla="val 7186" name="adj"/>
            </a:avLst>
          </a:prstGeom>
          <a:solidFill>
            <a:srgbClr val="FFFFFF"/>
          </a:solidFill>
          <a:ln cap="flat" cmpd="sng" w="12700">
            <a:solidFill>
              <a:srgbClr val="3D5A8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8"/>
          <p:cNvSpPr txBox="1"/>
          <p:nvPr/>
        </p:nvSpPr>
        <p:spPr>
          <a:xfrm>
            <a:off x="4197096" y="3406140"/>
            <a:ext cx="2788920" cy="7635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2A4A"/>
              </a:buClr>
              <a:buSzPts val="1100"/>
              <a:buFont typeface="Calibri"/>
              <a:buNone/>
            </a:pPr>
            <a:r>
              <a:rPr b="0" i="0" lang="en-US" sz="1100" u="none" cap="none" strike="noStrike">
                <a:solidFill>
                  <a:srgbClr val="1B2A4A"/>
                </a:solidFill>
                <a:latin typeface="Calibri"/>
                <a:ea typeface="Calibri"/>
                <a:cs typeface="Calibri"/>
                <a:sym typeface="Calibri"/>
              </a:rPr>
              <a:t>Retrieve top-5</a:t>
            </a:r>
            <a:endParaRPr b="0" i="0" sz="1100" u="none" cap="none" strike="noStrike">
              <a:solidFill>
                <a:schemeClr val="dk1"/>
              </a:solidFill>
              <a:latin typeface="Calibri"/>
              <a:ea typeface="Calibri"/>
              <a:cs typeface="Calibri"/>
              <a:sym typeface="Calibri"/>
            </a:endParaRPr>
          </a:p>
        </p:txBody>
      </p:sp>
      <p:sp>
        <p:nvSpPr>
          <p:cNvPr id="148" name="Google Shape;148;p8"/>
          <p:cNvSpPr txBox="1"/>
          <p:nvPr/>
        </p:nvSpPr>
        <p:spPr>
          <a:xfrm>
            <a:off x="5134356" y="4151376"/>
            <a:ext cx="914400"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D5A80"/>
              </a:buClr>
              <a:buSzPts val="1100"/>
              <a:buFont typeface="Calibri"/>
              <a:buNone/>
            </a:pPr>
            <a:r>
              <a:rPr b="0" i="0" lang="en-US" sz="1100" u="none" cap="none" strike="noStrike">
                <a:solidFill>
                  <a:srgbClr val="3D5A80"/>
                </a:solidFill>
                <a:latin typeface="Calibri"/>
                <a:ea typeface="Calibri"/>
                <a:cs typeface="Calibri"/>
                <a:sym typeface="Calibri"/>
              </a:rPr>
              <a:t>↓</a:t>
            </a:r>
            <a:endParaRPr b="0" i="0" sz="1100" u="none" cap="none" strike="noStrike">
              <a:solidFill>
                <a:schemeClr val="dk1"/>
              </a:solidFill>
              <a:latin typeface="Calibri"/>
              <a:ea typeface="Calibri"/>
              <a:cs typeface="Calibri"/>
              <a:sym typeface="Calibri"/>
            </a:endParaRPr>
          </a:p>
        </p:txBody>
      </p:sp>
      <p:sp>
        <p:nvSpPr>
          <p:cNvPr id="149" name="Google Shape;149;p8"/>
          <p:cNvSpPr/>
          <p:nvPr/>
        </p:nvSpPr>
        <p:spPr>
          <a:xfrm>
            <a:off x="4105656" y="4297680"/>
            <a:ext cx="2971800" cy="763524"/>
          </a:xfrm>
          <a:prstGeom prst="roundRect">
            <a:avLst>
              <a:gd fmla="val 7186" name="adj"/>
            </a:avLst>
          </a:prstGeom>
          <a:solidFill>
            <a:srgbClr val="FFFFFF"/>
          </a:solidFill>
          <a:ln cap="flat" cmpd="sng" w="12700">
            <a:solidFill>
              <a:srgbClr val="3D5A8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8"/>
          <p:cNvSpPr txBox="1"/>
          <p:nvPr/>
        </p:nvSpPr>
        <p:spPr>
          <a:xfrm>
            <a:off x="4197096" y="4297680"/>
            <a:ext cx="2788920" cy="7635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2A4A"/>
              </a:buClr>
              <a:buSzPts val="1100"/>
              <a:buFont typeface="Calibri"/>
              <a:buNone/>
            </a:pPr>
            <a:r>
              <a:rPr b="0" i="0" lang="en-US" sz="1100" u="none" cap="none" strike="noStrike">
                <a:solidFill>
                  <a:srgbClr val="1B2A4A"/>
                </a:solidFill>
                <a:latin typeface="Calibri"/>
                <a:ea typeface="Calibri"/>
                <a:cs typeface="Calibri"/>
                <a:sym typeface="Calibri"/>
              </a:rPr>
              <a:t>LLM (Q + context)</a:t>
            </a:r>
            <a:endParaRPr b="0" i="0" sz="1100" u="none" cap="none" strike="noStrike">
              <a:solidFill>
                <a:schemeClr val="dk1"/>
              </a:solidFill>
              <a:latin typeface="Calibri"/>
              <a:ea typeface="Calibri"/>
              <a:cs typeface="Calibri"/>
              <a:sym typeface="Calibri"/>
            </a:endParaRPr>
          </a:p>
        </p:txBody>
      </p:sp>
      <p:sp>
        <p:nvSpPr>
          <p:cNvPr id="151" name="Google Shape;151;p8"/>
          <p:cNvSpPr txBox="1"/>
          <p:nvPr/>
        </p:nvSpPr>
        <p:spPr>
          <a:xfrm>
            <a:off x="5134356" y="5042916"/>
            <a:ext cx="914400"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D5A80"/>
              </a:buClr>
              <a:buSzPts val="1100"/>
              <a:buFont typeface="Calibri"/>
              <a:buNone/>
            </a:pPr>
            <a:r>
              <a:rPr b="0" i="0" lang="en-US" sz="1100" u="none" cap="none" strike="noStrike">
                <a:solidFill>
                  <a:srgbClr val="3D5A80"/>
                </a:solidFill>
                <a:latin typeface="Calibri"/>
                <a:ea typeface="Calibri"/>
                <a:cs typeface="Calibri"/>
                <a:sym typeface="Calibri"/>
              </a:rPr>
              <a:t>↓</a:t>
            </a:r>
            <a:endParaRPr b="0" i="0" sz="1100" u="none" cap="none" strike="noStrike">
              <a:solidFill>
                <a:schemeClr val="dk1"/>
              </a:solidFill>
              <a:latin typeface="Calibri"/>
              <a:ea typeface="Calibri"/>
              <a:cs typeface="Calibri"/>
              <a:sym typeface="Calibri"/>
            </a:endParaRPr>
          </a:p>
        </p:txBody>
      </p:sp>
      <p:sp>
        <p:nvSpPr>
          <p:cNvPr id="152" name="Google Shape;152;p8"/>
          <p:cNvSpPr/>
          <p:nvPr/>
        </p:nvSpPr>
        <p:spPr>
          <a:xfrm>
            <a:off x="4105656" y="5189220"/>
            <a:ext cx="2971800" cy="763524"/>
          </a:xfrm>
          <a:prstGeom prst="roundRect">
            <a:avLst>
              <a:gd fmla="val 7186" name="adj"/>
            </a:avLst>
          </a:prstGeom>
          <a:solidFill>
            <a:srgbClr val="FFFFFF"/>
          </a:solidFill>
          <a:ln cap="flat" cmpd="sng" w="12700">
            <a:solidFill>
              <a:srgbClr val="3D5A8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8"/>
          <p:cNvSpPr txBox="1"/>
          <p:nvPr/>
        </p:nvSpPr>
        <p:spPr>
          <a:xfrm>
            <a:off x="4197096" y="5189220"/>
            <a:ext cx="2788920" cy="7635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D5A80"/>
              </a:buClr>
              <a:buSzPts val="1100"/>
              <a:buFont typeface="Calibri"/>
              <a:buNone/>
            </a:pPr>
            <a:r>
              <a:rPr b="1" i="0" lang="en-US" sz="1100" u="none" cap="none" strike="noStrike">
                <a:solidFill>
                  <a:srgbClr val="3D5A80"/>
                </a:solidFill>
                <a:latin typeface="Calibri"/>
                <a:ea typeface="Calibri"/>
                <a:cs typeface="Calibri"/>
                <a:sym typeface="Calibri"/>
              </a:rPr>
              <a:t>Câu trả lời</a:t>
            </a:r>
            <a:endParaRPr b="0" i="0" sz="1100" u="none" cap="none" strike="noStrike">
              <a:solidFill>
                <a:schemeClr val="dk1"/>
              </a:solidFill>
              <a:latin typeface="Calibri"/>
              <a:ea typeface="Calibri"/>
              <a:cs typeface="Calibri"/>
              <a:sym typeface="Calibri"/>
            </a:endParaRPr>
          </a:p>
        </p:txBody>
      </p:sp>
      <p:sp>
        <p:nvSpPr>
          <p:cNvPr id="154" name="Google Shape;154;p8"/>
          <p:cNvSpPr/>
          <p:nvPr/>
        </p:nvSpPr>
        <p:spPr>
          <a:xfrm>
            <a:off x="7479792" y="1554480"/>
            <a:ext cx="3977640" cy="4709160"/>
          </a:xfrm>
          <a:prstGeom prst="roundRect">
            <a:avLst>
              <a:gd fmla="val 1839" name="adj"/>
            </a:avLst>
          </a:prstGeom>
          <a:solidFill>
            <a:srgbClr val="E3F0E9"/>
          </a:solidFill>
          <a:ln>
            <a:noFill/>
          </a:ln>
          <a:effectLst>
            <a:outerShdw blurRad="76200" rotWithShape="0" algn="bl" dir="5400000" dist="25400">
              <a:srgbClr val="1B2A4A">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8"/>
          <p:cNvSpPr txBox="1"/>
          <p:nvPr/>
        </p:nvSpPr>
        <p:spPr>
          <a:xfrm>
            <a:off x="7708392" y="1719072"/>
            <a:ext cx="3520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7D5B"/>
              </a:buClr>
              <a:buSzPts val="950"/>
              <a:buFont typeface="Calibri"/>
              <a:buNone/>
            </a:pPr>
            <a:r>
              <a:rPr b="1" i="0" lang="en-US" sz="950" u="none" cap="none" strike="noStrike">
                <a:solidFill>
                  <a:srgbClr val="2E7D5B"/>
                </a:solidFill>
                <a:latin typeface="Calibri"/>
                <a:ea typeface="Calibri"/>
                <a:cs typeface="Calibri"/>
                <a:sym typeface="Calibri"/>
              </a:rPr>
              <a:t>HỆ CHÍNH CỦA ĐỒ ÁN</a:t>
            </a:r>
            <a:endParaRPr b="0" i="0" sz="950" u="none" cap="none" strike="noStrike">
              <a:solidFill>
                <a:schemeClr val="dk1"/>
              </a:solidFill>
              <a:latin typeface="Calibri"/>
              <a:ea typeface="Calibri"/>
              <a:cs typeface="Calibri"/>
              <a:sym typeface="Calibri"/>
            </a:endParaRPr>
          </a:p>
        </p:txBody>
      </p:sp>
      <p:sp>
        <p:nvSpPr>
          <p:cNvPr id="156" name="Google Shape;156;p8"/>
          <p:cNvSpPr txBox="1"/>
          <p:nvPr/>
        </p:nvSpPr>
        <p:spPr>
          <a:xfrm>
            <a:off x="7708392" y="1965960"/>
            <a:ext cx="35204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1600"/>
              <a:buFont typeface="Times New Roman"/>
              <a:buNone/>
            </a:pPr>
            <a:r>
              <a:rPr b="1" i="0" lang="en-US" sz="1600" u="none" cap="none" strike="noStrike">
                <a:solidFill>
                  <a:srgbClr val="1B2A4A"/>
                </a:solidFill>
                <a:latin typeface="Times New Roman"/>
                <a:ea typeface="Times New Roman"/>
                <a:cs typeface="Times New Roman"/>
                <a:sym typeface="Times New Roman"/>
              </a:rPr>
              <a:t>Hệ 3 — Self-RAG-inspired</a:t>
            </a:r>
            <a:endParaRPr b="0" i="0" sz="1600" u="none" cap="none" strike="noStrike">
              <a:solidFill>
                <a:schemeClr val="dk1"/>
              </a:solidFill>
              <a:latin typeface="Calibri"/>
              <a:ea typeface="Calibri"/>
              <a:cs typeface="Calibri"/>
              <a:sym typeface="Calibri"/>
            </a:endParaRPr>
          </a:p>
        </p:txBody>
      </p:sp>
      <p:sp>
        <p:nvSpPr>
          <p:cNvPr id="157" name="Google Shape;157;p8"/>
          <p:cNvSpPr/>
          <p:nvPr/>
        </p:nvSpPr>
        <p:spPr>
          <a:xfrm>
            <a:off x="7708392" y="2514600"/>
            <a:ext cx="3520440" cy="381435"/>
          </a:xfrm>
          <a:prstGeom prst="roundRect">
            <a:avLst>
              <a:gd fmla="val 14384" name="adj"/>
            </a:avLst>
          </a:prstGeom>
          <a:solidFill>
            <a:srgbClr val="FFFFFF"/>
          </a:solidFill>
          <a:ln cap="flat" cmpd="sng" w="12700">
            <a:solidFill>
              <a:srgbClr val="2E7D5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8"/>
          <p:cNvSpPr txBox="1"/>
          <p:nvPr/>
        </p:nvSpPr>
        <p:spPr>
          <a:xfrm>
            <a:off x="7799832" y="2514600"/>
            <a:ext cx="3337560" cy="381435"/>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2A4A"/>
              </a:buClr>
              <a:buSzPts val="1100"/>
              <a:buFont typeface="Calibri"/>
              <a:buNone/>
            </a:pPr>
            <a:r>
              <a:rPr b="0" i="0" lang="en-US" sz="1100" u="none" cap="none" strike="noStrike">
                <a:solidFill>
                  <a:srgbClr val="1B2A4A"/>
                </a:solidFill>
                <a:latin typeface="Calibri"/>
                <a:ea typeface="Calibri"/>
                <a:cs typeface="Calibri"/>
                <a:sym typeface="Calibri"/>
              </a:rPr>
              <a:t>Câu hỏi</a:t>
            </a:r>
            <a:endParaRPr b="0" i="0" sz="1100" u="none" cap="none" strike="noStrike">
              <a:solidFill>
                <a:schemeClr val="dk1"/>
              </a:solidFill>
              <a:latin typeface="Calibri"/>
              <a:ea typeface="Calibri"/>
              <a:cs typeface="Calibri"/>
              <a:sym typeface="Calibri"/>
            </a:endParaRPr>
          </a:p>
        </p:txBody>
      </p:sp>
      <p:sp>
        <p:nvSpPr>
          <p:cNvPr id="159" name="Google Shape;159;p8"/>
          <p:cNvSpPr txBox="1"/>
          <p:nvPr/>
        </p:nvSpPr>
        <p:spPr>
          <a:xfrm>
            <a:off x="9011412" y="2877747"/>
            <a:ext cx="914400"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7D5B"/>
              </a:buClr>
              <a:buSzPts val="1100"/>
              <a:buFont typeface="Calibri"/>
              <a:buNone/>
            </a:pPr>
            <a:r>
              <a:rPr b="0" i="0" lang="en-US" sz="1100" u="none" cap="none" strike="noStrike">
                <a:solidFill>
                  <a:srgbClr val="2E7D5B"/>
                </a:solidFill>
                <a:latin typeface="Calibri"/>
                <a:ea typeface="Calibri"/>
                <a:cs typeface="Calibri"/>
                <a:sym typeface="Calibri"/>
              </a:rPr>
              <a:t>↓</a:t>
            </a:r>
            <a:endParaRPr b="0" i="0" sz="1100" u="none" cap="none" strike="noStrike">
              <a:solidFill>
                <a:schemeClr val="dk1"/>
              </a:solidFill>
              <a:latin typeface="Calibri"/>
              <a:ea typeface="Calibri"/>
              <a:cs typeface="Calibri"/>
              <a:sym typeface="Calibri"/>
            </a:endParaRPr>
          </a:p>
        </p:txBody>
      </p:sp>
      <p:sp>
        <p:nvSpPr>
          <p:cNvPr id="160" name="Google Shape;160;p8"/>
          <p:cNvSpPr/>
          <p:nvPr/>
        </p:nvSpPr>
        <p:spPr>
          <a:xfrm>
            <a:off x="7708392" y="3024051"/>
            <a:ext cx="3520440" cy="381435"/>
          </a:xfrm>
          <a:prstGeom prst="roundRect">
            <a:avLst>
              <a:gd fmla="val 14384" name="adj"/>
            </a:avLst>
          </a:prstGeom>
          <a:solidFill>
            <a:srgbClr val="FFFFFF"/>
          </a:solidFill>
          <a:ln cap="flat" cmpd="sng" w="12700">
            <a:solidFill>
              <a:srgbClr val="2E7D5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8"/>
          <p:cNvSpPr txBox="1"/>
          <p:nvPr/>
        </p:nvSpPr>
        <p:spPr>
          <a:xfrm>
            <a:off x="7799832" y="3024051"/>
            <a:ext cx="3337560" cy="381435"/>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2A4A"/>
              </a:buClr>
              <a:buSzPts val="1100"/>
              <a:buFont typeface="Calibri"/>
              <a:buNone/>
            </a:pPr>
            <a:r>
              <a:rPr b="0" i="0" lang="en-US" sz="1100" u="none" cap="none" strike="noStrike">
                <a:solidFill>
                  <a:srgbClr val="1B2A4A"/>
                </a:solidFill>
                <a:latin typeface="Calibri"/>
                <a:ea typeface="Calibri"/>
                <a:cs typeface="Calibri"/>
                <a:sym typeface="Calibri"/>
              </a:rPr>
              <a:t>[RETRIEVE?]</a:t>
            </a:r>
            <a:endParaRPr b="0" i="0" sz="1100" u="none" cap="none" strike="noStrike">
              <a:solidFill>
                <a:schemeClr val="dk1"/>
              </a:solidFill>
              <a:latin typeface="Calibri"/>
              <a:ea typeface="Calibri"/>
              <a:cs typeface="Calibri"/>
              <a:sym typeface="Calibri"/>
            </a:endParaRPr>
          </a:p>
        </p:txBody>
      </p:sp>
      <p:sp>
        <p:nvSpPr>
          <p:cNvPr id="162" name="Google Shape;162;p8"/>
          <p:cNvSpPr txBox="1"/>
          <p:nvPr/>
        </p:nvSpPr>
        <p:spPr>
          <a:xfrm>
            <a:off x="9011412" y="3387199"/>
            <a:ext cx="914400"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7D5B"/>
              </a:buClr>
              <a:buSzPts val="1100"/>
              <a:buFont typeface="Calibri"/>
              <a:buNone/>
            </a:pPr>
            <a:r>
              <a:rPr b="0" i="0" lang="en-US" sz="1100" u="none" cap="none" strike="noStrike">
                <a:solidFill>
                  <a:srgbClr val="2E7D5B"/>
                </a:solidFill>
                <a:latin typeface="Calibri"/>
                <a:ea typeface="Calibri"/>
                <a:cs typeface="Calibri"/>
                <a:sym typeface="Calibri"/>
              </a:rPr>
              <a:t>↓</a:t>
            </a:r>
            <a:endParaRPr b="0" i="0" sz="1100" u="none" cap="none" strike="noStrike">
              <a:solidFill>
                <a:schemeClr val="dk1"/>
              </a:solidFill>
              <a:latin typeface="Calibri"/>
              <a:ea typeface="Calibri"/>
              <a:cs typeface="Calibri"/>
              <a:sym typeface="Calibri"/>
            </a:endParaRPr>
          </a:p>
        </p:txBody>
      </p:sp>
      <p:sp>
        <p:nvSpPr>
          <p:cNvPr id="163" name="Google Shape;163;p8"/>
          <p:cNvSpPr/>
          <p:nvPr/>
        </p:nvSpPr>
        <p:spPr>
          <a:xfrm>
            <a:off x="7708392" y="3533503"/>
            <a:ext cx="3520440" cy="381435"/>
          </a:xfrm>
          <a:prstGeom prst="roundRect">
            <a:avLst>
              <a:gd fmla="val 14384" name="adj"/>
            </a:avLst>
          </a:prstGeom>
          <a:solidFill>
            <a:srgbClr val="FFFFFF"/>
          </a:solidFill>
          <a:ln cap="flat" cmpd="sng" w="12700">
            <a:solidFill>
              <a:srgbClr val="2E7D5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8"/>
          <p:cNvSpPr txBox="1"/>
          <p:nvPr/>
        </p:nvSpPr>
        <p:spPr>
          <a:xfrm>
            <a:off x="7799832" y="3533503"/>
            <a:ext cx="3337560" cy="381435"/>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2A4A"/>
              </a:buClr>
              <a:buSzPts val="1100"/>
              <a:buFont typeface="Calibri"/>
              <a:buNone/>
            </a:pPr>
            <a:r>
              <a:rPr b="0" i="0" lang="en-US" sz="1100" u="none" cap="none" strike="noStrike">
                <a:solidFill>
                  <a:srgbClr val="1B2A4A"/>
                </a:solidFill>
                <a:latin typeface="Calibri"/>
                <a:ea typeface="Calibri"/>
                <a:cs typeface="Calibri"/>
                <a:sym typeface="Calibri"/>
              </a:rPr>
              <a:t>Retrieve top-k</a:t>
            </a:r>
            <a:endParaRPr b="0" i="0" sz="1100" u="none" cap="none" strike="noStrike">
              <a:solidFill>
                <a:schemeClr val="dk1"/>
              </a:solidFill>
              <a:latin typeface="Calibri"/>
              <a:ea typeface="Calibri"/>
              <a:cs typeface="Calibri"/>
              <a:sym typeface="Calibri"/>
            </a:endParaRPr>
          </a:p>
        </p:txBody>
      </p:sp>
      <p:sp>
        <p:nvSpPr>
          <p:cNvPr id="165" name="Google Shape;165;p8"/>
          <p:cNvSpPr txBox="1"/>
          <p:nvPr/>
        </p:nvSpPr>
        <p:spPr>
          <a:xfrm>
            <a:off x="9011412" y="3896650"/>
            <a:ext cx="914400"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7D5B"/>
              </a:buClr>
              <a:buSzPts val="1100"/>
              <a:buFont typeface="Calibri"/>
              <a:buNone/>
            </a:pPr>
            <a:r>
              <a:rPr b="0" i="0" lang="en-US" sz="1100" u="none" cap="none" strike="noStrike">
                <a:solidFill>
                  <a:srgbClr val="2E7D5B"/>
                </a:solidFill>
                <a:latin typeface="Calibri"/>
                <a:ea typeface="Calibri"/>
                <a:cs typeface="Calibri"/>
                <a:sym typeface="Calibri"/>
              </a:rPr>
              <a:t>↓</a:t>
            </a:r>
            <a:endParaRPr b="0" i="0" sz="1100" u="none" cap="none" strike="noStrike">
              <a:solidFill>
                <a:schemeClr val="dk1"/>
              </a:solidFill>
              <a:latin typeface="Calibri"/>
              <a:ea typeface="Calibri"/>
              <a:cs typeface="Calibri"/>
              <a:sym typeface="Calibri"/>
            </a:endParaRPr>
          </a:p>
        </p:txBody>
      </p:sp>
      <p:sp>
        <p:nvSpPr>
          <p:cNvPr id="166" name="Google Shape;166;p8"/>
          <p:cNvSpPr/>
          <p:nvPr/>
        </p:nvSpPr>
        <p:spPr>
          <a:xfrm>
            <a:off x="7708392" y="4042954"/>
            <a:ext cx="3520440" cy="381435"/>
          </a:xfrm>
          <a:prstGeom prst="roundRect">
            <a:avLst>
              <a:gd fmla="val 14384" name="adj"/>
            </a:avLst>
          </a:prstGeom>
          <a:solidFill>
            <a:srgbClr val="FFFFFF"/>
          </a:solidFill>
          <a:ln cap="flat" cmpd="sng" w="12700">
            <a:solidFill>
              <a:srgbClr val="2E7D5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8"/>
          <p:cNvSpPr txBox="1"/>
          <p:nvPr/>
        </p:nvSpPr>
        <p:spPr>
          <a:xfrm>
            <a:off x="7799832" y="4042954"/>
            <a:ext cx="3337560" cy="381435"/>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2A4A"/>
              </a:buClr>
              <a:buSzPts val="1100"/>
              <a:buFont typeface="Calibri"/>
              <a:buNone/>
            </a:pPr>
            <a:r>
              <a:rPr b="0" i="0" lang="en-US" sz="1100" u="none" cap="none" strike="noStrike">
                <a:solidFill>
                  <a:srgbClr val="1B2A4A"/>
                </a:solidFill>
                <a:latin typeface="Calibri"/>
                <a:ea typeface="Calibri"/>
                <a:cs typeface="Calibri"/>
                <a:sym typeface="Calibri"/>
              </a:rPr>
              <a:t>[ISREL] lọc</a:t>
            </a:r>
            <a:endParaRPr b="0" i="0" sz="1100" u="none" cap="none" strike="noStrike">
              <a:solidFill>
                <a:schemeClr val="dk1"/>
              </a:solidFill>
              <a:latin typeface="Calibri"/>
              <a:ea typeface="Calibri"/>
              <a:cs typeface="Calibri"/>
              <a:sym typeface="Calibri"/>
            </a:endParaRPr>
          </a:p>
        </p:txBody>
      </p:sp>
      <p:sp>
        <p:nvSpPr>
          <p:cNvPr id="168" name="Google Shape;168;p8"/>
          <p:cNvSpPr txBox="1"/>
          <p:nvPr/>
        </p:nvSpPr>
        <p:spPr>
          <a:xfrm>
            <a:off x="9011412" y="4406102"/>
            <a:ext cx="914400"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7D5B"/>
              </a:buClr>
              <a:buSzPts val="1100"/>
              <a:buFont typeface="Calibri"/>
              <a:buNone/>
            </a:pPr>
            <a:r>
              <a:rPr b="0" i="0" lang="en-US" sz="1100" u="none" cap="none" strike="noStrike">
                <a:solidFill>
                  <a:srgbClr val="2E7D5B"/>
                </a:solidFill>
                <a:latin typeface="Calibri"/>
                <a:ea typeface="Calibri"/>
                <a:cs typeface="Calibri"/>
                <a:sym typeface="Calibri"/>
              </a:rPr>
              <a:t>↓</a:t>
            </a:r>
            <a:endParaRPr b="0" i="0" sz="1100" u="none" cap="none" strike="noStrike">
              <a:solidFill>
                <a:schemeClr val="dk1"/>
              </a:solidFill>
              <a:latin typeface="Calibri"/>
              <a:ea typeface="Calibri"/>
              <a:cs typeface="Calibri"/>
              <a:sym typeface="Calibri"/>
            </a:endParaRPr>
          </a:p>
        </p:txBody>
      </p:sp>
      <p:sp>
        <p:nvSpPr>
          <p:cNvPr id="169" name="Google Shape;169;p8"/>
          <p:cNvSpPr/>
          <p:nvPr/>
        </p:nvSpPr>
        <p:spPr>
          <a:xfrm>
            <a:off x="7708392" y="4552406"/>
            <a:ext cx="3520440" cy="381435"/>
          </a:xfrm>
          <a:prstGeom prst="roundRect">
            <a:avLst>
              <a:gd fmla="val 14384" name="adj"/>
            </a:avLst>
          </a:prstGeom>
          <a:solidFill>
            <a:srgbClr val="FFFFFF"/>
          </a:solidFill>
          <a:ln cap="flat" cmpd="sng" w="12700">
            <a:solidFill>
              <a:srgbClr val="2E7D5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8"/>
          <p:cNvSpPr txBox="1"/>
          <p:nvPr/>
        </p:nvSpPr>
        <p:spPr>
          <a:xfrm>
            <a:off x="7799832" y="4552406"/>
            <a:ext cx="3337560" cy="381435"/>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2A4A"/>
              </a:buClr>
              <a:buSzPts val="1100"/>
              <a:buFont typeface="Calibri"/>
              <a:buNone/>
            </a:pPr>
            <a:r>
              <a:rPr b="0" i="0" lang="en-US" sz="1100" u="none" cap="none" strike="noStrike">
                <a:solidFill>
                  <a:srgbClr val="1B2A4A"/>
                </a:solidFill>
                <a:latin typeface="Calibri"/>
                <a:ea typeface="Calibri"/>
                <a:cs typeface="Calibri"/>
                <a:sym typeface="Calibri"/>
              </a:rPr>
              <a:t>Generate + cite</a:t>
            </a:r>
            <a:endParaRPr b="0" i="0" sz="1100" u="none" cap="none" strike="noStrike">
              <a:solidFill>
                <a:schemeClr val="dk1"/>
              </a:solidFill>
              <a:latin typeface="Calibri"/>
              <a:ea typeface="Calibri"/>
              <a:cs typeface="Calibri"/>
              <a:sym typeface="Calibri"/>
            </a:endParaRPr>
          </a:p>
        </p:txBody>
      </p:sp>
      <p:sp>
        <p:nvSpPr>
          <p:cNvPr id="171" name="Google Shape;171;p8"/>
          <p:cNvSpPr txBox="1"/>
          <p:nvPr/>
        </p:nvSpPr>
        <p:spPr>
          <a:xfrm>
            <a:off x="9011412" y="4915553"/>
            <a:ext cx="914400"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7D5B"/>
              </a:buClr>
              <a:buSzPts val="1100"/>
              <a:buFont typeface="Calibri"/>
              <a:buNone/>
            </a:pPr>
            <a:r>
              <a:rPr b="0" i="0" lang="en-US" sz="1100" u="none" cap="none" strike="noStrike">
                <a:solidFill>
                  <a:srgbClr val="2E7D5B"/>
                </a:solidFill>
                <a:latin typeface="Calibri"/>
                <a:ea typeface="Calibri"/>
                <a:cs typeface="Calibri"/>
                <a:sym typeface="Calibri"/>
              </a:rPr>
              <a:t>↓</a:t>
            </a:r>
            <a:endParaRPr b="0" i="0" sz="1100" u="none" cap="none" strike="noStrike">
              <a:solidFill>
                <a:schemeClr val="dk1"/>
              </a:solidFill>
              <a:latin typeface="Calibri"/>
              <a:ea typeface="Calibri"/>
              <a:cs typeface="Calibri"/>
              <a:sym typeface="Calibri"/>
            </a:endParaRPr>
          </a:p>
        </p:txBody>
      </p:sp>
      <p:sp>
        <p:nvSpPr>
          <p:cNvPr id="172" name="Google Shape;172;p8"/>
          <p:cNvSpPr/>
          <p:nvPr/>
        </p:nvSpPr>
        <p:spPr>
          <a:xfrm>
            <a:off x="7708392" y="5061857"/>
            <a:ext cx="3520440" cy="381435"/>
          </a:xfrm>
          <a:prstGeom prst="roundRect">
            <a:avLst>
              <a:gd fmla="val 14384" name="adj"/>
            </a:avLst>
          </a:prstGeom>
          <a:solidFill>
            <a:srgbClr val="FFFFFF"/>
          </a:solidFill>
          <a:ln cap="flat" cmpd="sng" w="12700">
            <a:solidFill>
              <a:srgbClr val="2E7D5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8"/>
          <p:cNvSpPr txBox="1"/>
          <p:nvPr/>
        </p:nvSpPr>
        <p:spPr>
          <a:xfrm>
            <a:off x="7799832" y="5061857"/>
            <a:ext cx="3337560" cy="381435"/>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2A4A"/>
              </a:buClr>
              <a:buSzPts val="1100"/>
              <a:buFont typeface="Calibri"/>
              <a:buNone/>
            </a:pPr>
            <a:r>
              <a:rPr b="0" i="0" lang="en-US" sz="1100" u="none" cap="none" strike="noStrike">
                <a:solidFill>
                  <a:srgbClr val="1B2A4A"/>
                </a:solidFill>
                <a:latin typeface="Calibri"/>
                <a:ea typeface="Calibri"/>
                <a:cs typeface="Calibri"/>
                <a:sym typeface="Calibri"/>
              </a:rPr>
              <a:t>[ISSUP] · [ISUSE]</a:t>
            </a:r>
            <a:endParaRPr b="0" i="0" sz="1100" u="none" cap="none" strike="noStrike">
              <a:solidFill>
                <a:schemeClr val="dk1"/>
              </a:solidFill>
              <a:latin typeface="Calibri"/>
              <a:ea typeface="Calibri"/>
              <a:cs typeface="Calibri"/>
              <a:sym typeface="Calibri"/>
            </a:endParaRPr>
          </a:p>
        </p:txBody>
      </p:sp>
      <p:sp>
        <p:nvSpPr>
          <p:cNvPr id="174" name="Google Shape;174;p8"/>
          <p:cNvSpPr txBox="1"/>
          <p:nvPr/>
        </p:nvSpPr>
        <p:spPr>
          <a:xfrm>
            <a:off x="9011412" y="5425005"/>
            <a:ext cx="914400" cy="16459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7D5B"/>
              </a:buClr>
              <a:buSzPts val="1100"/>
              <a:buFont typeface="Calibri"/>
              <a:buNone/>
            </a:pPr>
            <a:r>
              <a:rPr b="0" i="0" lang="en-US" sz="1100" u="none" cap="none" strike="noStrike">
                <a:solidFill>
                  <a:srgbClr val="2E7D5B"/>
                </a:solidFill>
                <a:latin typeface="Calibri"/>
                <a:ea typeface="Calibri"/>
                <a:cs typeface="Calibri"/>
                <a:sym typeface="Calibri"/>
              </a:rPr>
              <a:t>↓</a:t>
            </a:r>
            <a:endParaRPr b="0" i="0" sz="1100" u="none" cap="none" strike="noStrike">
              <a:solidFill>
                <a:schemeClr val="dk1"/>
              </a:solidFill>
              <a:latin typeface="Calibri"/>
              <a:ea typeface="Calibri"/>
              <a:cs typeface="Calibri"/>
              <a:sym typeface="Calibri"/>
            </a:endParaRPr>
          </a:p>
        </p:txBody>
      </p:sp>
      <p:sp>
        <p:nvSpPr>
          <p:cNvPr id="175" name="Google Shape;175;p8"/>
          <p:cNvSpPr/>
          <p:nvPr/>
        </p:nvSpPr>
        <p:spPr>
          <a:xfrm>
            <a:off x="7708392" y="5571309"/>
            <a:ext cx="3520440" cy="381435"/>
          </a:xfrm>
          <a:prstGeom prst="roundRect">
            <a:avLst>
              <a:gd fmla="val 14384" name="adj"/>
            </a:avLst>
          </a:prstGeom>
          <a:solidFill>
            <a:srgbClr val="FFFFFF"/>
          </a:solidFill>
          <a:ln cap="flat" cmpd="sng" w="12700">
            <a:solidFill>
              <a:srgbClr val="2E7D5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8"/>
          <p:cNvSpPr txBox="1"/>
          <p:nvPr/>
        </p:nvSpPr>
        <p:spPr>
          <a:xfrm>
            <a:off x="7799832" y="5571309"/>
            <a:ext cx="3337560" cy="381435"/>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7D5B"/>
              </a:buClr>
              <a:buSzPts val="1100"/>
              <a:buFont typeface="Calibri"/>
              <a:buNone/>
            </a:pPr>
            <a:r>
              <a:rPr b="1" i="0" lang="en-US" sz="1100" u="none" cap="none" strike="noStrike">
                <a:solidFill>
                  <a:srgbClr val="2E7D5B"/>
                </a:solidFill>
                <a:latin typeface="Calibri"/>
                <a:ea typeface="Calibri"/>
                <a:cs typeface="Calibri"/>
                <a:sym typeface="Calibri"/>
              </a:rPr>
              <a:t>Trả lời + reflection report</a:t>
            </a:r>
            <a:endParaRPr b="0" i="0" sz="1100" u="none" cap="none" strike="noStrike">
              <a:solidFill>
                <a:schemeClr val="dk1"/>
              </a:solidFill>
              <a:latin typeface="Calibri"/>
              <a:ea typeface="Calibri"/>
              <a:cs typeface="Calibri"/>
              <a:sym typeface="Calibri"/>
            </a:endParaRPr>
          </a:p>
        </p:txBody>
      </p:sp>
      <p:sp>
        <p:nvSpPr>
          <p:cNvPr id="177" name="Google Shape;177;p8"/>
          <p:cNvSpPr txBox="1"/>
          <p:nvPr/>
        </p:nvSpPr>
        <p:spPr>
          <a:xfrm>
            <a:off x="457200" y="6547104"/>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5"/>
              </a:buClr>
              <a:buSzPts val="900"/>
              <a:buFont typeface="Calibri"/>
              <a:buNone/>
            </a:pPr>
            <a:r>
              <a:rPr b="0" i="0" lang="en-US" sz="900" u="none" cap="none" strike="noStrike">
                <a:solidFill>
                  <a:srgbClr val="5B6B85"/>
                </a:solidFill>
                <a:latin typeface="Calibri"/>
                <a:ea typeface="Calibri"/>
                <a:cs typeface="Calibri"/>
                <a:sym typeface="Calibri"/>
              </a:rPr>
              <a:t>Self-RAG-Inspired Legal QA  ·  CS2308.CH203</a:t>
            </a:r>
            <a:endParaRPr b="0" i="0" sz="900" u="none" cap="none" strike="noStrike">
              <a:solidFill>
                <a:schemeClr val="dk1"/>
              </a:solidFill>
              <a:latin typeface="Calibri"/>
              <a:ea typeface="Calibri"/>
              <a:cs typeface="Calibri"/>
              <a:sym typeface="Calibri"/>
            </a:endParaRPr>
          </a:p>
        </p:txBody>
      </p:sp>
      <p:sp>
        <p:nvSpPr>
          <p:cNvPr id="178" name="Google Shape;178;p8"/>
          <p:cNvSpPr txBox="1"/>
          <p:nvPr/>
        </p:nvSpPr>
        <p:spPr>
          <a:xfrm>
            <a:off x="11274552" y="6547104"/>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B85"/>
              </a:buClr>
              <a:buSzPts val="900"/>
              <a:buFont typeface="Calibri"/>
              <a:buNone/>
            </a:pPr>
            <a:r>
              <a:rPr b="0" i="0" lang="en-US" sz="900" u="none" cap="none" strike="noStrike">
                <a:solidFill>
                  <a:srgbClr val="5B6B85"/>
                </a:solidFill>
                <a:latin typeface="Calibri"/>
                <a:ea typeface="Calibri"/>
                <a:cs typeface="Calibri"/>
                <a:sym typeface="Calibri"/>
              </a:rPr>
              <a:t>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3" name="Shape 183"/>
        <p:cNvGrpSpPr/>
        <p:nvPr/>
      </p:nvGrpSpPr>
      <p:grpSpPr>
        <a:xfrm>
          <a:off x="0" y="0"/>
          <a:ext cx="0" cy="0"/>
          <a:chOff x="0" y="0"/>
          <a:chExt cx="0" cy="0"/>
        </a:xfrm>
      </p:grpSpPr>
      <p:sp>
        <p:nvSpPr>
          <p:cNvPr id="184" name="Google Shape;184;p9"/>
          <p:cNvSpPr txBox="1"/>
          <p:nvPr/>
        </p:nvSpPr>
        <p:spPr>
          <a:xfrm>
            <a:off x="457200" y="320040"/>
            <a:ext cx="105156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1200"/>
              <a:buFont typeface="Calibri"/>
              <a:buNone/>
            </a:pPr>
            <a:r>
              <a:rPr b="1" i="0" lang="en-US" sz="1200" u="none" cap="none" strike="noStrike">
                <a:solidFill>
                  <a:srgbClr val="C9A227"/>
                </a:solidFill>
                <a:latin typeface="Calibri"/>
                <a:ea typeface="Calibri"/>
                <a:cs typeface="Calibri"/>
                <a:sym typeface="Calibri"/>
              </a:rPr>
              <a:t>03 · KIẾN TRÚC ĐỒ ÁN</a:t>
            </a:r>
            <a:endParaRPr b="0" i="0" sz="1200" u="none" cap="none" strike="noStrike">
              <a:solidFill>
                <a:schemeClr val="dk1"/>
              </a:solidFill>
              <a:latin typeface="Calibri"/>
              <a:ea typeface="Calibri"/>
              <a:cs typeface="Calibri"/>
              <a:sym typeface="Calibri"/>
            </a:endParaRPr>
          </a:p>
        </p:txBody>
      </p:sp>
      <p:sp>
        <p:nvSpPr>
          <p:cNvPr id="185" name="Google Shape;185;p9"/>
          <p:cNvSpPr txBox="1"/>
          <p:nvPr/>
        </p:nvSpPr>
        <p:spPr>
          <a:xfrm>
            <a:off x="457200" y="566928"/>
            <a:ext cx="1078992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A"/>
              </a:buClr>
              <a:buSzPts val="2800"/>
              <a:buFont typeface="Times New Roman"/>
              <a:buNone/>
            </a:pPr>
            <a:r>
              <a:rPr b="1" i="0" lang="en-US" sz="2800" u="none" cap="none" strike="noStrike">
                <a:solidFill>
                  <a:srgbClr val="1B2A4A"/>
                </a:solidFill>
                <a:latin typeface="Times New Roman"/>
                <a:ea typeface="Times New Roman"/>
                <a:cs typeface="Times New Roman"/>
                <a:sym typeface="Times New Roman"/>
              </a:rPr>
              <a:t>Self-RAG-inspired: thiết kế 4 module phản tư</a:t>
            </a:r>
            <a:endParaRPr b="0" i="0" sz="2800" u="none" cap="none" strike="noStrike">
              <a:solidFill>
                <a:schemeClr val="dk1"/>
              </a:solidFill>
              <a:latin typeface="Calibri"/>
              <a:ea typeface="Calibri"/>
              <a:cs typeface="Calibri"/>
              <a:sym typeface="Calibri"/>
            </a:endParaRPr>
          </a:p>
        </p:txBody>
      </p:sp>
      <p:sp>
        <p:nvSpPr>
          <p:cNvPr id="186" name="Google Shape;186;p9"/>
          <p:cNvSpPr txBox="1"/>
          <p:nvPr/>
        </p:nvSpPr>
        <p:spPr>
          <a:xfrm>
            <a:off x="457200" y="1298448"/>
            <a:ext cx="107899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5"/>
              </a:buClr>
              <a:buSzPts val="1250"/>
              <a:buFont typeface="Calibri"/>
              <a:buNone/>
            </a:pPr>
            <a:r>
              <a:rPr b="0" i="1" lang="en-US" sz="1250" u="none" cap="none" strike="noStrike">
                <a:solidFill>
                  <a:srgbClr val="5B6B85"/>
                </a:solidFill>
                <a:latin typeface="Calibri"/>
                <a:ea typeface="Calibri"/>
                <a:cs typeface="Calibri"/>
                <a:sym typeface="Calibri"/>
              </a:rPr>
              <a:t>Mỗi module = một lượt gọi LLM riêng biệt, yêu cầu JSON — không module nào là model được huấn luyện riêng.</a:t>
            </a:r>
            <a:endParaRPr b="0" i="0" sz="1250" u="none" cap="none" strike="noStrike">
              <a:solidFill>
                <a:schemeClr val="dk1"/>
              </a:solidFill>
              <a:latin typeface="Calibri"/>
              <a:ea typeface="Calibri"/>
              <a:cs typeface="Calibri"/>
              <a:sym typeface="Calibri"/>
            </a:endParaRPr>
          </a:p>
        </p:txBody>
      </p:sp>
      <p:graphicFrame>
        <p:nvGraphicFramePr>
          <p:cNvPr id="187" name="Google Shape;187;p9"/>
          <p:cNvGraphicFramePr/>
          <p:nvPr/>
        </p:nvGraphicFramePr>
        <p:xfrm>
          <a:off x="457200" y="1737360"/>
          <a:ext cx="3000000" cy="3000000"/>
        </p:xfrm>
        <a:graphic>
          <a:graphicData uri="http://schemas.openxmlformats.org/drawingml/2006/table">
            <a:tbl>
              <a:tblPr>
                <a:noFill/>
                <a:tableStyleId>{CF771489-7EA7-439F-9CA7-88DC3161A82E}</a:tableStyleId>
              </a:tblPr>
              <a:tblGrid>
                <a:gridCol w="1554475"/>
                <a:gridCol w="3657600"/>
                <a:gridCol w="6062475"/>
              </a:tblGrid>
              <a:tr h="384050">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Module</a:t>
                      </a:r>
                      <a:endParaRPr sz="1200" u="none" cap="none" strike="noStrike">
                        <a:latin typeface="Calibri"/>
                        <a:ea typeface="Calibri"/>
                        <a:cs typeface="Calibri"/>
                        <a:sym typeface="Calibri"/>
                      </a:endParaRPr>
                    </a:p>
                  </a:txBody>
                  <a:tcPr marT="45725" marB="45725" marR="91450" marL="91450" anchor="ctr">
                    <a:lnL cap="flat" cmpd="sng" w="9525">
                      <a:solidFill>
                        <a:srgbClr val="D8DEE9"/>
                      </a:solidFill>
                      <a:prstDash val="solid"/>
                      <a:round/>
                      <a:headEnd len="sm" w="sm" type="none"/>
                      <a:tailEnd len="sm" w="sm" type="none"/>
                    </a:lnL>
                    <a:lnR cap="flat" cmpd="sng" w="9525">
                      <a:solidFill>
                        <a:srgbClr val="D8DEE9"/>
                      </a:solidFill>
                      <a:prstDash val="solid"/>
                      <a:round/>
                      <a:headEnd len="sm" w="sm" type="none"/>
                      <a:tailEnd len="sm" w="sm" type="none"/>
                    </a:lnR>
                    <a:lnT cap="flat" cmpd="sng" w="9525">
                      <a:solidFill>
                        <a:srgbClr val="D8DEE9"/>
                      </a:solidFill>
                      <a:prstDash val="solid"/>
                      <a:round/>
                      <a:headEnd len="sm" w="sm" type="none"/>
                      <a:tailEnd len="sm" w="sm" type="none"/>
                    </a:lnT>
                    <a:lnB cap="flat" cmpd="sng" w="9525">
                      <a:solidFill>
                        <a:srgbClr val="D8DEE9"/>
                      </a:solidFill>
                      <a:prstDash val="solid"/>
                      <a:round/>
                      <a:headEnd len="sm" w="sm" type="none"/>
                      <a:tailEnd len="sm" w="sm" type="none"/>
                    </a:lnB>
                    <a:solidFill>
                      <a:srgbClr val="1B2A4A"/>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Input → Output</a:t>
                      </a:r>
                      <a:endParaRPr sz="1200" u="none" cap="none" strike="noStrike">
                        <a:latin typeface="Calibri"/>
                        <a:ea typeface="Calibri"/>
                        <a:cs typeface="Calibri"/>
                        <a:sym typeface="Calibri"/>
                      </a:endParaRPr>
                    </a:p>
                  </a:txBody>
                  <a:tcPr marT="45725" marB="45725" marR="91450" marL="91450" anchor="ctr">
                    <a:lnL cap="flat" cmpd="sng" w="9525">
                      <a:solidFill>
                        <a:srgbClr val="D8DEE9"/>
                      </a:solidFill>
                      <a:prstDash val="solid"/>
                      <a:round/>
                      <a:headEnd len="sm" w="sm" type="none"/>
                      <a:tailEnd len="sm" w="sm" type="none"/>
                    </a:lnL>
                    <a:lnR cap="flat" cmpd="sng" w="9525">
                      <a:solidFill>
                        <a:srgbClr val="D8DEE9"/>
                      </a:solidFill>
                      <a:prstDash val="solid"/>
                      <a:round/>
                      <a:headEnd len="sm" w="sm" type="none"/>
                      <a:tailEnd len="sm" w="sm" type="none"/>
                    </a:lnR>
                    <a:lnT cap="flat" cmpd="sng" w="9525">
                      <a:solidFill>
                        <a:srgbClr val="D8DEE9"/>
                      </a:solidFill>
                      <a:prstDash val="solid"/>
                      <a:round/>
                      <a:headEnd len="sm" w="sm" type="none"/>
                      <a:tailEnd len="sm" w="sm" type="none"/>
                    </a:lnT>
                    <a:lnB cap="flat" cmpd="sng" w="9525">
                      <a:solidFill>
                        <a:srgbClr val="D8DEE9"/>
                      </a:solidFill>
                      <a:prstDash val="solid"/>
                      <a:round/>
                      <a:headEnd len="sm" w="sm" type="none"/>
                      <a:tailEnd len="sm" w="sm" type="none"/>
                    </a:lnB>
                    <a:solidFill>
                      <a:srgbClr val="1B2A4A"/>
                    </a:solidFill>
                  </a:tcPr>
                </a:tc>
                <a:tc>
                  <a:txBody>
                    <a:bodyPr/>
                    <a:lstStyle/>
                    <a:p>
                      <a:pPr indent="0" lvl="0" marL="0" marR="0" rtl="0" algn="l">
                        <a:spcBef>
                          <a:spcPts val="0"/>
                        </a:spcBef>
                        <a:spcAft>
                          <a:spcPts val="0"/>
                        </a:spcAft>
                        <a:buClr>
                          <a:srgbClr val="FFFFFF"/>
                        </a:buClr>
                        <a:buSzPts val="1200"/>
                        <a:buFont typeface="Calibri"/>
                        <a:buNone/>
                      </a:pPr>
                      <a:r>
                        <a:rPr b="1" lang="en-US" sz="1200" u="none" cap="none" strike="noStrike">
                          <a:solidFill>
                            <a:srgbClr val="FFFFFF"/>
                          </a:solidFill>
                          <a:latin typeface="Calibri"/>
                          <a:ea typeface="Calibri"/>
                          <a:cs typeface="Calibri"/>
                          <a:sym typeface="Calibri"/>
                        </a:rPr>
                        <a:t>Lựa chọn thiết kế đáng chú ý</a:t>
                      </a:r>
                      <a:endParaRPr sz="1200" u="none" cap="none" strike="noStrike">
                        <a:latin typeface="Calibri"/>
                        <a:ea typeface="Calibri"/>
                        <a:cs typeface="Calibri"/>
                        <a:sym typeface="Calibri"/>
                      </a:endParaRPr>
                    </a:p>
                  </a:txBody>
                  <a:tcPr marT="45725" marB="45725" marR="91450" marL="91450" anchor="ctr">
                    <a:lnL cap="flat" cmpd="sng" w="9525">
                      <a:solidFill>
                        <a:srgbClr val="D8DEE9"/>
                      </a:solidFill>
                      <a:prstDash val="solid"/>
                      <a:round/>
                      <a:headEnd len="sm" w="sm" type="none"/>
                      <a:tailEnd len="sm" w="sm" type="none"/>
                    </a:lnL>
                    <a:lnR cap="flat" cmpd="sng" w="9525">
                      <a:solidFill>
                        <a:srgbClr val="D8DEE9"/>
                      </a:solidFill>
                      <a:prstDash val="solid"/>
                      <a:round/>
                      <a:headEnd len="sm" w="sm" type="none"/>
                      <a:tailEnd len="sm" w="sm" type="none"/>
                    </a:lnR>
                    <a:lnT cap="flat" cmpd="sng" w="9525">
                      <a:solidFill>
                        <a:srgbClr val="D8DEE9"/>
                      </a:solidFill>
                      <a:prstDash val="solid"/>
                      <a:round/>
                      <a:headEnd len="sm" w="sm" type="none"/>
                      <a:tailEnd len="sm" w="sm" type="none"/>
                    </a:lnT>
                    <a:lnB cap="flat" cmpd="sng" w="9525">
                      <a:solidFill>
                        <a:srgbClr val="D8DEE9"/>
                      </a:solidFill>
                      <a:prstDash val="solid"/>
                      <a:round/>
                      <a:headEnd len="sm" w="sm" type="none"/>
                      <a:tailEnd len="sm" w="sm" type="none"/>
                    </a:lnB>
                    <a:solidFill>
                      <a:srgbClr val="1B2A4A"/>
                    </a:solidFill>
                  </a:tcPr>
                </a:tc>
              </a:tr>
              <a:tr h="777250">
                <a:tc>
                  <a:txBody>
                    <a:bodyPr/>
                    <a:lstStyle/>
                    <a:p>
                      <a:pPr indent="0" lvl="0" marL="0" marR="0" rtl="0" algn="l">
                        <a:spcBef>
                          <a:spcPts val="0"/>
                        </a:spcBef>
                        <a:spcAft>
                          <a:spcPts val="0"/>
                        </a:spcAft>
                        <a:buClr>
                          <a:srgbClr val="3D5A80"/>
                        </a:buClr>
                        <a:buSzPts val="1200"/>
                        <a:buFont typeface="Calibri"/>
                        <a:buNone/>
                      </a:pPr>
                      <a:r>
                        <a:rPr b="1" lang="en-US" sz="1200" u="none" cap="none" strike="noStrike">
                          <a:solidFill>
                            <a:srgbClr val="3D5A80"/>
                          </a:solidFill>
                          <a:latin typeface="Calibri"/>
                          <a:ea typeface="Calibri"/>
                          <a:cs typeface="Calibri"/>
                          <a:sym typeface="Calibri"/>
                        </a:rPr>
                        <a:t>[RETRIEVE]</a:t>
                      </a:r>
                      <a:endParaRPr sz="1200" u="none" cap="none" strike="noStrike">
                        <a:latin typeface="Calibri"/>
                        <a:ea typeface="Calibri"/>
                        <a:cs typeface="Calibri"/>
                        <a:sym typeface="Calibri"/>
                      </a:endParaRPr>
                    </a:p>
                  </a:txBody>
                  <a:tcPr marT="45725" marB="45725" marR="91450" marL="91450" anchor="ctr">
                    <a:lnL cap="flat" cmpd="sng" w="9525">
                      <a:solidFill>
                        <a:srgbClr val="D8DEE9"/>
                      </a:solidFill>
                      <a:prstDash val="solid"/>
                      <a:round/>
                      <a:headEnd len="sm" w="sm" type="none"/>
                      <a:tailEnd len="sm" w="sm" type="none"/>
                    </a:lnL>
                    <a:lnR cap="flat" cmpd="sng" w="9525">
                      <a:solidFill>
                        <a:srgbClr val="D8DEE9"/>
                      </a:solidFill>
                      <a:prstDash val="solid"/>
                      <a:round/>
                      <a:headEnd len="sm" w="sm" type="none"/>
                      <a:tailEnd len="sm" w="sm" type="none"/>
                    </a:lnR>
                    <a:lnT cap="flat" cmpd="sng" w="9525">
                      <a:solidFill>
                        <a:srgbClr val="D8DEE9"/>
                      </a:solidFill>
                      <a:prstDash val="solid"/>
                      <a:round/>
                      <a:headEnd len="sm" w="sm" type="none"/>
                      <a:tailEnd len="sm" w="sm" type="none"/>
                    </a:lnT>
                    <a:lnB cap="flat" cmpd="sng" w="9525">
                      <a:solidFill>
                        <a:srgbClr val="D8DEE9"/>
                      </a:solidFill>
                      <a:prstDash val="solid"/>
                      <a:round/>
                      <a:headEnd len="sm" w="sm" type="none"/>
                      <a:tailEnd len="sm" w="sm" type="none"/>
                    </a:lnB>
                  </a:tcPr>
                </a:tc>
                <a:tc>
                  <a:txBody>
                    <a:bodyPr/>
                    <a:lstStyle/>
                    <a:p>
                      <a:pPr indent="0" lvl="0" marL="0" marR="0" rtl="0" algn="l">
                        <a:spcBef>
                          <a:spcPts val="0"/>
                        </a:spcBef>
                        <a:spcAft>
                          <a:spcPts val="0"/>
                        </a:spcAft>
                        <a:buClr>
                          <a:srgbClr val="1B2A4A"/>
                        </a:buClr>
                        <a:buSzPts val="1200"/>
                        <a:buFont typeface="Calibri"/>
                        <a:buNone/>
                      </a:pPr>
                      <a:r>
                        <a:rPr lang="en-US" sz="1200" u="none" cap="none" strike="noStrike">
                          <a:solidFill>
                            <a:srgbClr val="1B2A4A"/>
                          </a:solidFill>
                          <a:latin typeface="Calibri"/>
                          <a:ea typeface="Calibri"/>
                          <a:cs typeface="Calibri"/>
                          <a:sym typeface="Calibri"/>
                        </a:rPr>
                        <a:t>Câu hỏi → Yes/No/Continue</a:t>
                      </a:r>
                      <a:endParaRPr sz="1200" u="none" cap="none" strike="noStrike">
                        <a:latin typeface="Calibri"/>
                        <a:ea typeface="Calibri"/>
                        <a:cs typeface="Calibri"/>
                        <a:sym typeface="Calibri"/>
                      </a:endParaRPr>
                    </a:p>
                  </a:txBody>
                  <a:tcPr marT="45725" marB="45725" marR="91450" marL="91450" anchor="ctr">
                    <a:lnL cap="flat" cmpd="sng" w="9525">
                      <a:solidFill>
                        <a:srgbClr val="D8DEE9"/>
                      </a:solidFill>
                      <a:prstDash val="solid"/>
                      <a:round/>
                      <a:headEnd len="sm" w="sm" type="none"/>
                      <a:tailEnd len="sm" w="sm" type="none"/>
                    </a:lnL>
                    <a:lnR cap="flat" cmpd="sng" w="9525">
                      <a:solidFill>
                        <a:srgbClr val="D8DEE9"/>
                      </a:solidFill>
                      <a:prstDash val="solid"/>
                      <a:round/>
                      <a:headEnd len="sm" w="sm" type="none"/>
                      <a:tailEnd len="sm" w="sm" type="none"/>
                    </a:lnR>
                    <a:lnT cap="flat" cmpd="sng" w="9525">
                      <a:solidFill>
                        <a:srgbClr val="D8DEE9"/>
                      </a:solidFill>
                      <a:prstDash val="solid"/>
                      <a:round/>
                      <a:headEnd len="sm" w="sm" type="none"/>
                      <a:tailEnd len="sm" w="sm" type="none"/>
                    </a:lnT>
                    <a:lnB cap="flat" cmpd="sng" w="9525">
                      <a:solidFill>
                        <a:srgbClr val="D8DEE9"/>
                      </a:solidFill>
                      <a:prstDash val="solid"/>
                      <a:round/>
                      <a:headEnd len="sm" w="sm" type="none"/>
                      <a:tailEnd len="sm" w="sm" type="none"/>
                    </a:lnB>
                  </a:tcPr>
                </a:tc>
                <a:tc>
                  <a:txBody>
                    <a:bodyPr/>
                    <a:lstStyle/>
                    <a:p>
                      <a:pPr indent="0" lvl="0" marL="0" marR="0" rtl="0" algn="l">
                        <a:spcBef>
                          <a:spcPts val="0"/>
                        </a:spcBef>
                        <a:spcAft>
                          <a:spcPts val="0"/>
                        </a:spcAft>
                        <a:buClr>
                          <a:srgbClr val="1B2A4A"/>
                        </a:buClr>
                        <a:buSzPts val="1200"/>
                        <a:buFont typeface="Calibri"/>
                        <a:buNone/>
                      </a:pPr>
                      <a:r>
                        <a:rPr lang="en-US" sz="1200" u="none" cap="none" strike="noStrike">
                          <a:solidFill>
                            <a:srgbClr val="1B2A4A"/>
                          </a:solidFill>
                          <a:latin typeface="Calibri"/>
                          <a:ea typeface="Calibri"/>
                          <a:cs typeface="Calibri"/>
                          <a:sym typeface="Calibri"/>
                        </a:rPr>
                        <a:t>Mặc định RETRIEVE khi không parse được — thiên lệch an toàn, tránh bỏ sót bằng chứng</a:t>
                      </a:r>
                      <a:endParaRPr sz="1200" u="none" cap="none" strike="noStrike">
                        <a:latin typeface="Calibri"/>
                        <a:ea typeface="Calibri"/>
                        <a:cs typeface="Calibri"/>
                        <a:sym typeface="Calibri"/>
                      </a:endParaRPr>
                    </a:p>
                  </a:txBody>
                  <a:tcPr marT="45725" marB="45725" marR="91450" marL="91450" anchor="ctr">
                    <a:lnL cap="flat" cmpd="sng" w="9525">
                      <a:solidFill>
                        <a:srgbClr val="D8DEE9"/>
                      </a:solidFill>
                      <a:prstDash val="solid"/>
                      <a:round/>
                      <a:headEnd len="sm" w="sm" type="none"/>
                      <a:tailEnd len="sm" w="sm" type="none"/>
                    </a:lnL>
                    <a:lnR cap="flat" cmpd="sng" w="9525">
                      <a:solidFill>
                        <a:srgbClr val="D8DEE9"/>
                      </a:solidFill>
                      <a:prstDash val="solid"/>
                      <a:round/>
                      <a:headEnd len="sm" w="sm" type="none"/>
                      <a:tailEnd len="sm" w="sm" type="none"/>
                    </a:lnR>
                    <a:lnT cap="flat" cmpd="sng" w="9525">
                      <a:solidFill>
                        <a:srgbClr val="D8DEE9"/>
                      </a:solidFill>
                      <a:prstDash val="solid"/>
                      <a:round/>
                      <a:headEnd len="sm" w="sm" type="none"/>
                      <a:tailEnd len="sm" w="sm" type="none"/>
                    </a:lnT>
                    <a:lnB cap="flat" cmpd="sng" w="9525">
                      <a:solidFill>
                        <a:srgbClr val="D8DEE9"/>
                      </a:solidFill>
                      <a:prstDash val="solid"/>
                      <a:round/>
                      <a:headEnd len="sm" w="sm" type="none"/>
                      <a:tailEnd len="sm" w="sm" type="none"/>
                    </a:lnB>
                  </a:tcPr>
                </a:tc>
              </a:tr>
              <a:tr h="777250">
                <a:tc>
                  <a:txBody>
                    <a:bodyPr/>
                    <a:lstStyle/>
                    <a:p>
                      <a:pPr indent="0" lvl="0" marL="0" marR="0" rtl="0" algn="l">
                        <a:spcBef>
                          <a:spcPts val="0"/>
                        </a:spcBef>
                        <a:spcAft>
                          <a:spcPts val="0"/>
                        </a:spcAft>
                        <a:buClr>
                          <a:srgbClr val="3D5A80"/>
                        </a:buClr>
                        <a:buSzPts val="1200"/>
                        <a:buFont typeface="Calibri"/>
                        <a:buNone/>
                      </a:pPr>
                      <a:r>
                        <a:rPr b="1" lang="en-US" sz="1200" u="none" cap="none" strike="noStrike">
                          <a:solidFill>
                            <a:srgbClr val="3D5A80"/>
                          </a:solidFill>
                          <a:latin typeface="Calibri"/>
                          <a:ea typeface="Calibri"/>
                          <a:cs typeface="Calibri"/>
                          <a:sym typeface="Calibri"/>
                        </a:rPr>
                        <a:t>[ISREL]</a:t>
                      </a:r>
                      <a:endParaRPr sz="1200" u="none" cap="none" strike="noStrike">
                        <a:latin typeface="Calibri"/>
                        <a:ea typeface="Calibri"/>
                        <a:cs typeface="Calibri"/>
                        <a:sym typeface="Calibri"/>
                      </a:endParaRPr>
                    </a:p>
                  </a:txBody>
                  <a:tcPr marT="45725" marB="45725" marR="91450" marL="91450" anchor="ctr">
                    <a:lnL cap="flat" cmpd="sng" w="9525">
                      <a:solidFill>
                        <a:srgbClr val="D8DEE9"/>
                      </a:solidFill>
                      <a:prstDash val="solid"/>
                      <a:round/>
                      <a:headEnd len="sm" w="sm" type="none"/>
                      <a:tailEnd len="sm" w="sm" type="none"/>
                    </a:lnL>
                    <a:lnR cap="flat" cmpd="sng" w="9525">
                      <a:solidFill>
                        <a:srgbClr val="D8DEE9"/>
                      </a:solidFill>
                      <a:prstDash val="solid"/>
                      <a:round/>
                      <a:headEnd len="sm" w="sm" type="none"/>
                      <a:tailEnd len="sm" w="sm" type="none"/>
                    </a:lnR>
                    <a:lnT cap="flat" cmpd="sng" w="9525">
                      <a:solidFill>
                        <a:srgbClr val="D8DEE9"/>
                      </a:solidFill>
                      <a:prstDash val="solid"/>
                      <a:round/>
                      <a:headEnd len="sm" w="sm" type="none"/>
                      <a:tailEnd len="sm" w="sm" type="none"/>
                    </a:lnT>
                    <a:lnB cap="flat" cmpd="sng" w="9525">
                      <a:solidFill>
                        <a:srgbClr val="D8DEE9"/>
                      </a:solidFill>
                      <a:prstDash val="solid"/>
                      <a:round/>
                      <a:headEnd len="sm" w="sm" type="none"/>
                      <a:tailEnd len="sm" w="sm" type="none"/>
                    </a:lnB>
                  </a:tcPr>
                </a:tc>
                <a:tc>
                  <a:txBody>
                    <a:bodyPr/>
                    <a:lstStyle/>
                    <a:p>
                      <a:pPr indent="0" lvl="0" marL="0" marR="0" rtl="0" algn="l">
                        <a:spcBef>
                          <a:spcPts val="0"/>
                        </a:spcBef>
                        <a:spcAft>
                          <a:spcPts val="0"/>
                        </a:spcAft>
                        <a:buClr>
                          <a:srgbClr val="1B2A4A"/>
                        </a:buClr>
                        <a:buSzPts val="1200"/>
                        <a:buFont typeface="Calibri"/>
                        <a:buNone/>
                      </a:pPr>
                      <a:r>
                        <a:rPr lang="en-US" sz="1200" u="none" cap="none" strike="noStrike">
                          <a:solidFill>
                            <a:srgbClr val="1B2A4A"/>
                          </a:solidFill>
                          <a:latin typeface="Calibri"/>
                          <a:ea typeface="Calibri"/>
                          <a:cs typeface="Calibri"/>
                          <a:sym typeface="Calibri"/>
                        </a:rPr>
                        <a:t>(Câu hỏi, đoạn) → Relevant/Irrelevant</a:t>
                      </a:r>
                      <a:endParaRPr sz="1200" u="none" cap="none" strike="noStrike">
                        <a:latin typeface="Calibri"/>
                        <a:ea typeface="Calibri"/>
                        <a:cs typeface="Calibri"/>
                        <a:sym typeface="Calibri"/>
                      </a:endParaRPr>
                    </a:p>
                  </a:txBody>
                  <a:tcPr marT="45725" marB="45725" marR="91450" marL="91450" anchor="ctr">
                    <a:lnL cap="flat" cmpd="sng" w="9525">
                      <a:solidFill>
                        <a:srgbClr val="D8DEE9"/>
                      </a:solidFill>
                      <a:prstDash val="solid"/>
                      <a:round/>
                      <a:headEnd len="sm" w="sm" type="none"/>
                      <a:tailEnd len="sm" w="sm" type="none"/>
                    </a:lnL>
                    <a:lnR cap="flat" cmpd="sng" w="9525">
                      <a:solidFill>
                        <a:srgbClr val="D8DEE9"/>
                      </a:solidFill>
                      <a:prstDash val="solid"/>
                      <a:round/>
                      <a:headEnd len="sm" w="sm" type="none"/>
                      <a:tailEnd len="sm" w="sm" type="none"/>
                    </a:lnR>
                    <a:lnT cap="flat" cmpd="sng" w="9525">
                      <a:solidFill>
                        <a:srgbClr val="D8DEE9"/>
                      </a:solidFill>
                      <a:prstDash val="solid"/>
                      <a:round/>
                      <a:headEnd len="sm" w="sm" type="none"/>
                      <a:tailEnd len="sm" w="sm" type="none"/>
                    </a:lnT>
                    <a:lnB cap="flat" cmpd="sng" w="9525">
                      <a:solidFill>
                        <a:srgbClr val="D8DEE9"/>
                      </a:solidFill>
                      <a:prstDash val="solid"/>
                      <a:round/>
                      <a:headEnd len="sm" w="sm" type="none"/>
                      <a:tailEnd len="sm" w="sm" type="none"/>
                    </a:lnB>
                  </a:tcPr>
                </a:tc>
                <a:tc>
                  <a:txBody>
                    <a:bodyPr/>
                    <a:lstStyle/>
                    <a:p>
                      <a:pPr indent="0" lvl="0" marL="0" marR="0" rtl="0" algn="l">
                        <a:spcBef>
                          <a:spcPts val="0"/>
                        </a:spcBef>
                        <a:spcAft>
                          <a:spcPts val="0"/>
                        </a:spcAft>
                        <a:buClr>
                          <a:srgbClr val="1B2A4A"/>
                        </a:buClr>
                        <a:buSzPts val="1200"/>
                        <a:buFont typeface="Calibri"/>
                        <a:buNone/>
                      </a:pPr>
                      <a:r>
                        <a:rPr lang="en-US" sz="1200" u="none" cap="none" strike="noStrike">
                          <a:solidFill>
                            <a:srgbClr val="1B2A4A"/>
                          </a:solidFill>
                          <a:latin typeface="Calibri"/>
                          <a:ea typeface="Calibri"/>
                          <a:cs typeface="Calibri"/>
                          <a:sym typeface="Calibri"/>
                        </a:rPr>
                        <a:t>Đánh giá theo lô (batched) cho tất cả đoạn trong 1 lượt gọi; mục lỗi mặc định RELEVANT (an toàn)</a:t>
                      </a:r>
                      <a:endParaRPr sz="1200" u="none" cap="none" strike="noStrike">
                        <a:latin typeface="Calibri"/>
                        <a:ea typeface="Calibri"/>
                        <a:cs typeface="Calibri"/>
                        <a:sym typeface="Calibri"/>
                      </a:endParaRPr>
                    </a:p>
                  </a:txBody>
                  <a:tcPr marT="45725" marB="45725" marR="91450" marL="91450" anchor="ctr">
                    <a:lnL cap="flat" cmpd="sng" w="9525">
                      <a:solidFill>
                        <a:srgbClr val="D8DEE9"/>
                      </a:solidFill>
                      <a:prstDash val="solid"/>
                      <a:round/>
                      <a:headEnd len="sm" w="sm" type="none"/>
                      <a:tailEnd len="sm" w="sm" type="none"/>
                    </a:lnL>
                    <a:lnR cap="flat" cmpd="sng" w="9525">
                      <a:solidFill>
                        <a:srgbClr val="D8DEE9"/>
                      </a:solidFill>
                      <a:prstDash val="solid"/>
                      <a:round/>
                      <a:headEnd len="sm" w="sm" type="none"/>
                      <a:tailEnd len="sm" w="sm" type="none"/>
                    </a:lnR>
                    <a:lnT cap="flat" cmpd="sng" w="9525">
                      <a:solidFill>
                        <a:srgbClr val="D8DEE9"/>
                      </a:solidFill>
                      <a:prstDash val="solid"/>
                      <a:round/>
                      <a:headEnd len="sm" w="sm" type="none"/>
                      <a:tailEnd len="sm" w="sm" type="none"/>
                    </a:lnT>
                    <a:lnB cap="flat" cmpd="sng" w="9525">
                      <a:solidFill>
                        <a:srgbClr val="D8DEE9"/>
                      </a:solidFill>
                      <a:prstDash val="solid"/>
                      <a:round/>
                      <a:headEnd len="sm" w="sm" type="none"/>
                      <a:tailEnd len="sm" w="sm" type="none"/>
                    </a:lnB>
                  </a:tcPr>
                </a:tc>
              </a:tr>
              <a:tr h="868675">
                <a:tc>
                  <a:txBody>
                    <a:bodyPr/>
                    <a:lstStyle/>
                    <a:p>
                      <a:pPr indent="0" lvl="0" marL="0" marR="0" rtl="0" algn="l">
                        <a:spcBef>
                          <a:spcPts val="0"/>
                        </a:spcBef>
                        <a:spcAft>
                          <a:spcPts val="0"/>
                        </a:spcAft>
                        <a:buClr>
                          <a:srgbClr val="3D5A80"/>
                        </a:buClr>
                        <a:buSzPts val="1200"/>
                        <a:buFont typeface="Calibri"/>
                        <a:buNone/>
                      </a:pPr>
                      <a:r>
                        <a:rPr b="1" lang="en-US" sz="1200" u="none" cap="none" strike="noStrike">
                          <a:solidFill>
                            <a:srgbClr val="3D5A80"/>
                          </a:solidFill>
                          <a:latin typeface="Calibri"/>
                          <a:ea typeface="Calibri"/>
                          <a:cs typeface="Calibri"/>
                          <a:sym typeface="Calibri"/>
                        </a:rPr>
                        <a:t>Generate</a:t>
                      </a:r>
                      <a:endParaRPr sz="1200" u="none" cap="none" strike="noStrike">
                        <a:latin typeface="Calibri"/>
                        <a:ea typeface="Calibri"/>
                        <a:cs typeface="Calibri"/>
                        <a:sym typeface="Calibri"/>
                      </a:endParaRPr>
                    </a:p>
                  </a:txBody>
                  <a:tcPr marT="45725" marB="45725" marR="91450" marL="91450" anchor="ctr">
                    <a:lnL cap="flat" cmpd="sng" w="9525">
                      <a:solidFill>
                        <a:srgbClr val="D8DEE9"/>
                      </a:solidFill>
                      <a:prstDash val="solid"/>
                      <a:round/>
                      <a:headEnd len="sm" w="sm" type="none"/>
                      <a:tailEnd len="sm" w="sm" type="none"/>
                    </a:lnL>
                    <a:lnR cap="flat" cmpd="sng" w="9525">
                      <a:solidFill>
                        <a:srgbClr val="D8DEE9"/>
                      </a:solidFill>
                      <a:prstDash val="solid"/>
                      <a:round/>
                      <a:headEnd len="sm" w="sm" type="none"/>
                      <a:tailEnd len="sm" w="sm" type="none"/>
                    </a:lnR>
                    <a:lnT cap="flat" cmpd="sng" w="9525">
                      <a:solidFill>
                        <a:srgbClr val="D8DEE9"/>
                      </a:solidFill>
                      <a:prstDash val="solid"/>
                      <a:round/>
                      <a:headEnd len="sm" w="sm" type="none"/>
                      <a:tailEnd len="sm" w="sm" type="none"/>
                    </a:lnT>
                    <a:lnB cap="flat" cmpd="sng" w="9525">
                      <a:solidFill>
                        <a:srgbClr val="D8DEE9"/>
                      </a:solidFill>
                      <a:prstDash val="solid"/>
                      <a:round/>
                      <a:headEnd len="sm" w="sm" type="none"/>
                      <a:tailEnd len="sm" w="sm" type="none"/>
                    </a:lnB>
                  </a:tcPr>
                </a:tc>
                <a:tc>
                  <a:txBody>
                    <a:bodyPr/>
                    <a:lstStyle/>
                    <a:p>
                      <a:pPr indent="0" lvl="0" marL="0" marR="0" rtl="0" algn="l">
                        <a:spcBef>
                          <a:spcPts val="0"/>
                        </a:spcBef>
                        <a:spcAft>
                          <a:spcPts val="0"/>
                        </a:spcAft>
                        <a:buClr>
                          <a:srgbClr val="1B2A4A"/>
                        </a:buClr>
                        <a:buSzPts val="1200"/>
                        <a:buFont typeface="Calibri"/>
                        <a:buNone/>
                      </a:pPr>
                      <a:r>
                        <a:rPr lang="en-US" sz="1200" u="none" cap="none" strike="noStrike">
                          <a:solidFill>
                            <a:srgbClr val="1B2A4A"/>
                          </a:solidFill>
                          <a:latin typeface="Calibri"/>
                          <a:ea typeface="Calibri"/>
                          <a:cs typeface="Calibri"/>
                          <a:sym typeface="Calibri"/>
                        </a:rPr>
                        <a:t>(Câu hỏi, evidence còn lại) → Câu trả lời</a:t>
                      </a:r>
                      <a:endParaRPr sz="1200" u="none" cap="none" strike="noStrike">
                        <a:latin typeface="Calibri"/>
                        <a:ea typeface="Calibri"/>
                        <a:cs typeface="Calibri"/>
                        <a:sym typeface="Calibri"/>
                      </a:endParaRPr>
                    </a:p>
                  </a:txBody>
                  <a:tcPr marT="45725" marB="45725" marR="91450" marL="91450" anchor="ctr">
                    <a:lnL cap="flat" cmpd="sng" w="9525">
                      <a:solidFill>
                        <a:srgbClr val="D8DEE9"/>
                      </a:solidFill>
                      <a:prstDash val="solid"/>
                      <a:round/>
                      <a:headEnd len="sm" w="sm" type="none"/>
                      <a:tailEnd len="sm" w="sm" type="none"/>
                    </a:lnL>
                    <a:lnR cap="flat" cmpd="sng" w="9525">
                      <a:solidFill>
                        <a:srgbClr val="D8DEE9"/>
                      </a:solidFill>
                      <a:prstDash val="solid"/>
                      <a:round/>
                      <a:headEnd len="sm" w="sm" type="none"/>
                      <a:tailEnd len="sm" w="sm" type="none"/>
                    </a:lnR>
                    <a:lnT cap="flat" cmpd="sng" w="9525">
                      <a:solidFill>
                        <a:srgbClr val="D8DEE9"/>
                      </a:solidFill>
                      <a:prstDash val="solid"/>
                      <a:round/>
                      <a:headEnd len="sm" w="sm" type="none"/>
                      <a:tailEnd len="sm" w="sm" type="none"/>
                    </a:lnT>
                    <a:lnB cap="flat" cmpd="sng" w="9525">
                      <a:solidFill>
                        <a:srgbClr val="D8DEE9"/>
                      </a:solidFill>
                      <a:prstDash val="solid"/>
                      <a:round/>
                      <a:headEnd len="sm" w="sm" type="none"/>
                      <a:tailEnd len="sm" w="sm" type="none"/>
                    </a:lnB>
                  </a:tcPr>
                </a:tc>
                <a:tc>
                  <a:txBody>
                    <a:bodyPr/>
                    <a:lstStyle/>
                    <a:p>
                      <a:pPr indent="0" lvl="0" marL="0" marR="0" rtl="0" algn="l">
                        <a:spcBef>
                          <a:spcPts val="0"/>
                        </a:spcBef>
                        <a:spcAft>
                          <a:spcPts val="0"/>
                        </a:spcAft>
                        <a:buClr>
                          <a:srgbClr val="1B2A4A"/>
                        </a:buClr>
                        <a:buSzPts val="1200"/>
                        <a:buFont typeface="Calibri"/>
                        <a:buNone/>
                      </a:pPr>
                      <a:r>
                        <a:rPr lang="en-US" sz="1200" u="none" cap="none" strike="noStrike">
                          <a:solidFill>
                            <a:srgbClr val="1B2A4A"/>
                          </a:solidFill>
                          <a:latin typeface="Calibri"/>
                          <a:ea typeface="Calibri"/>
                          <a:cs typeface="Calibri"/>
                          <a:sym typeface="Calibri"/>
                        </a:rPr>
                        <a:t>Chọn 1 trong 2 prompt thích ứng: có ngữ cảnh (còn evidence) hoặc không-ngữ-cảnh (RETRIEVE=No hoặc ISREL lọc hết)</a:t>
                      </a:r>
                      <a:endParaRPr sz="1200" u="none" cap="none" strike="noStrike">
                        <a:latin typeface="Calibri"/>
                        <a:ea typeface="Calibri"/>
                        <a:cs typeface="Calibri"/>
                        <a:sym typeface="Calibri"/>
                      </a:endParaRPr>
                    </a:p>
                  </a:txBody>
                  <a:tcPr marT="45725" marB="45725" marR="91450" marL="91450" anchor="ctr">
                    <a:lnL cap="flat" cmpd="sng" w="9525">
                      <a:solidFill>
                        <a:srgbClr val="D8DEE9"/>
                      </a:solidFill>
                      <a:prstDash val="solid"/>
                      <a:round/>
                      <a:headEnd len="sm" w="sm" type="none"/>
                      <a:tailEnd len="sm" w="sm" type="none"/>
                    </a:lnL>
                    <a:lnR cap="flat" cmpd="sng" w="9525">
                      <a:solidFill>
                        <a:srgbClr val="D8DEE9"/>
                      </a:solidFill>
                      <a:prstDash val="solid"/>
                      <a:round/>
                      <a:headEnd len="sm" w="sm" type="none"/>
                      <a:tailEnd len="sm" w="sm" type="none"/>
                    </a:lnR>
                    <a:lnT cap="flat" cmpd="sng" w="9525">
                      <a:solidFill>
                        <a:srgbClr val="D8DEE9"/>
                      </a:solidFill>
                      <a:prstDash val="solid"/>
                      <a:round/>
                      <a:headEnd len="sm" w="sm" type="none"/>
                      <a:tailEnd len="sm" w="sm" type="none"/>
                    </a:lnT>
                    <a:lnB cap="flat" cmpd="sng" w="9525">
                      <a:solidFill>
                        <a:srgbClr val="D8DEE9"/>
                      </a:solidFill>
                      <a:prstDash val="solid"/>
                      <a:round/>
                      <a:headEnd len="sm" w="sm" type="none"/>
                      <a:tailEnd len="sm" w="sm" type="none"/>
                    </a:lnB>
                  </a:tcPr>
                </a:tc>
              </a:tr>
              <a:tr h="731525">
                <a:tc>
                  <a:txBody>
                    <a:bodyPr/>
                    <a:lstStyle/>
                    <a:p>
                      <a:pPr indent="0" lvl="0" marL="0" marR="0" rtl="0" algn="l">
                        <a:spcBef>
                          <a:spcPts val="0"/>
                        </a:spcBef>
                        <a:spcAft>
                          <a:spcPts val="0"/>
                        </a:spcAft>
                        <a:buClr>
                          <a:srgbClr val="3D5A80"/>
                        </a:buClr>
                        <a:buSzPts val="1200"/>
                        <a:buFont typeface="Calibri"/>
                        <a:buNone/>
                      </a:pPr>
                      <a:r>
                        <a:rPr b="1" lang="en-US" sz="1200" u="none" cap="none" strike="noStrike">
                          <a:solidFill>
                            <a:srgbClr val="3D5A80"/>
                          </a:solidFill>
                          <a:latin typeface="Calibri"/>
                          <a:ea typeface="Calibri"/>
                          <a:cs typeface="Calibri"/>
                          <a:sym typeface="Calibri"/>
                        </a:rPr>
                        <a:t>[ISSUP]</a:t>
                      </a:r>
                      <a:endParaRPr sz="1200" u="none" cap="none" strike="noStrike">
                        <a:latin typeface="Calibri"/>
                        <a:ea typeface="Calibri"/>
                        <a:cs typeface="Calibri"/>
                        <a:sym typeface="Calibri"/>
                      </a:endParaRPr>
                    </a:p>
                  </a:txBody>
                  <a:tcPr marT="45725" marB="45725" marR="91450" marL="91450" anchor="ctr">
                    <a:lnL cap="flat" cmpd="sng" w="9525">
                      <a:solidFill>
                        <a:srgbClr val="D8DEE9"/>
                      </a:solidFill>
                      <a:prstDash val="solid"/>
                      <a:round/>
                      <a:headEnd len="sm" w="sm" type="none"/>
                      <a:tailEnd len="sm" w="sm" type="none"/>
                    </a:lnL>
                    <a:lnR cap="flat" cmpd="sng" w="9525">
                      <a:solidFill>
                        <a:srgbClr val="D8DEE9"/>
                      </a:solidFill>
                      <a:prstDash val="solid"/>
                      <a:round/>
                      <a:headEnd len="sm" w="sm" type="none"/>
                      <a:tailEnd len="sm" w="sm" type="none"/>
                    </a:lnR>
                    <a:lnT cap="flat" cmpd="sng" w="9525">
                      <a:solidFill>
                        <a:srgbClr val="D8DEE9"/>
                      </a:solidFill>
                      <a:prstDash val="solid"/>
                      <a:round/>
                      <a:headEnd len="sm" w="sm" type="none"/>
                      <a:tailEnd len="sm" w="sm" type="none"/>
                    </a:lnT>
                    <a:lnB cap="flat" cmpd="sng" w="9525">
                      <a:solidFill>
                        <a:srgbClr val="D8DEE9"/>
                      </a:solidFill>
                      <a:prstDash val="solid"/>
                      <a:round/>
                      <a:headEnd len="sm" w="sm" type="none"/>
                      <a:tailEnd len="sm" w="sm" type="none"/>
                    </a:lnB>
                  </a:tcPr>
                </a:tc>
                <a:tc>
                  <a:txBody>
                    <a:bodyPr/>
                    <a:lstStyle/>
                    <a:p>
                      <a:pPr indent="0" lvl="0" marL="0" marR="0" rtl="0" algn="l">
                        <a:spcBef>
                          <a:spcPts val="0"/>
                        </a:spcBef>
                        <a:spcAft>
                          <a:spcPts val="0"/>
                        </a:spcAft>
                        <a:buClr>
                          <a:srgbClr val="1B2A4A"/>
                        </a:buClr>
                        <a:buSzPts val="1200"/>
                        <a:buFont typeface="Calibri"/>
                        <a:buNone/>
                      </a:pPr>
                      <a:r>
                        <a:rPr lang="en-US" sz="1200" u="none" cap="none" strike="noStrike">
                          <a:solidFill>
                            <a:srgbClr val="1B2A4A"/>
                          </a:solidFill>
                          <a:latin typeface="Calibri"/>
                          <a:ea typeface="Calibri"/>
                          <a:cs typeface="Calibri"/>
                          <a:sym typeface="Calibri"/>
                        </a:rPr>
                        <a:t>(Câu trả lời, trích dẫn) → Fully/Partially/No</a:t>
                      </a:r>
                      <a:endParaRPr sz="1200" u="none" cap="none" strike="noStrike">
                        <a:latin typeface="Calibri"/>
                        <a:ea typeface="Calibri"/>
                        <a:cs typeface="Calibri"/>
                        <a:sym typeface="Calibri"/>
                      </a:endParaRPr>
                    </a:p>
                  </a:txBody>
                  <a:tcPr marT="45725" marB="45725" marR="91450" marL="91450" anchor="ctr">
                    <a:lnL cap="flat" cmpd="sng" w="9525">
                      <a:solidFill>
                        <a:srgbClr val="D8DEE9"/>
                      </a:solidFill>
                      <a:prstDash val="solid"/>
                      <a:round/>
                      <a:headEnd len="sm" w="sm" type="none"/>
                      <a:tailEnd len="sm" w="sm" type="none"/>
                    </a:lnL>
                    <a:lnR cap="flat" cmpd="sng" w="9525">
                      <a:solidFill>
                        <a:srgbClr val="D8DEE9"/>
                      </a:solidFill>
                      <a:prstDash val="solid"/>
                      <a:round/>
                      <a:headEnd len="sm" w="sm" type="none"/>
                      <a:tailEnd len="sm" w="sm" type="none"/>
                    </a:lnR>
                    <a:lnT cap="flat" cmpd="sng" w="9525">
                      <a:solidFill>
                        <a:srgbClr val="D8DEE9"/>
                      </a:solidFill>
                      <a:prstDash val="solid"/>
                      <a:round/>
                      <a:headEnd len="sm" w="sm" type="none"/>
                      <a:tailEnd len="sm" w="sm" type="none"/>
                    </a:lnT>
                    <a:lnB cap="flat" cmpd="sng" w="9525">
                      <a:solidFill>
                        <a:srgbClr val="D8DEE9"/>
                      </a:solidFill>
                      <a:prstDash val="solid"/>
                      <a:round/>
                      <a:headEnd len="sm" w="sm" type="none"/>
                      <a:tailEnd len="sm" w="sm" type="none"/>
                    </a:lnB>
                  </a:tcPr>
                </a:tc>
                <a:tc>
                  <a:txBody>
                    <a:bodyPr/>
                    <a:lstStyle/>
                    <a:p>
                      <a:pPr indent="0" lvl="0" marL="0" marR="0" rtl="0" algn="l">
                        <a:spcBef>
                          <a:spcPts val="0"/>
                        </a:spcBef>
                        <a:spcAft>
                          <a:spcPts val="0"/>
                        </a:spcAft>
                        <a:buClr>
                          <a:srgbClr val="1B2A4A"/>
                        </a:buClr>
                        <a:buSzPts val="1200"/>
                        <a:buFont typeface="Calibri"/>
                        <a:buNone/>
                      </a:pPr>
                      <a:r>
                        <a:rPr lang="en-US" sz="1200" u="none" cap="none" strike="noStrike">
                          <a:solidFill>
                            <a:srgbClr val="1B2A4A"/>
                          </a:solidFill>
                          <a:latin typeface="Calibri"/>
                          <a:ea typeface="Calibri"/>
                          <a:cs typeface="Calibri"/>
                          <a:sym typeface="Calibri"/>
                        </a:rPr>
                        <a:t>Chỉ gọi khi còn ≥1 đoạn liên quan; nếu không → gán thẳng NOT_APPLICABLE</a:t>
                      </a:r>
                      <a:endParaRPr sz="1200" u="none" cap="none" strike="noStrike">
                        <a:latin typeface="Calibri"/>
                        <a:ea typeface="Calibri"/>
                        <a:cs typeface="Calibri"/>
                        <a:sym typeface="Calibri"/>
                      </a:endParaRPr>
                    </a:p>
                  </a:txBody>
                  <a:tcPr marT="45725" marB="45725" marR="91450" marL="91450" anchor="ctr">
                    <a:lnL cap="flat" cmpd="sng" w="9525">
                      <a:solidFill>
                        <a:srgbClr val="D8DEE9"/>
                      </a:solidFill>
                      <a:prstDash val="solid"/>
                      <a:round/>
                      <a:headEnd len="sm" w="sm" type="none"/>
                      <a:tailEnd len="sm" w="sm" type="none"/>
                    </a:lnL>
                    <a:lnR cap="flat" cmpd="sng" w="9525">
                      <a:solidFill>
                        <a:srgbClr val="D8DEE9"/>
                      </a:solidFill>
                      <a:prstDash val="solid"/>
                      <a:round/>
                      <a:headEnd len="sm" w="sm" type="none"/>
                      <a:tailEnd len="sm" w="sm" type="none"/>
                    </a:lnR>
                    <a:lnT cap="flat" cmpd="sng" w="9525">
                      <a:solidFill>
                        <a:srgbClr val="D8DEE9"/>
                      </a:solidFill>
                      <a:prstDash val="solid"/>
                      <a:round/>
                      <a:headEnd len="sm" w="sm" type="none"/>
                      <a:tailEnd len="sm" w="sm" type="none"/>
                    </a:lnT>
                    <a:lnB cap="flat" cmpd="sng" w="9525">
                      <a:solidFill>
                        <a:srgbClr val="D8DEE9"/>
                      </a:solidFill>
                      <a:prstDash val="solid"/>
                      <a:round/>
                      <a:headEnd len="sm" w="sm" type="none"/>
                      <a:tailEnd len="sm" w="sm" type="none"/>
                    </a:lnB>
                  </a:tcPr>
                </a:tc>
              </a:tr>
              <a:tr h="731525">
                <a:tc>
                  <a:txBody>
                    <a:bodyPr/>
                    <a:lstStyle/>
                    <a:p>
                      <a:pPr indent="0" lvl="0" marL="0" marR="0" rtl="0" algn="l">
                        <a:spcBef>
                          <a:spcPts val="0"/>
                        </a:spcBef>
                        <a:spcAft>
                          <a:spcPts val="0"/>
                        </a:spcAft>
                        <a:buClr>
                          <a:srgbClr val="3D5A80"/>
                        </a:buClr>
                        <a:buSzPts val="1200"/>
                        <a:buFont typeface="Calibri"/>
                        <a:buNone/>
                      </a:pPr>
                      <a:r>
                        <a:rPr b="1" lang="en-US" sz="1200" u="none" cap="none" strike="noStrike">
                          <a:solidFill>
                            <a:srgbClr val="3D5A80"/>
                          </a:solidFill>
                          <a:latin typeface="Calibri"/>
                          <a:ea typeface="Calibri"/>
                          <a:cs typeface="Calibri"/>
                          <a:sym typeface="Calibri"/>
                        </a:rPr>
                        <a:t>[ISUSE]</a:t>
                      </a:r>
                      <a:endParaRPr sz="1200" u="none" cap="none" strike="noStrike">
                        <a:latin typeface="Calibri"/>
                        <a:ea typeface="Calibri"/>
                        <a:cs typeface="Calibri"/>
                        <a:sym typeface="Calibri"/>
                      </a:endParaRPr>
                    </a:p>
                  </a:txBody>
                  <a:tcPr marT="45725" marB="45725" marR="91450" marL="91450" anchor="ctr">
                    <a:lnL cap="flat" cmpd="sng" w="9525">
                      <a:solidFill>
                        <a:srgbClr val="D8DEE9"/>
                      </a:solidFill>
                      <a:prstDash val="solid"/>
                      <a:round/>
                      <a:headEnd len="sm" w="sm" type="none"/>
                      <a:tailEnd len="sm" w="sm" type="none"/>
                    </a:lnL>
                    <a:lnR cap="flat" cmpd="sng" w="9525">
                      <a:solidFill>
                        <a:srgbClr val="D8DEE9"/>
                      </a:solidFill>
                      <a:prstDash val="solid"/>
                      <a:round/>
                      <a:headEnd len="sm" w="sm" type="none"/>
                      <a:tailEnd len="sm" w="sm" type="none"/>
                    </a:lnR>
                    <a:lnT cap="flat" cmpd="sng" w="9525">
                      <a:solidFill>
                        <a:srgbClr val="D8DEE9"/>
                      </a:solidFill>
                      <a:prstDash val="solid"/>
                      <a:round/>
                      <a:headEnd len="sm" w="sm" type="none"/>
                      <a:tailEnd len="sm" w="sm" type="none"/>
                    </a:lnT>
                    <a:lnB cap="flat" cmpd="sng" w="9525">
                      <a:solidFill>
                        <a:srgbClr val="D8DEE9"/>
                      </a:solidFill>
                      <a:prstDash val="solid"/>
                      <a:round/>
                      <a:headEnd len="sm" w="sm" type="none"/>
                      <a:tailEnd len="sm" w="sm" type="none"/>
                    </a:lnB>
                  </a:tcPr>
                </a:tc>
                <a:tc>
                  <a:txBody>
                    <a:bodyPr/>
                    <a:lstStyle/>
                    <a:p>
                      <a:pPr indent="0" lvl="0" marL="0" marR="0" rtl="0" algn="l">
                        <a:spcBef>
                          <a:spcPts val="0"/>
                        </a:spcBef>
                        <a:spcAft>
                          <a:spcPts val="0"/>
                        </a:spcAft>
                        <a:buClr>
                          <a:srgbClr val="1B2A4A"/>
                        </a:buClr>
                        <a:buSzPts val="1200"/>
                        <a:buFont typeface="Calibri"/>
                        <a:buNone/>
                      </a:pPr>
                      <a:r>
                        <a:rPr lang="en-US" sz="1200" u="none" cap="none" strike="noStrike">
                          <a:solidFill>
                            <a:srgbClr val="1B2A4A"/>
                          </a:solidFill>
                          <a:latin typeface="Calibri"/>
                          <a:ea typeface="Calibri"/>
                          <a:cs typeface="Calibri"/>
                          <a:sym typeface="Calibri"/>
                        </a:rPr>
                        <a:t>(Câu hỏi, câu trả lời) → Useful/Partially/Not</a:t>
                      </a:r>
                      <a:endParaRPr sz="1200" u="none" cap="none" strike="noStrike">
                        <a:latin typeface="Calibri"/>
                        <a:ea typeface="Calibri"/>
                        <a:cs typeface="Calibri"/>
                        <a:sym typeface="Calibri"/>
                      </a:endParaRPr>
                    </a:p>
                  </a:txBody>
                  <a:tcPr marT="45725" marB="45725" marR="91450" marL="91450" anchor="ctr">
                    <a:lnL cap="flat" cmpd="sng" w="9525">
                      <a:solidFill>
                        <a:srgbClr val="D8DEE9"/>
                      </a:solidFill>
                      <a:prstDash val="solid"/>
                      <a:round/>
                      <a:headEnd len="sm" w="sm" type="none"/>
                      <a:tailEnd len="sm" w="sm" type="none"/>
                    </a:lnL>
                    <a:lnR cap="flat" cmpd="sng" w="9525">
                      <a:solidFill>
                        <a:srgbClr val="D8DEE9"/>
                      </a:solidFill>
                      <a:prstDash val="solid"/>
                      <a:round/>
                      <a:headEnd len="sm" w="sm" type="none"/>
                      <a:tailEnd len="sm" w="sm" type="none"/>
                    </a:lnR>
                    <a:lnT cap="flat" cmpd="sng" w="9525">
                      <a:solidFill>
                        <a:srgbClr val="D8DEE9"/>
                      </a:solidFill>
                      <a:prstDash val="solid"/>
                      <a:round/>
                      <a:headEnd len="sm" w="sm" type="none"/>
                      <a:tailEnd len="sm" w="sm" type="none"/>
                    </a:lnT>
                    <a:lnB cap="flat" cmpd="sng" w="9525">
                      <a:solidFill>
                        <a:srgbClr val="D8DEE9"/>
                      </a:solidFill>
                      <a:prstDash val="solid"/>
                      <a:round/>
                      <a:headEnd len="sm" w="sm" type="none"/>
                      <a:tailEnd len="sm" w="sm" type="none"/>
                    </a:lnB>
                  </a:tcPr>
                </a:tc>
                <a:tc>
                  <a:txBody>
                    <a:bodyPr/>
                    <a:lstStyle/>
                    <a:p>
                      <a:pPr indent="0" lvl="0" marL="0" marR="0" rtl="0" algn="l">
                        <a:spcBef>
                          <a:spcPts val="0"/>
                        </a:spcBef>
                        <a:spcAft>
                          <a:spcPts val="0"/>
                        </a:spcAft>
                        <a:buClr>
                          <a:srgbClr val="1B2A4A"/>
                        </a:buClr>
                        <a:buSzPts val="1200"/>
                        <a:buFont typeface="Calibri"/>
                        <a:buNone/>
                      </a:pPr>
                      <a:r>
                        <a:rPr lang="en-US" sz="1200" u="none" cap="none" strike="noStrike">
                          <a:solidFill>
                            <a:srgbClr val="1B2A4A"/>
                          </a:solidFill>
                          <a:latin typeface="Calibri"/>
                          <a:ea typeface="Calibri"/>
                          <a:cs typeface="Calibri"/>
                          <a:sym typeface="Calibri"/>
                        </a:rPr>
                        <a:t>Luôn được gọi — hữu ích là thuộc tính của câu trả lời cuối, không phụ thuộc evidence</a:t>
                      </a:r>
                      <a:endParaRPr sz="1200" u="none" cap="none" strike="noStrike">
                        <a:latin typeface="Calibri"/>
                        <a:ea typeface="Calibri"/>
                        <a:cs typeface="Calibri"/>
                        <a:sym typeface="Calibri"/>
                      </a:endParaRPr>
                    </a:p>
                  </a:txBody>
                  <a:tcPr marT="45725" marB="45725" marR="91450" marL="91450" anchor="ctr">
                    <a:lnL cap="flat" cmpd="sng" w="9525">
                      <a:solidFill>
                        <a:srgbClr val="D8DEE9"/>
                      </a:solidFill>
                      <a:prstDash val="solid"/>
                      <a:round/>
                      <a:headEnd len="sm" w="sm" type="none"/>
                      <a:tailEnd len="sm" w="sm" type="none"/>
                    </a:lnL>
                    <a:lnR cap="flat" cmpd="sng" w="9525">
                      <a:solidFill>
                        <a:srgbClr val="D8DEE9"/>
                      </a:solidFill>
                      <a:prstDash val="solid"/>
                      <a:round/>
                      <a:headEnd len="sm" w="sm" type="none"/>
                      <a:tailEnd len="sm" w="sm" type="none"/>
                    </a:lnR>
                    <a:lnT cap="flat" cmpd="sng" w="9525">
                      <a:solidFill>
                        <a:srgbClr val="D8DEE9"/>
                      </a:solidFill>
                      <a:prstDash val="solid"/>
                      <a:round/>
                      <a:headEnd len="sm" w="sm" type="none"/>
                      <a:tailEnd len="sm" w="sm" type="none"/>
                    </a:lnT>
                    <a:lnB cap="flat" cmpd="sng" w="9525">
                      <a:solidFill>
                        <a:srgbClr val="D8DEE9"/>
                      </a:solidFill>
                      <a:prstDash val="solid"/>
                      <a:round/>
                      <a:headEnd len="sm" w="sm" type="none"/>
                      <a:tailEnd len="sm" w="sm" type="none"/>
                    </a:lnB>
                  </a:tcPr>
                </a:tc>
              </a:tr>
            </a:tbl>
          </a:graphicData>
        </a:graphic>
      </p:graphicFrame>
      <p:sp>
        <p:nvSpPr>
          <p:cNvPr id="188" name="Google Shape;188;p9"/>
          <p:cNvSpPr txBox="1"/>
          <p:nvPr/>
        </p:nvSpPr>
        <p:spPr>
          <a:xfrm>
            <a:off x="457200" y="6547104"/>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5"/>
              </a:buClr>
              <a:buSzPts val="900"/>
              <a:buFont typeface="Calibri"/>
              <a:buNone/>
            </a:pPr>
            <a:r>
              <a:rPr b="0" i="0" lang="en-US" sz="900" u="none" cap="none" strike="noStrike">
                <a:solidFill>
                  <a:srgbClr val="5B6B85"/>
                </a:solidFill>
                <a:latin typeface="Calibri"/>
                <a:ea typeface="Calibri"/>
                <a:cs typeface="Calibri"/>
                <a:sym typeface="Calibri"/>
              </a:rPr>
              <a:t>Self-RAG-Inspired Legal QA  ·  CS2308.CH203</a:t>
            </a:r>
            <a:endParaRPr b="0" i="0" sz="900" u="none" cap="none" strike="noStrike">
              <a:solidFill>
                <a:schemeClr val="dk1"/>
              </a:solidFill>
              <a:latin typeface="Calibri"/>
              <a:ea typeface="Calibri"/>
              <a:cs typeface="Calibri"/>
              <a:sym typeface="Calibri"/>
            </a:endParaRPr>
          </a:p>
        </p:txBody>
      </p:sp>
      <p:sp>
        <p:nvSpPr>
          <p:cNvPr id="189" name="Google Shape;189;p9"/>
          <p:cNvSpPr txBox="1"/>
          <p:nvPr/>
        </p:nvSpPr>
        <p:spPr>
          <a:xfrm>
            <a:off x="11274552" y="6547104"/>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B85"/>
              </a:buClr>
              <a:buSzPts val="900"/>
              <a:buFont typeface="Calibri"/>
              <a:buNone/>
            </a:pPr>
            <a:r>
              <a:rPr b="0" i="0" lang="en-US" sz="900" u="none" cap="none" strike="noStrike">
                <a:solidFill>
                  <a:srgbClr val="5B6B85"/>
                </a:solidFill>
                <a:latin typeface="Calibri"/>
                <a:ea typeface="Calibri"/>
                <a:cs typeface="Calibri"/>
                <a:sym typeface="Calibri"/>
              </a:rPr>
              <a:t>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4" name="Shape 194"/>
        <p:cNvGrpSpPr/>
        <p:nvPr/>
      </p:nvGrpSpPr>
      <p:grpSpPr>
        <a:xfrm>
          <a:off x="0" y="0"/>
          <a:ext cx="0" cy="0"/>
          <a:chOff x="0" y="0"/>
          <a:chExt cx="0" cy="0"/>
        </a:xfrm>
      </p:grpSpPr>
      <p:sp>
        <p:nvSpPr>
          <p:cNvPr id="195" name="Google Shape;195;p10"/>
          <p:cNvSpPr txBox="1"/>
          <p:nvPr/>
        </p:nvSpPr>
        <p:spPr>
          <a:xfrm>
            <a:off x="457200" y="320040"/>
            <a:ext cx="105156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1200"/>
              <a:buFont typeface="Calibri"/>
              <a:buNone/>
            </a:pPr>
            <a:r>
              <a:rPr b="1" i="0" lang="en-US" sz="1200" u="none" cap="none" strike="noStrike">
                <a:solidFill>
                  <a:srgbClr val="C9A227"/>
                </a:solidFill>
                <a:latin typeface="Calibri"/>
                <a:ea typeface="Calibri"/>
                <a:cs typeface="Calibri"/>
                <a:sym typeface="Calibri"/>
              </a:rPr>
              <a:t>04 · DỮ LIỆU</a:t>
            </a:r>
            <a:endParaRPr b="0" i="0" sz="1200" u="none" cap="none" strike="noStrike">
              <a:solidFill>
                <a:schemeClr val="dk1"/>
              </a:solidFill>
              <a:latin typeface="Calibri"/>
              <a:ea typeface="Calibri"/>
              <a:cs typeface="Calibri"/>
              <a:sym typeface="Calibri"/>
            </a:endParaRPr>
          </a:p>
        </p:txBody>
      </p:sp>
      <p:sp>
        <p:nvSpPr>
          <p:cNvPr id="196" name="Google Shape;196;p10"/>
          <p:cNvSpPr txBox="1"/>
          <p:nvPr/>
        </p:nvSpPr>
        <p:spPr>
          <a:xfrm>
            <a:off x="457200" y="566928"/>
            <a:ext cx="1078992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A"/>
              </a:buClr>
              <a:buSzPts val="2800"/>
              <a:buFont typeface="Times New Roman"/>
              <a:buNone/>
            </a:pPr>
            <a:r>
              <a:rPr b="1" i="0" lang="en-US" sz="2800" u="none" cap="none" strike="noStrike">
                <a:solidFill>
                  <a:srgbClr val="1B2A4A"/>
                </a:solidFill>
                <a:latin typeface="Times New Roman"/>
                <a:ea typeface="Times New Roman"/>
                <a:cs typeface="Times New Roman"/>
                <a:sym typeface="Times New Roman"/>
              </a:rPr>
              <a:t>VLSP2025 DRiLL — benchmark pháp luật tiếng Việt thật</a:t>
            </a:r>
            <a:endParaRPr b="0" i="0" sz="2800" u="none" cap="none" strike="noStrike">
              <a:solidFill>
                <a:schemeClr val="dk1"/>
              </a:solidFill>
              <a:latin typeface="Calibri"/>
              <a:ea typeface="Calibri"/>
              <a:cs typeface="Calibri"/>
              <a:sym typeface="Calibri"/>
            </a:endParaRPr>
          </a:p>
        </p:txBody>
      </p:sp>
      <p:sp>
        <p:nvSpPr>
          <p:cNvPr id="197" name="Google Shape;197;p10"/>
          <p:cNvSpPr/>
          <p:nvPr/>
        </p:nvSpPr>
        <p:spPr>
          <a:xfrm>
            <a:off x="457200" y="1600200"/>
            <a:ext cx="2606040" cy="1508760"/>
          </a:xfrm>
          <a:prstGeom prst="roundRect">
            <a:avLst>
              <a:gd fmla="val 4848" name="adj"/>
            </a:avLst>
          </a:prstGeom>
          <a:solidFill>
            <a:srgbClr val="EEF1F6"/>
          </a:solidFill>
          <a:ln>
            <a:noFill/>
          </a:ln>
          <a:effectLst>
            <a:outerShdw blurRad="76200" rotWithShape="0" algn="bl" dir="5400000" dist="25400">
              <a:srgbClr val="1B2A4A">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0"/>
          <p:cNvSpPr txBox="1"/>
          <p:nvPr/>
        </p:nvSpPr>
        <p:spPr>
          <a:xfrm>
            <a:off x="457200" y="1783080"/>
            <a:ext cx="260604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2A4A"/>
              </a:buClr>
              <a:buSzPts val="3400"/>
              <a:buFont typeface="Times New Roman"/>
              <a:buNone/>
            </a:pPr>
            <a:r>
              <a:rPr b="1" i="0" lang="en-US" sz="3400" u="none" cap="none" strike="noStrike">
                <a:solidFill>
                  <a:srgbClr val="1B2A4A"/>
                </a:solidFill>
                <a:latin typeface="Times New Roman"/>
                <a:ea typeface="Times New Roman"/>
                <a:cs typeface="Times New Roman"/>
                <a:sym typeface="Times New Roman"/>
              </a:rPr>
              <a:t>2,157</a:t>
            </a:r>
            <a:endParaRPr b="0" i="0" sz="3400" u="none" cap="none" strike="noStrike">
              <a:solidFill>
                <a:schemeClr val="dk1"/>
              </a:solidFill>
              <a:latin typeface="Calibri"/>
              <a:ea typeface="Calibri"/>
              <a:cs typeface="Calibri"/>
              <a:sym typeface="Calibri"/>
            </a:endParaRPr>
          </a:p>
        </p:txBody>
      </p:sp>
      <p:sp>
        <p:nvSpPr>
          <p:cNvPr id="199" name="Google Shape;199;p10"/>
          <p:cNvSpPr txBox="1"/>
          <p:nvPr/>
        </p:nvSpPr>
        <p:spPr>
          <a:xfrm>
            <a:off x="457200" y="2441448"/>
            <a:ext cx="2606040" cy="5029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B6B85"/>
              </a:buClr>
              <a:buSzPts val="1150"/>
              <a:buFont typeface="Calibri"/>
              <a:buNone/>
            </a:pPr>
            <a:r>
              <a:rPr b="0" i="0" lang="en-US" sz="1150" u="none" cap="none" strike="noStrike">
                <a:solidFill>
                  <a:srgbClr val="5B6B85"/>
                </a:solidFill>
                <a:latin typeface="Calibri"/>
                <a:ea typeface="Calibri"/>
                <a:cs typeface="Calibri"/>
                <a:sym typeface="Calibri"/>
              </a:rPr>
              <a:t>văn bản pháp luật</a:t>
            </a:r>
            <a:endParaRPr b="0" i="0" sz="1150" u="none" cap="none" strike="noStrike">
              <a:solidFill>
                <a:schemeClr val="dk1"/>
              </a:solidFill>
              <a:latin typeface="Calibri"/>
              <a:ea typeface="Calibri"/>
              <a:cs typeface="Calibri"/>
              <a:sym typeface="Calibri"/>
            </a:endParaRPr>
          </a:p>
        </p:txBody>
      </p:sp>
      <p:sp>
        <p:nvSpPr>
          <p:cNvPr id="200" name="Google Shape;200;p10"/>
          <p:cNvSpPr/>
          <p:nvPr/>
        </p:nvSpPr>
        <p:spPr>
          <a:xfrm>
            <a:off x="3200400" y="1600200"/>
            <a:ext cx="2606040" cy="1508760"/>
          </a:xfrm>
          <a:prstGeom prst="roundRect">
            <a:avLst>
              <a:gd fmla="val 4848" name="adj"/>
            </a:avLst>
          </a:prstGeom>
          <a:solidFill>
            <a:srgbClr val="EEF1F6"/>
          </a:solidFill>
          <a:ln>
            <a:noFill/>
          </a:ln>
          <a:effectLst>
            <a:outerShdw blurRad="76200" rotWithShape="0" algn="bl" dir="5400000" dist="25400">
              <a:srgbClr val="1B2A4A">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0"/>
          <p:cNvSpPr txBox="1"/>
          <p:nvPr/>
        </p:nvSpPr>
        <p:spPr>
          <a:xfrm>
            <a:off x="3200400" y="1783080"/>
            <a:ext cx="260604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2A4A"/>
              </a:buClr>
              <a:buSzPts val="3400"/>
              <a:buFont typeface="Times New Roman"/>
              <a:buNone/>
            </a:pPr>
            <a:r>
              <a:rPr b="1" i="0" lang="en-US" sz="3400" u="none" cap="none" strike="noStrike">
                <a:solidFill>
                  <a:srgbClr val="1B2A4A"/>
                </a:solidFill>
                <a:latin typeface="Times New Roman"/>
                <a:ea typeface="Times New Roman"/>
                <a:cs typeface="Times New Roman"/>
                <a:sym typeface="Times New Roman"/>
              </a:rPr>
              <a:t>59,636</a:t>
            </a:r>
            <a:endParaRPr b="0" i="0" sz="3400" u="none" cap="none" strike="noStrike">
              <a:solidFill>
                <a:schemeClr val="dk1"/>
              </a:solidFill>
              <a:latin typeface="Calibri"/>
              <a:ea typeface="Calibri"/>
              <a:cs typeface="Calibri"/>
              <a:sym typeface="Calibri"/>
            </a:endParaRPr>
          </a:p>
        </p:txBody>
      </p:sp>
      <p:sp>
        <p:nvSpPr>
          <p:cNvPr id="202" name="Google Shape;202;p10"/>
          <p:cNvSpPr txBox="1"/>
          <p:nvPr/>
        </p:nvSpPr>
        <p:spPr>
          <a:xfrm>
            <a:off x="3200400" y="2441448"/>
            <a:ext cx="2606040" cy="5029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B6B85"/>
              </a:buClr>
              <a:buSzPts val="1150"/>
              <a:buFont typeface="Calibri"/>
              <a:buNone/>
            </a:pPr>
            <a:r>
              <a:rPr b="0" i="0" lang="en-US" sz="1150" u="none" cap="none" strike="noStrike">
                <a:solidFill>
                  <a:srgbClr val="5B6B85"/>
                </a:solidFill>
                <a:latin typeface="Calibri"/>
                <a:ea typeface="Calibri"/>
                <a:cs typeface="Calibri"/>
                <a:sym typeface="Calibri"/>
              </a:rPr>
              <a:t>điều luật (aid duy nhất toàn cục)</a:t>
            </a:r>
            <a:endParaRPr b="0" i="0" sz="1150" u="none" cap="none" strike="noStrike">
              <a:solidFill>
                <a:schemeClr val="dk1"/>
              </a:solidFill>
              <a:latin typeface="Calibri"/>
              <a:ea typeface="Calibri"/>
              <a:cs typeface="Calibri"/>
              <a:sym typeface="Calibri"/>
            </a:endParaRPr>
          </a:p>
        </p:txBody>
      </p:sp>
      <p:sp>
        <p:nvSpPr>
          <p:cNvPr id="203" name="Google Shape;203;p10"/>
          <p:cNvSpPr/>
          <p:nvPr/>
        </p:nvSpPr>
        <p:spPr>
          <a:xfrm>
            <a:off x="5943600" y="1600200"/>
            <a:ext cx="2606040" cy="1508760"/>
          </a:xfrm>
          <a:prstGeom prst="roundRect">
            <a:avLst>
              <a:gd fmla="val 4848" name="adj"/>
            </a:avLst>
          </a:prstGeom>
          <a:solidFill>
            <a:srgbClr val="EEF1F6"/>
          </a:solidFill>
          <a:ln>
            <a:noFill/>
          </a:ln>
          <a:effectLst>
            <a:outerShdw blurRad="76200" rotWithShape="0" algn="bl" dir="5400000" dist="25400">
              <a:srgbClr val="1B2A4A">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0"/>
          <p:cNvSpPr txBox="1"/>
          <p:nvPr/>
        </p:nvSpPr>
        <p:spPr>
          <a:xfrm>
            <a:off x="5943600" y="1783080"/>
            <a:ext cx="260604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2A4A"/>
              </a:buClr>
              <a:buSzPts val="3400"/>
              <a:buFont typeface="Times New Roman"/>
              <a:buNone/>
            </a:pPr>
            <a:r>
              <a:rPr b="1" i="0" lang="en-US" sz="3400" u="none" cap="none" strike="noStrike">
                <a:solidFill>
                  <a:srgbClr val="1B2A4A"/>
                </a:solidFill>
                <a:latin typeface="Times New Roman"/>
                <a:ea typeface="Times New Roman"/>
                <a:cs typeface="Times New Roman"/>
                <a:sym typeface="Times New Roman"/>
              </a:rPr>
              <a:t>2,190</a:t>
            </a:r>
            <a:endParaRPr b="0" i="0" sz="3400" u="none" cap="none" strike="noStrike">
              <a:solidFill>
                <a:schemeClr val="dk1"/>
              </a:solidFill>
              <a:latin typeface="Calibri"/>
              <a:ea typeface="Calibri"/>
              <a:cs typeface="Calibri"/>
              <a:sym typeface="Calibri"/>
            </a:endParaRPr>
          </a:p>
        </p:txBody>
      </p:sp>
      <p:sp>
        <p:nvSpPr>
          <p:cNvPr id="205" name="Google Shape;205;p10"/>
          <p:cNvSpPr txBox="1"/>
          <p:nvPr/>
        </p:nvSpPr>
        <p:spPr>
          <a:xfrm>
            <a:off x="5943600" y="2441448"/>
            <a:ext cx="2606040" cy="5029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B6B85"/>
              </a:buClr>
              <a:buSzPts val="1150"/>
              <a:buFont typeface="Calibri"/>
              <a:buNone/>
            </a:pPr>
            <a:r>
              <a:rPr b="0" i="0" lang="en-US" sz="1150" u="none" cap="none" strike="noStrike">
                <a:solidFill>
                  <a:srgbClr val="5B6B85"/>
                </a:solidFill>
                <a:latin typeface="Calibri"/>
                <a:ea typeface="Calibri"/>
                <a:cs typeface="Calibri"/>
                <a:sym typeface="Calibri"/>
              </a:rPr>
              <a:t>câu hỏi có nhãn thật (train.json)</a:t>
            </a:r>
            <a:endParaRPr b="0" i="0" sz="1150" u="none" cap="none" strike="noStrike">
              <a:solidFill>
                <a:schemeClr val="dk1"/>
              </a:solidFill>
              <a:latin typeface="Calibri"/>
              <a:ea typeface="Calibri"/>
              <a:cs typeface="Calibri"/>
              <a:sym typeface="Calibri"/>
            </a:endParaRPr>
          </a:p>
        </p:txBody>
      </p:sp>
      <p:sp>
        <p:nvSpPr>
          <p:cNvPr id="206" name="Google Shape;206;p10"/>
          <p:cNvSpPr/>
          <p:nvPr/>
        </p:nvSpPr>
        <p:spPr>
          <a:xfrm>
            <a:off x="8686800" y="1600200"/>
            <a:ext cx="2606040" cy="1508760"/>
          </a:xfrm>
          <a:prstGeom prst="roundRect">
            <a:avLst>
              <a:gd fmla="val 4848" name="adj"/>
            </a:avLst>
          </a:prstGeom>
          <a:solidFill>
            <a:srgbClr val="F5EFD9"/>
          </a:solidFill>
          <a:ln>
            <a:noFill/>
          </a:ln>
          <a:effectLst>
            <a:outerShdw blurRad="76200" rotWithShape="0" algn="bl" dir="5400000" dist="25400">
              <a:srgbClr val="1B2A4A">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0"/>
          <p:cNvSpPr txBox="1"/>
          <p:nvPr/>
        </p:nvSpPr>
        <p:spPr>
          <a:xfrm>
            <a:off x="8686800" y="1783080"/>
            <a:ext cx="260604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9A227"/>
              </a:buClr>
              <a:buSzPts val="3400"/>
              <a:buFont typeface="Times New Roman"/>
              <a:buNone/>
            </a:pPr>
            <a:r>
              <a:rPr b="1" i="0" lang="en-US" sz="3400" u="none" cap="none" strike="noStrike">
                <a:solidFill>
                  <a:srgbClr val="C9A227"/>
                </a:solidFill>
                <a:latin typeface="Times New Roman"/>
                <a:ea typeface="Times New Roman"/>
                <a:cs typeface="Times New Roman"/>
                <a:sym typeface="Times New Roman"/>
              </a:rPr>
              <a:t>250</a:t>
            </a:r>
            <a:endParaRPr b="0" i="0" sz="3400" u="none" cap="none" strike="noStrike">
              <a:solidFill>
                <a:schemeClr val="dk1"/>
              </a:solidFill>
              <a:latin typeface="Calibri"/>
              <a:ea typeface="Calibri"/>
              <a:cs typeface="Calibri"/>
              <a:sym typeface="Calibri"/>
            </a:endParaRPr>
          </a:p>
        </p:txBody>
      </p:sp>
      <p:sp>
        <p:nvSpPr>
          <p:cNvPr id="208" name="Google Shape;208;p10"/>
          <p:cNvSpPr txBox="1"/>
          <p:nvPr/>
        </p:nvSpPr>
        <p:spPr>
          <a:xfrm>
            <a:off x="8686800" y="2441448"/>
            <a:ext cx="2606040" cy="5029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B6B85"/>
              </a:buClr>
              <a:buSzPts val="1150"/>
              <a:buFont typeface="Calibri"/>
              <a:buNone/>
            </a:pPr>
            <a:r>
              <a:rPr b="0" i="0" lang="en-US" sz="1150" u="none" cap="none" strike="noStrike">
                <a:solidFill>
                  <a:srgbClr val="5B6B85"/>
                </a:solidFill>
                <a:latin typeface="Calibri"/>
                <a:ea typeface="Calibri"/>
                <a:cs typeface="Calibri"/>
                <a:sym typeface="Calibri"/>
              </a:rPr>
              <a:t>câu hỏi trong dev set cố định (seed 42)</a:t>
            </a:r>
            <a:endParaRPr b="0" i="0" sz="1150" u="none" cap="none" strike="noStrike">
              <a:solidFill>
                <a:schemeClr val="dk1"/>
              </a:solidFill>
              <a:latin typeface="Calibri"/>
              <a:ea typeface="Calibri"/>
              <a:cs typeface="Calibri"/>
              <a:sym typeface="Calibri"/>
            </a:endParaRPr>
          </a:p>
        </p:txBody>
      </p:sp>
      <p:sp>
        <p:nvSpPr>
          <p:cNvPr id="209" name="Google Shape;209;p10"/>
          <p:cNvSpPr/>
          <p:nvPr/>
        </p:nvSpPr>
        <p:spPr>
          <a:xfrm>
            <a:off x="457200" y="3337560"/>
            <a:ext cx="11274552" cy="2743200"/>
          </a:xfrm>
          <a:prstGeom prst="roundRect">
            <a:avLst>
              <a:gd fmla="val 2667" name="adj"/>
            </a:avLst>
          </a:prstGeom>
          <a:solidFill>
            <a:srgbClr val="E4E9F2"/>
          </a:solidFill>
          <a:ln>
            <a:noFill/>
          </a:ln>
          <a:effectLst>
            <a:outerShdw blurRad="76200" rotWithShape="0" algn="bl" dir="5400000" dist="25400">
              <a:srgbClr val="1B2A4A">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0"/>
          <p:cNvSpPr txBox="1"/>
          <p:nvPr/>
        </p:nvSpPr>
        <p:spPr>
          <a:xfrm>
            <a:off x="731520" y="3520440"/>
            <a:ext cx="106984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1550"/>
              <a:buFont typeface="Times New Roman"/>
              <a:buNone/>
            </a:pPr>
            <a:r>
              <a:rPr b="1" i="0" lang="en-US" sz="1550" u="none" cap="none" strike="noStrike">
                <a:solidFill>
                  <a:srgbClr val="1B2A4A"/>
                </a:solidFill>
                <a:latin typeface="Times New Roman"/>
                <a:ea typeface="Times New Roman"/>
                <a:cs typeface="Times New Roman"/>
                <a:sym typeface="Times New Roman"/>
              </a:rPr>
              <a:t>Đặc điểm dữ liệu &amp; phạm vi sử dụng</a:t>
            </a:r>
            <a:endParaRPr b="0" i="0" sz="1550" u="none" cap="none" strike="noStrike">
              <a:solidFill>
                <a:schemeClr val="dk1"/>
              </a:solidFill>
              <a:latin typeface="Calibri"/>
              <a:ea typeface="Calibri"/>
              <a:cs typeface="Calibri"/>
              <a:sym typeface="Calibri"/>
            </a:endParaRPr>
          </a:p>
        </p:txBody>
      </p:sp>
      <p:sp>
        <p:nvSpPr>
          <p:cNvPr id="211" name="Google Shape;211;p10"/>
          <p:cNvSpPr txBox="1"/>
          <p:nvPr/>
        </p:nvSpPr>
        <p:spPr>
          <a:xfrm>
            <a:off x="731520" y="3977640"/>
            <a:ext cx="10698480" cy="2011680"/>
          </a:xfrm>
          <a:prstGeom prst="rect">
            <a:avLst/>
          </a:prstGeom>
          <a:noFill/>
          <a:ln>
            <a:noFill/>
          </a:ln>
        </p:spPr>
        <p:txBody>
          <a:bodyPr anchorCtr="0" anchor="t" bIns="0" lIns="0" spcFirstLastPara="1" rIns="0" wrap="square" tIns="0">
            <a:noAutofit/>
          </a:bodyPr>
          <a:lstStyle/>
          <a:p>
            <a:pPr indent="-342900" lvl="0" marL="342900" marR="0" rtl="0" algn="l">
              <a:lnSpc>
                <a:spcPct val="108000"/>
              </a:lnSpc>
              <a:spcBef>
                <a:spcPts val="0"/>
              </a:spcBef>
              <a:spcAft>
                <a:spcPts val="0"/>
              </a:spcAft>
              <a:buClr>
                <a:srgbClr val="1B2A4A"/>
              </a:buClr>
              <a:buSzPts val="1300"/>
              <a:buFont typeface="Calibri"/>
              <a:buChar char="•"/>
            </a:pPr>
            <a:r>
              <a:rPr b="0" i="0" lang="en-US" sz="1300" u="none" cap="none" strike="noStrike">
                <a:solidFill>
                  <a:srgbClr val="1B2A4A"/>
                </a:solidFill>
                <a:latin typeface="Calibri"/>
                <a:ea typeface="Calibri"/>
                <a:cs typeface="Calibri"/>
                <a:sym typeface="Calibri"/>
              </a:rPr>
              <a:t>Câu hỏi phong cách khẩu ngữ “hỏi luật sư”; mỗi câu gán nhãn danh sách aid liên quan (trung bình 1.34, tối đa 9) và câu trả lời tư vấn pháp lý do người viết</a:t>
            </a:r>
            <a:endParaRPr b="0" i="0" sz="1300" u="none" cap="none" strike="noStrike">
              <a:solidFill>
                <a:schemeClr val="dk1"/>
              </a:solidFill>
              <a:latin typeface="Calibri"/>
              <a:ea typeface="Calibri"/>
              <a:cs typeface="Calibri"/>
              <a:sym typeface="Calibri"/>
            </a:endParaRPr>
          </a:p>
          <a:p>
            <a:pPr indent="-342900" lvl="0" marL="342900" marR="0" rtl="0" algn="l">
              <a:lnSpc>
                <a:spcPct val="108000"/>
              </a:lnSpc>
              <a:spcBef>
                <a:spcPts val="1000"/>
              </a:spcBef>
              <a:spcAft>
                <a:spcPts val="0"/>
              </a:spcAft>
              <a:buClr>
                <a:srgbClr val="1B2A4A"/>
              </a:buClr>
              <a:buSzPts val="1300"/>
              <a:buFont typeface="Calibri"/>
              <a:buChar char="•"/>
            </a:pPr>
            <a:r>
              <a:rPr b="0" i="0" lang="en-US" sz="1300" u="none" cap="none" strike="noStrike">
                <a:solidFill>
                  <a:srgbClr val="1B2A4A"/>
                </a:solidFill>
                <a:latin typeface="Calibri"/>
                <a:ea typeface="Calibri"/>
                <a:cs typeface="Calibri"/>
                <a:sym typeface="Calibri"/>
              </a:rPr>
              <a:t>public_test / private_test có nhãn ẩn, vốn để chấm leaderboard — nhưng hạn nộp VLSP2025 DRiLL (12/08/2025) đã qua trước khi đồ án bắt đầu → không dùng được để đánh giá, loại khỏi phạm vi đồ án</a:t>
            </a:r>
            <a:endParaRPr b="0" i="0" sz="1300" u="none" cap="none" strike="noStrike">
              <a:solidFill>
                <a:schemeClr val="dk1"/>
              </a:solidFill>
              <a:latin typeface="Calibri"/>
              <a:ea typeface="Calibri"/>
              <a:cs typeface="Calibri"/>
              <a:sym typeface="Calibri"/>
            </a:endParaRPr>
          </a:p>
          <a:p>
            <a:pPr indent="-342900" lvl="0" marL="342900" marR="0" rtl="0" algn="l">
              <a:lnSpc>
                <a:spcPct val="108000"/>
              </a:lnSpc>
              <a:spcBef>
                <a:spcPts val="1000"/>
              </a:spcBef>
              <a:spcAft>
                <a:spcPts val="0"/>
              </a:spcAft>
              <a:buClr>
                <a:srgbClr val="1B2A4A"/>
              </a:buClr>
              <a:buSzPts val="1300"/>
              <a:buFont typeface="Calibri"/>
              <a:buChar char="•"/>
            </a:pPr>
            <a:r>
              <a:rPr b="0" i="0" lang="en-US" sz="1300" u="none" cap="none" strike="noStrike">
                <a:solidFill>
                  <a:srgbClr val="1B2A4A"/>
                </a:solidFill>
                <a:latin typeface="Calibri"/>
                <a:ea typeface="Calibri"/>
                <a:cs typeface="Calibri"/>
                <a:sym typeface="Calibri"/>
              </a:rPr>
              <a:t>Mọi so sánh trong báo cáo dùng chung một dev set cố định 250 câu lấy từ train.json — đảm bảo 3 hệ thống được so trên đúng cùng một tập câu hỏi</a:t>
            </a:r>
            <a:endParaRPr b="0" i="0" sz="1300" u="none" cap="none" strike="noStrike">
              <a:solidFill>
                <a:schemeClr val="dk1"/>
              </a:solidFill>
              <a:latin typeface="Calibri"/>
              <a:ea typeface="Calibri"/>
              <a:cs typeface="Calibri"/>
              <a:sym typeface="Calibri"/>
            </a:endParaRPr>
          </a:p>
        </p:txBody>
      </p:sp>
      <p:sp>
        <p:nvSpPr>
          <p:cNvPr id="212" name="Google Shape;212;p10"/>
          <p:cNvSpPr txBox="1"/>
          <p:nvPr/>
        </p:nvSpPr>
        <p:spPr>
          <a:xfrm>
            <a:off x="457200" y="6547104"/>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5"/>
              </a:buClr>
              <a:buSzPts val="900"/>
              <a:buFont typeface="Calibri"/>
              <a:buNone/>
            </a:pPr>
            <a:r>
              <a:rPr b="0" i="0" lang="en-US" sz="900" u="none" cap="none" strike="noStrike">
                <a:solidFill>
                  <a:srgbClr val="5B6B85"/>
                </a:solidFill>
                <a:latin typeface="Calibri"/>
                <a:ea typeface="Calibri"/>
                <a:cs typeface="Calibri"/>
                <a:sym typeface="Calibri"/>
              </a:rPr>
              <a:t>Self-RAG-Inspired Legal QA  ·  CS2308.CH203</a:t>
            </a:r>
            <a:endParaRPr b="0" i="0" sz="900" u="none" cap="none" strike="noStrike">
              <a:solidFill>
                <a:schemeClr val="dk1"/>
              </a:solidFill>
              <a:latin typeface="Calibri"/>
              <a:ea typeface="Calibri"/>
              <a:cs typeface="Calibri"/>
              <a:sym typeface="Calibri"/>
            </a:endParaRPr>
          </a:p>
        </p:txBody>
      </p:sp>
      <p:sp>
        <p:nvSpPr>
          <p:cNvPr id="213" name="Google Shape;213;p10"/>
          <p:cNvSpPr txBox="1"/>
          <p:nvPr/>
        </p:nvSpPr>
        <p:spPr>
          <a:xfrm>
            <a:off x="11274552" y="6547104"/>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B85"/>
              </a:buClr>
              <a:buSzPts val="900"/>
              <a:buFont typeface="Calibri"/>
              <a:buNone/>
            </a:pPr>
            <a:r>
              <a:rPr b="0" i="0" lang="en-US" sz="900" u="none" cap="none" strike="noStrike">
                <a:solidFill>
                  <a:srgbClr val="5B6B85"/>
                </a:solidFill>
                <a:latin typeface="Calibri"/>
                <a:ea typeface="Calibri"/>
                <a:cs typeface="Calibri"/>
                <a:sym typeface="Calibri"/>
              </a:rPr>
              <a:t>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8" name="Shape 218"/>
        <p:cNvGrpSpPr/>
        <p:nvPr/>
      </p:nvGrpSpPr>
      <p:grpSpPr>
        <a:xfrm>
          <a:off x="0" y="0"/>
          <a:ext cx="0" cy="0"/>
          <a:chOff x="0" y="0"/>
          <a:chExt cx="0" cy="0"/>
        </a:xfrm>
      </p:grpSpPr>
      <p:sp>
        <p:nvSpPr>
          <p:cNvPr id="219" name="Google Shape;219;p11"/>
          <p:cNvSpPr txBox="1"/>
          <p:nvPr/>
        </p:nvSpPr>
        <p:spPr>
          <a:xfrm>
            <a:off x="457200" y="320040"/>
            <a:ext cx="105156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1200"/>
              <a:buFont typeface="Calibri"/>
              <a:buNone/>
            </a:pPr>
            <a:r>
              <a:rPr b="1" i="0" lang="en-US" sz="1200" u="none" cap="none" strike="noStrike">
                <a:solidFill>
                  <a:srgbClr val="C9A227"/>
                </a:solidFill>
                <a:latin typeface="Calibri"/>
                <a:ea typeface="Calibri"/>
                <a:cs typeface="Calibri"/>
                <a:sym typeface="Calibri"/>
              </a:rPr>
              <a:t>04 · TRIỂN KHAI</a:t>
            </a:r>
            <a:endParaRPr b="0" i="0" sz="1200" u="none" cap="none" strike="noStrike">
              <a:solidFill>
                <a:schemeClr val="dk1"/>
              </a:solidFill>
              <a:latin typeface="Calibri"/>
              <a:ea typeface="Calibri"/>
              <a:cs typeface="Calibri"/>
              <a:sym typeface="Calibri"/>
            </a:endParaRPr>
          </a:p>
        </p:txBody>
      </p:sp>
      <p:sp>
        <p:nvSpPr>
          <p:cNvPr id="220" name="Google Shape;220;p11"/>
          <p:cNvSpPr txBox="1"/>
          <p:nvPr/>
        </p:nvSpPr>
        <p:spPr>
          <a:xfrm>
            <a:off x="457200" y="566928"/>
            <a:ext cx="1078992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A"/>
              </a:buClr>
              <a:buSzPts val="2800"/>
              <a:buFont typeface="Times New Roman"/>
              <a:buNone/>
            </a:pPr>
            <a:r>
              <a:rPr b="1" i="0" lang="en-US" sz="2800" u="none" cap="none" strike="noStrike">
                <a:solidFill>
                  <a:srgbClr val="1B2A4A"/>
                </a:solidFill>
                <a:latin typeface="Times New Roman"/>
                <a:ea typeface="Times New Roman"/>
                <a:cs typeface="Times New Roman"/>
                <a:sym typeface="Times New Roman"/>
              </a:rPr>
              <a:t>Hạ tầng: Retriever &amp; Generator</a:t>
            </a:r>
            <a:endParaRPr b="0" i="0" sz="2800" u="none" cap="none" strike="noStrike">
              <a:solidFill>
                <a:schemeClr val="dk1"/>
              </a:solidFill>
              <a:latin typeface="Calibri"/>
              <a:ea typeface="Calibri"/>
              <a:cs typeface="Calibri"/>
              <a:sym typeface="Calibri"/>
            </a:endParaRPr>
          </a:p>
        </p:txBody>
      </p:sp>
      <p:sp>
        <p:nvSpPr>
          <p:cNvPr id="221" name="Google Shape;221;p11"/>
          <p:cNvSpPr/>
          <p:nvPr/>
        </p:nvSpPr>
        <p:spPr>
          <a:xfrm>
            <a:off x="457200" y="1554480"/>
            <a:ext cx="5440680" cy="4480560"/>
          </a:xfrm>
          <a:prstGeom prst="roundRect">
            <a:avLst>
              <a:gd fmla="val 1633" name="adj"/>
            </a:avLst>
          </a:prstGeom>
          <a:solidFill>
            <a:srgbClr val="EEF1F6"/>
          </a:solidFill>
          <a:ln>
            <a:noFill/>
          </a:ln>
          <a:effectLst>
            <a:outerShdw blurRad="76200" rotWithShape="0" algn="bl" dir="5400000" dist="25400">
              <a:srgbClr val="1B2A4A">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txBox="1"/>
          <p:nvPr/>
        </p:nvSpPr>
        <p:spPr>
          <a:xfrm>
            <a:off x="731520" y="1755648"/>
            <a:ext cx="4846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5A80"/>
              </a:buClr>
              <a:buSzPts val="1700"/>
              <a:buFont typeface="Times New Roman"/>
              <a:buNone/>
            </a:pPr>
            <a:r>
              <a:rPr b="1" i="0" lang="en-US" sz="1700" u="none" cap="none" strike="noStrike">
                <a:solidFill>
                  <a:srgbClr val="3D5A80"/>
                </a:solidFill>
                <a:latin typeface="Times New Roman"/>
                <a:ea typeface="Times New Roman"/>
                <a:cs typeface="Times New Roman"/>
                <a:sym typeface="Times New Roman"/>
              </a:rPr>
              <a:t>Retriever</a:t>
            </a:r>
            <a:endParaRPr b="0" i="0" sz="1700" u="none" cap="none" strike="noStrike">
              <a:solidFill>
                <a:schemeClr val="dk1"/>
              </a:solidFill>
              <a:latin typeface="Calibri"/>
              <a:ea typeface="Calibri"/>
              <a:cs typeface="Calibri"/>
              <a:sym typeface="Calibri"/>
            </a:endParaRPr>
          </a:p>
        </p:txBody>
      </p:sp>
      <p:sp>
        <p:nvSpPr>
          <p:cNvPr id="223" name="Google Shape;223;p11"/>
          <p:cNvSpPr/>
          <p:nvPr/>
        </p:nvSpPr>
        <p:spPr>
          <a:xfrm>
            <a:off x="731520" y="2212848"/>
            <a:ext cx="4892040" cy="795528"/>
          </a:xfrm>
          <a:prstGeom prst="roundRect">
            <a:avLst>
              <a:gd fmla="val 6897" name="adj"/>
            </a:avLst>
          </a:prstGeom>
          <a:solidFill>
            <a:srgbClr val="FFFFFF"/>
          </a:solidFill>
          <a:ln cap="flat" cmpd="sng" w="9525">
            <a:solidFill>
              <a:srgbClr val="CBD3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1"/>
          <p:cNvSpPr/>
          <p:nvPr/>
        </p:nvSpPr>
        <p:spPr>
          <a:xfrm>
            <a:off x="868680" y="2432304"/>
            <a:ext cx="365760" cy="365760"/>
          </a:xfrm>
          <a:prstGeom prst="ellipse">
            <a:avLst/>
          </a:prstGeom>
          <a:solidFill>
            <a:srgbClr val="3D5A8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txBox="1"/>
          <p:nvPr/>
        </p:nvSpPr>
        <p:spPr>
          <a:xfrm>
            <a:off x="868680" y="2432304"/>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1</a:t>
            </a:r>
            <a:endParaRPr b="0" i="0" sz="1300" u="none" cap="none" strike="noStrike">
              <a:solidFill>
                <a:schemeClr val="dk1"/>
              </a:solidFill>
              <a:latin typeface="Calibri"/>
              <a:ea typeface="Calibri"/>
              <a:cs typeface="Calibri"/>
              <a:sym typeface="Calibri"/>
            </a:endParaRPr>
          </a:p>
        </p:txBody>
      </p:sp>
      <p:sp>
        <p:nvSpPr>
          <p:cNvPr id="226" name="Google Shape;226;p11"/>
          <p:cNvSpPr txBox="1"/>
          <p:nvPr/>
        </p:nvSpPr>
        <p:spPr>
          <a:xfrm>
            <a:off x="1371600" y="2212848"/>
            <a:ext cx="4160520" cy="7955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1150"/>
              <a:buFont typeface="Calibri"/>
              <a:buNone/>
            </a:pPr>
            <a:r>
              <a:rPr b="0" i="0" lang="en-US" sz="1150" u="none" cap="none" strike="noStrike">
                <a:solidFill>
                  <a:srgbClr val="1B2A4A"/>
                </a:solidFill>
                <a:latin typeface="Calibri"/>
                <a:ea typeface="Calibri"/>
                <a:cs typeface="Calibri"/>
                <a:sym typeface="Calibri"/>
              </a:rPr>
              <a:t>Chunking: ưu tiên theo đoạn văn, dự phòng cửa sổ 800 ký tự / overlap 150</a:t>
            </a:r>
            <a:endParaRPr b="0" i="0" sz="1150" u="none" cap="none" strike="noStrike">
              <a:solidFill>
                <a:schemeClr val="dk1"/>
              </a:solidFill>
              <a:latin typeface="Calibri"/>
              <a:ea typeface="Calibri"/>
              <a:cs typeface="Calibri"/>
              <a:sym typeface="Calibri"/>
            </a:endParaRPr>
          </a:p>
        </p:txBody>
      </p:sp>
      <p:sp>
        <p:nvSpPr>
          <p:cNvPr id="227" name="Google Shape;227;p11"/>
          <p:cNvSpPr/>
          <p:nvPr/>
        </p:nvSpPr>
        <p:spPr>
          <a:xfrm>
            <a:off x="731520" y="3118104"/>
            <a:ext cx="4892040" cy="795528"/>
          </a:xfrm>
          <a:prstGeom prst="roundRect">
            <a:avLst>
              <a:gd fmla="val 6897" name="adj"/>
            </a:avLst>
          </a:prstGeom>
          <a:solidFill>
            <a:srgbClr val="FFFFFF"/>
          </a:solidFill>
          <a:ln cap="flat" cmpd="sng" w="9525">
            <a:solidFill>
              <a:srgbClr val="CBD3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1"/>
          <p:cNvSpPr/>
          <p:nvPr/>
        </p:nvSpPr>
        <p:spPr>
          <a:xfrm>
            <a:off x="868680" y="3337560"/>
            <a:ext cx="365760" cy="365760"/>
          </a:xfrm>
          <a:prstGeom prst="ellipse">
            <a:avLst/>
          </a:prstGeom>
          <a:solidFill>
            <a:srgbClr val="3D5A8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1"/>
          <p:cNvSpPr txBox="1"/>
          <p:nvPr/>
        </p:nvSpPr>
        <p:spPr>
          <a:xfrm>
            <a:off x="868680" y="3337560"/>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2</a:t>
            </a:r>
            <a:endParaRPr b="0" i="0" sz="1300" u="none" cap="none" strike="noStrike">
              <a:solidFill>
                <a:schemeClr val="dk1"/>
              </a:solidFill>
              <a:latin typeface="Calibri"/>
              <a:ea typeface="Calibri"/>
              <a:cs typeface="Calibri"/>
              <a:sym typeface="Calibri"/>
            </a:endParaRPr>
          </a:p>
        </p:txBody>
      </p:sp>
      <p:sp>
        <p:nvSpPr>
          <p:cNvPr id="230" name="Google Shape;230;p11"/>
          <p:cNvSpPr txBox="1"/>
          <p:nvPr/>
        </p:nvSpPr>
        <p:spPr>
          <a:xfrm>
            <a:off x="1371600" y="3118104"/>
            <a:ext cx="4160520" cy="7955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1150"/>
              <a:buFont typeface="Calibri"/>
              <a:buNone/>
            </a:pPr>
            <a:r>
              <a:rPr b="0" i="0" lang="en-US" sz="1150" u="none" cap="none" strike="noStrike">
                <a:solidFill>
                  <a:srgbClr val="1B2A4A"/>
                </a:solidFill>
                <a:latin typeface="Calibri"/>
                <a:ea typeface="Calibri"/>
                <a:cs typeface="Calibri"/>
                <a:sym typeface="Calibri"/>
              </a:rPr>
              <a:t>Embedding: bkai-foundation-models/vietnamese-bi-encoder (chuyên tiếng Việt)</a:t>
            </a:r>
            <a:endParaRPr b="0" i="0" sz="1150" u="none" cap="none" strike="noStrike">
              <a:solidFill>
                <a:schemeClr val="dk1"/>
              </a:solidFill>
              <a:latin typeface="Calibri"/>
              <a:ea typeface="Calibri"/>
              <a:cs typeface="Calibri"/>
              <a:sym typeface="Calibri"/>
            </a:endParaRPr>
          </a:p>
        </p:txBody>
      </p:sp>
      <p:sp>
        <p:nvSpPr>
          <p:cNvPr id="231" name="Google Shape;231;p11"/>
          <p:cNvSpPr/>
          <p:nvPr/>
        </p:nvSpPr>
        <p:spPr>
          <a:xfrm>
            <a:off x="731520" y="4023360"/>
            <a:ext cx="4892040" cy="795528"/>
          </a:xfrm>
          <a:prstGeom prst="roundRect">
            <a:avLst>
              <a:gd fmla="val 6897" name="adj"/>
            </a:avLst>
          </a:prstGeom>
          <a:solidFill>
            <a:srgbClr val="FFFFFF"/>
          </a:solidFill>
          <a:ln cap="flat" cmpd="sng" w="9525">
            <a:solidFill>
              <a:srgbClr val="CBD3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a:off x="868680" y="4242816"/>
            <a:ext cx="365760" cy="365760"/>
          </a:xfrm>
          <a:prstGeom prst="ellipse">
            <a:avLst/>
          </a:prstGeom>
          <a:solidFill>
            <a:srgbClr val="3D5A8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txBox="1"/>
          <p:nvPr/>
        </p:nvSpPr>
        <p:spPr>
          <a:xfrm>
            <a:off x="868680" y="4242816"/>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3</a:t>
            </a:r>
            <a:endParaRPr b="0" i="0" sz="1300" u="none" cap="none" strike="noStrike">
              <a:solidFill>
                <a:schemeClr val="dk1"/>
              </a:solidFill>
              <a:latin typeface="Calibri"/>
              <a:ea typeface="Calibri"/>
              <a:cs typeface="Calibri"/>
              <a:sym typeface="Calibri"/>
            </a:endParaRPr>
          </a:p>
        </p:txBody>
      </p:sp>
      <p:sp>
        <p:nvSpPr>
          <p:cNvPr id="234" name="Google Shape;234;p11"/>
          <p:cNvSpPr txBox="1"/>
          <p:nvPr/>
        </p:nvSpPr>
        <p:spPr>
          <a:xfrm>
            <a:off x="1371600" y="4023360"/>
            <a:ext cx="4160520" cy="7955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1150"/>
              <a:buFont typeface="Calibri"/>
              <a:buNone/>
            </a:pPr>
            <a:r>
              <a:rPr b="0" i="0" lang="en-US" sz="1150" u="none" cap="none" strike="noStrike">
                <a:solidFill>
                  <a:srgbClr val="1B2A4A"/>
                </a:solidFill>
                <a:latin typeface="Calibri"/>
                <a:ea typeface="Calibri"/>
                <a:cs typeface="Calibri"/>
                <a:sym typeface="Calibri"/>
              </a:rPr>
              <a:t>Index: FAISS IndexFlatIP — tìm kiếm inner-product chính xác</a:t>
            </a:r>
            <a:endParaRPr b="0" i="0" sz="1150" u="none" cap="none" strike="noStrike">
              <a:solidFill>
                <a:schemeClr val="dk1"/>
              </a:solidFill>
              <a:latin typeface="Calibri"/>
              <a:ea typeface="Calibri"/>
              <a:cs typeface="Calibri"/>
              <a:sym typeface="Calibri"/>
            </a:endParaRPr>
          </a:p>
        </p:txBody>
      </p:sp>
      <p:sp>
        <p:nvSpPr>
          <p:cNvPr id="235" name="Google Shape;235;p11"/>
          <p:cNvSpPr/>
          <p:nvPr/>
        </p:nvSpPr>
        <p:spPr>
          <a:xfrm>
            <a:off x="731520" y="4928616"/>
            <a:ext cx="4892040" cy="795528"/>
          </a:xfrm>
          <a:prstGeom prst="roundRect">
            <a:avLst>
              <a:gd fmla="val 6897" name="adj"/>
            </a:avLst>
          </a:prstGeom>
          <a:solidFill>
            <a:srgbClr val="FFFFFF"/>
          </a:solidFill>
          <a:ln cap="flat" cmpd="sng" w="9525">
            <a:solidFill>
              <a:srgbClr val="CBD3E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a:off x="868680" y="5148072"/>
            <a:ext cx="365760" cy="365760"/>
          </a:xfrm>
          <a:prstGeom prst="ellipse">
            <a:avLst/>
          </a:prstGeom>
          <a:solidFill>
            <a:srgbClr val="3D5A8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txBox="1"/>
          <p:nvPr/>
        </p:nvSpPr>
        <p:spPr>
          <a:xfrm>
            <a:off x="868680" y="5148072"/>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4</a:t>
            </a:r>
            <a:endParaRPr b="0" i="0" sz="1300" u="none" cap="none" strike="noStrike">
              <a:solidFill>
                <a:schemeClr val="dk1"/>
              </a:solidFill>
              <a:latin typeface="Calibri"/>
              <a:ea typeface="Calibri"/>
              <a:cs typeface="Calibri"/>
              <a:sym typeface="Calibri"/>
            </a:endParaRPr>
          </a:p>
        </p:txBody>
      </p:sp>
      <p:sp>
        <p:nvSpPr>
          <p:cNvPr id="238" name="Google Shape;238;p11"/>
          <p:cNvSpPr txBox="1"/>
          <p:nvPr/>
        </p:nvSpPr>
        <p:spPr>
          <a:xfrm>
            <a:off x="1371600" y="4928616"/>
            <a:ext cx="4160520" cy="7955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1150"/>
              <a:buFont typeface="Calibri"/>
              <a:buNone/>
            </a:pPr>
            <a:r>
              <a:rPr b="0" i="0" lang="en-US" sz="1150" u="none" cap="none" strike="noStrike">
                <a:solidFill>
                  <a:srgbClr val="1B2A4A"/>
                </a:solidFill>
                <a:latin typeface="Calibri"/>
                <a:ea typeface="Calibri"/>
                <a:cs typeface="Calibri"/>
                <a:sym typeface="Calibri"/>
              </a:rPr>
              <a:t>Truy xuất &amp; chấm điểm luôn ở cấp độ điều luật (aid), khớp độ chi tiết nhãn vàng</a:t>
            </a:r>
            <a:endParaRPr b="0" i="0" sz="1150" u="none" cap="none" strike="noStrike">
              <a:solidFill>
                <a:schemeClr val="dk1"/>
              </a:solidFill>
              <a:latin typeface="Calibri"/>
              <a:ea typeface="Calibri"/>
              <a:cs typeface="Calibri"/>
              <a:sym typeface="Calibri"/>
            </a:endParaRPr>
          </a:p>
        </p:txBody>
      </p:sp>
      <p:sp>
        <p:nvSpPr>
          <p:cNvPr id="239" name="Google Shape;239;p11"/>
          <p:cNvSpPr/>
          <p:nvPr/>
        </p:nvSpPr>
        <p:spPr>
          <a:xfrm>
            <a:off x="6080760" y="1554480"/>
            <a:ext cx="5650992" cy="4480560"/>
          </a:xfrm>
          <a:prstGeom prst="roundRect">
            <a:avLst>
              <a:gd fmla="val 1633" name="adj"/>
            </a:avLst>
          </a:prstGeom>
          <a:solidFill>
            <a:srgbClr val="E4E9F2"/>
          </a:solidFill>
          <a:ln>
            <a:noFill/>
          </a:ln>
          <a:effectLst>
            <a:outerShdw blurRad="76200" rotWithShape="0" algn="bl" dir="5400000" dist="25400">
              <a:srgbClr val="1B2A4A">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1"/>
          <p:cNvSpPr txBox="1"/>
          <p:nvPr/>
        </p:nvSpPr>
        <p:spPr>
          <a:xfrm>
            <a:off x="6355080" y="1755648"/>
            <a:ext cx="51206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5A80"/>
              </a:buClr>
              <a:buSzPts val="1700"/>
              <a:buFont typeface="Times New Roman"/>
              <a:buNone/>
            </a:pPr>
            <a:r>
              <a:rPr b="1" i="0" lang="en-US" sz="1700" u="none" cap="none" strike="noStrike">
                <a:solidFill>
                  <a:srgbClr val="3D5A80"/>
                </a:solidFill>
                <a:latin typeface="Times New Roman"/>
                <a:ea typeface="Times New Roman"/>
                <a:cs typeface="Times New Roman"/>
                <a:sym typeface="Times New Roman"/>
              </a:rPr>
              <a:t>Generator &amp; Reflection Prompts</a:t>
            </a:r>
            <a:endParaRPr b="0" i="0" sz="1700" u="none" cap="none" strike="noStrike">
              <a:solidFill>
                <a:schemeClr val="dk1"/>
              </a:solidFill>
              <a:latin typeface="Calibri"/>
              <a:ea typeface="Calibri"/>
              <a:cs typeface="Calibri"/>
              <a:sym typeface="Calibri"/>
            </a:endParaRPr>
          </a:p>
        </p:txBody>
      </p:sp>
      <p:sp>
        <p:nvSpPr>
          <p:cNvPr id="241" name="Google Shape;241;p11"/>
          <p:cNvSpPr txBox="1"/>
          <p:nvPr/>
        </p:nvSpPr>
        <p:spPr>
          <a:xfrm>
            <a:off x="6355080" y="2212848"/>
            <a:ext cx="5120640" cy="3657600"/>
          </a:xfrm>
          <a:prstGeom prst="rect">
            <a:avLst/>
          </a:prstGeom>
          <a:noFill/>
          <a:ln>
            <a:noFill/>
          </a:ln>
        </p:spPr>
        <p:txBody>
          <a:bodyPr anchorCtr="0" anchor="t" bIns="0" lIns="0" spcFirstLastPara="1" rIns="0" wrap="square" tIns="0">
            <a:noAutofit/>
          </a:bodyPr>
          <a:lstStyle/>
          <a:p>
            <a:pPr indent="-342900" lvl="0" marL="342900" marR="0" rtl="0" algn="l">
              <a:lnSpc>
                <a:spcPct val="108000"/>
              </a:lnSpc>
              <a:spcBef>
                <a:spcPts val="0"/>
              </a:spcBef>
              <a:spcAft>
                <a:spcPts val="0"/>
              </a:spcAft>
              <a:buClr>
                <a:srgbClr val="1B2A4A"/>
              </a:buClr>
              <a:buSzPts val="1300"/>
              <a:buFont typeface="Calibri"/>
              <a:buChar char="•"/>
            </a:pPr>
            <a:r>
              <a:rPr b="0" i="0" lang="en-US" sz="1300" u="none" cap="none" strike="noStrike">
                <a:solidFill>
                  <a:srgbClr val="1B2A4A"/>
                </a:solidFill>
                <a:latin typeface="Calibri"/>
                <a:ea typeface="Calibri"/>
                <a:cs typeface="Calibri"/>
                <a:sym typeface="Calibri"/>
              </a:rPr>
              <a:t>Toàn bộ generate + 4 module phản tư dùng chung một LLM nền qua Groq API (không cần setup billing)</a:t>
            </a:r>
            <a:endParaRPr b="0" i="0" sz="1300" u="none" cap="none" strike="noStrike">
              <a:solidFill>
                <a:schemeClr val="dk1"/>
              </a:solidFill>
              <a:latin typeface="Calibri"/>
              <a:ea typeface="Calibri"/>
              <a:cs typeface="Calibri"/>
              <a:sym typeface="Calibri"/>
            </a:endParaRPr>
          </a:p>
          <a:p>
            <a:pPr indent="-342900" lvl="0" marL="342900" marR="0" rtl="0" algn="l">
              <a:lnSpc>
                <a:spcPct val="108000"/>
              </a:lnSpc>
              <a:spcBef>
                <a:spcPts val="1000"/>
              </a:spcBef>
              <a:spcAft>
                <a:spcPts val="0"/>
              </a:spcAft>
              <a:buClr>
                <a:srgbClr val="1B2A4A"/>
              </a:buClr>
              <a:buSzPts val="1300"/>
              <a:buFont typeface="Calibri"/>
              <a:buChar char="•"/>
            </a:pPr>
            <a:r>
              <a:rPr b="0" i="0" lang="en-US" sz="1300" u="none" cap="none" strike="noStrike">
                <a:solidFill>
                  <a:srgbClr val="1B2A4A"/>
                </a:solidFill>
                <a:latin typeface="Calibri"/>
                <a:ea typeface="Calibri"/>
                <a:cs typeface="Calibri"/>
                <a:sym typeface="Calibri"/>
              </a:rPr>
              <a:t>Model không hardcode: pipeline tự dò client.models.list() và chọn từ danh sách ứng viên đã xếp hạng, tự chuyển model khi quota cạn</a:t>
            </a:r>
            <a:endParaRPr b="0" i="0" sz="1300" u="none" cap="none" strike="noStrike">
              <a:solidFill>
                <a:schemeClr val="dk1"/>
              </a:solidFill>
              <a:latin typeface="Calibri"/>
              <a:ea typeface="Calibri"/>
              <a:cs typeface="Calibri"/>
              <a:sym typeface="Calibri"/>
            </a:endParaRPr>
          </a:p>
          <a:p>
            <a:pPr indent="-342900" lvl="0" marL="342900" marR="0" rtl="0" algn="l">
              <a:lnSpc>
                <a:spcPct val="108000"/>
              </a:lnSpc>
              <a:spcBef>
                <a:spcPts val="1000"/>
              </a:spcBef>
              <a:spcAft>
                <a:spcPts val="0"/>
              </a:spcAft>
              <a:buClr>
                <a:srgbClr val="1B2A4A"/>
              </a:buClr>
              <a:buSzPts val="1300"/>
              <a:buFont typeface="Calibri"/>
              <a:buChar char="•"/>
            </a:pPr>
            <a:r>
              <a:rPr b="0" i="0" lang="en-US" sz="1300" u="none" cap="none" strike="noStrike">
                <a:solidFill>
                  <a:srgbClr val="1B2A4A"/>
                </a:solidFill>
                <a:latin typeface="Calibri"/>
                <a:ea typeface="Calibri"/>
                <a:cs typeface="Calibri"/>
                <a:sym typeface="Calibri"/>
              </a:rPr>
              <a:t>Mỗi prompt yêu cầu đúng 1 JSON object; parser chịu lỗi — tự bóc code-fence, dự phòng bằng regex khi model không tuân thủ định dạng</a:t>
            </a:r>
            <a:endParaRPr b="0" i="0" sz="1300" u="none" cap="none" strike="noStrike">
              <a:solidFill>
                <a:schemeClr val="dk1"/>
              </a:solidFill>
              <a:latin typeface="Calibri"/>
              <a:ea typeface="Calibri"/>
              <a:cs typeface="Calibri"/>
              <a:sym typeface="Calibri"/>
            </a:endParaRPr>
          </a:p>
          <a:p>
            <a:pPr indent="-342900" lvl="0" marL="342900" marR="0" rtl="0" algn="l">
              <a:lnSpc>
                <a:spcPct val="108000"/>
              </a:lnSpc>
              <a:spcBef>
                <a:spcPts val="1000"/>
              </a:spcBef>
              <a:spcAft>
                <a:spcPts val="0"/>
              </a:spcAft>
              <a:buClr>
                <a:srgbClr val="1B2A4A"/>
              </a:buClr>
              <a:buSzPts val="1300"/>
              <a:buFont typeface="Calibri"/>
              <a:buChar char="•"/>
            </a:pPr>
            <a:r>
              <a:rPr b="0" i="0" lang="en-US" sz="1300" u="none" cap="none" strike="noStrike">
                <a:solidFill>
                  <a:srgbClr val="1B2A4A"/>
                </a:solidFill>
                <a:latin typeface="Calibri"/>
                <a:ea typeface="Calibri"/>
                <a:cs typeface="Calibri"/>
                <a:sym typeface="Calibri"/>
              </a:rPr>
              <a:t>Vòng lặp checkpoint theo từng dòng JSON — an toàn khi mất kết nối Colab, resume không lặp lại câu đã xong</a:t>
            </a:r>
            <a:endParaRPr b="0" i="0" sz="1300" u="none" cap="none" strike="noStrike">
              <a:solidFill>
                <a:schemeClr val="dk1"/>
              </a:solidFill>
              <a:latin typeface="Calibri"/>
              <a:ea typeface="Calibri"/>
              <a:cs typeface="Calibri"/>
              <a:sym typeface="Calibri"/>
            </a:endParaRPr>
          </a:p>
        </p:txBody>
      </p:sp>
      <p:sp>
        <p:nvSpPr>
          <p:cNvPr id="242" name="Google Shape;242;p11"/>
          <p:cNvSpPr txBox="1"/>
          <p:nvPr/>
        </p:nvSpPr>
        <p:spPr>
          <a:xfrm>
            <a:off x="457200" y="6547104"/>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5"/>
              </a:buClr>
              <a:buSzPts val="900"/>
              <a:buFont typeface="Calibri"/>
              <a:buNone/>
            </a:pPr>
            <a:r>
              <a:rPr b="0" i="0" lang="en-US" sz="900" u="none" cap="none" strike="noStrike">
                <a:solidFill>
                  <a:srgbClr val="5B6B85"/>
                </a:solidFill>
                <a:latin typeface="Calibri"/>
                <a:ea typeface="Calibri"/>
                <a:cs typeface="Calibri"/>
                <a:sym typeface="Calibri"/>
              </a:rPr>
              <a:t>Self-RAG-Inspired Legal QA  ·  CS2308.CH203</a:t>
            </a:r>
            <a:endParaRPr b="0" i="0" sz="900" u="none" cap="none" strike="noStrike">
              <a:solidFill>
                <a:schemeClr val="dk1"/>
              </a:solidFill>
              <a:latin typeface="Calibri"/>
              <a:ea typeface="Calibri"/>
              <a:cs typeface="Calibri"/>
              <a:sym typeface="Calibri"/>
            </a:endParaRPr>
          </a:p>
        </p:txBody>
      </p:sp>
      <p:sp>
        <p:nvSpPr>
          <p:cNvPr id="243" name="Google Shape;243;p11"/>
          <p:cNvSpPr txBox="1"/>
          <p:nvPr/>
        </p:nvSpPr>
        <p:spPr>
          <a:xfrm>
            <a:off x="11274552" y="6547104"/>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B85"/>
              </a:buClr>
              <a:buSzPts val="900"/>
              <a:buFont typeface="Calibri"/>
              <a:buNone/>
            </a:pPr>
            <a:r>
              <a:rPr b="0" i="0" lang="en-US" sz="900" u="none" cap="none" strike="noStrike">
                <a:solidFill>
                  <a:srgbClr val="5B6B85"/>
                </a:solidFill>
                <a:latin typeface="Calibri"/>
                <a:ea typeface="Calibri"/>
                <a:cs typeface="Calibri"/>
                <a:sym typeface="Calibri"/>
              </a:rPr>
              <a:t>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8" name="Shape 248"/>
        <p:cNvGrpSpPr/>
        <p:nvPr/>
      </p:nvGrpSpPr>
      <p:grpSpPr>
        <a:xfrm>
          <a:off x="0" y="0"/>
          <a:ext cx="0" cy="0"/>
          <a:chOff x="0" y="0"/>
          <a:chExt cx="0" cy="0"/>
        </a:xfrm>
      </p:grpSpPr>
      <p:sp>
        <p:nvSpPr>
          <p:cNvPr id="249" name="Google Shape;249;p12"/>
          <p:cNvSpPr txBox="1"/>
          <p:nvPr/>
        </p:nvSpPr>
        <p:spPr>
          <a:xfrm>
            <a:off x="457200" y="320040"/>
            <a:ext cx="105156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1200"/>
              <a:buFont typeface="Calibri"/>
              <a:buNone/>
            </a:pPr>
            <a:r>
              <a:rPr b="1" i="0" lang="en-US" sz="1200" u="none" cap="none" strike="noStrike">
                <a:solidFill>
                  <a:srgbClr val="C9A227"/>
                </a:solidFill>
                <a:latin typeface="Calibri"/>
                <a:ea typeface="Calibri"/>
                <a:cs typeface="Calibri"/>
                <a:sym typeface="Calibri"/>
              </a:rPr>
              <a:t>04 · TRIỂN KHAI</a:t>
            </a:r>
            <a:endParaRPr b="0" i="0" sz="1200" u="none" cap="none" strike="noStrike">
              <a:solidFill>
                <a:schemeClr val="dk1"/>
              </a:solidFill>
              <a:latin typeface="Calibri"/>
              <a:ea typeface="Calibri"/>
              <a:cs typeface="Calibri"/>
              <a:sym typeface="Calibri"/>
            </a:endParaRPr>
          </a:p>
        </p:txBody>
      </p:sp>
      <p:sp>
        <p:nvSpPr>
          <p:cNvPr id="250" name="Google Shape;250;p12"/>
          <p:cNvSpPr txBox="1"/>
          <p:nvPr/>
        </p:nvSpPr>
        <p:spPr>
          <a:xfrm>
            <a:off x="457200" y="566928"/>
            <a:ext cx="1078992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A"/>
              </a:buClr>
              <a:buSzPts val="2800"/>
              <a:buFont typeface="Times New Roman"/>
              <a:buNone/>
            </a:pPr>
            <a:r>
              <a:rPr b="1" i="0" lang="en-US" sz="2800" u="none" cap="none" strike="noStrike">
                <a:solidFill>
                  <a:srgbClr val="1B2A4A"/>
                </a:solidFill>
                <a:latin typeface="Times New Roman"/>
                <a:ea typeface="Times New Roman"/>
                <a:cs typeface="Times New Roman"/>
                <a:sym typeface="Times New Roman"/>
              </a:rPr>
              <a:t>Thách thức kỹ thuật khi vận hành LLM-judge thực tế</a:t>
            </a:r>
            <a:endParaRPr b="0" i="0" sz="2800" u="none" cap="none" strike="noStrike">
              <a:solidFill>
                <a:schemeClr val="dk1"/>
              </a:solidFill>
              <a:latin typeface="Calibri"/>
              <a:ea typeface="Calibri"/>
              <a:cs typeface="Calibri"/>
              <a:sym typeface="Calibri"/>
            </a:endParaRPr>
          </a:p>
        </p:txBody>
      </p:sp>
      <p:sp>
        <p:nvSpPr>
          <p:cNvPr id="251" name="Google Shape;251;p12"/>
          <p:cNvSpPr txBox="1"/>
          <p:nvPr/>
        </p:nvSpPr>
        <p:spPr>
          <a:xfrm>
            <a:off x="457200" y="1280160"/>
            <a:ext cx="107899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5"/>
              </a:buClr>
              <a:buSzPts val="1250"/>
              <a:buFont typeface="Calibri"/>
              <a:buNone/>
            </a:pPr>
            <a:r>
              <a:rPr b="0" i="1" lang="en-US" sz="1250" u="none" cap="none" strike="noStrike">
                <a:solidFill>
                  <a:srgbClr val="5B6B85"/>
                </a:solidFill>
                <a:latin typeface="Calibri"/>
                <a:ea typeface="Calibri"/>
                <a:cs typeface="Calibri"/>
                <a:sym typeface="Calibri"/>
              </a:rPr>
              <a:t>Ba lỗi cụ thể đã chẩn đoán &amp; sửa — ảnh hưởng trực tiếp độ tin cậy của dữ liệu đánh giá</a:t>
            </a:r>
            <a:endParaRPr b="0" i="0" sz="1250" u="none" cap="none" strike="noStrike">
              <a:solidFill>
                <a:schemeClr val="dk1"/>
              </a:solidFill>
              <a:latin typeface="Calibri"/>
              <a:ea typeface="Calibri"/>
              <a:cs typeface="Calibri"/>
              <a:sym typeface="Calibri"/>
            </a:endParaRPr>
          </a:p>
        </p:txBody>
      </p:sp>
      <p:sp>
        <p:nvSpPr>
          <p:cNvPr id="252" name="Google Shape;252;p12"/>
          <p:cNvSpPr/>
          <p:nvPr/>
        </p:nvSpPr>
        <p:spPr>
          <a:xfrm>
            <a:off x="457200" y="1737360"/>
            <a:ext cx="11274552" cy="1417320"/>
          </a:xfrm>
          <a:prstGeom prst="roundRect">
            <a:avLst>
              <a:gd fmla="val 5161" name="adj"/>
            </a:avLst>
          </a:prstGeom>
          <a:solidFill>
            <a:srgbClr val="EEF1F6"/>
          </a:solidFill>
          <a:ln>
            <a:noFill/>
          </a:ln>
          <a:effectLst>
            <a:outerShdw blurRad="76200" rotWithShape="0" algn="bl" dir="5400000" dist="25400">
              <a:srgbClr val="1B2A4A">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2"/>
          <p:cNvSpPr/>
          <p:nvPr/>
        </p:nvSpPr>
        <p:spPr>
          <a:xfrm>
            <a:off x="713232" y="1993392"/>
            <a:ext cx="566928" cy="566928"/>
          </a:xfrm>
          <a:prstGeom prst="ellipse">
            <a:avLst/>
          </a:prstGeom>
          <a:solidFill>
            <a:srgbClr val="B23A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2"/>
          <p:cNvSpPr txBox="1"/>
          <p:nvPr/>
        </p:nvSpPr>
        <p:spPr>
          <a:xfrm>
            <a:off x="713232" y="1993392"/>
            <a:ext cx="566928"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Times New Roman"/>
              <a:buNone/>
            </a:pPr>
            <a:r>
              <a:rPr b="1" i="0" lang="en-US" sz="2000" u="none" cap="none" strike="noStrike">
                <a:solidFill>
                  <a:srgbClr val="FFFFFF"/>
                </a:solidFill>
                <a:latin typeface="Times New Roman"/>
                <a:ea typeface="Times New Roman"/>
                <a:cs typeface="Times New Roman"/>
                <a:sym typeface="Times New Roman"/>
              </a:rPr>
              <a:t>1</a:t>
            </a:r>
            <a:endParaRPr b="0" i="0" sz="2000" u="none" cap="none" strike="noStrike">
              <a:solidFill>
                <a:schemeClr val="dk1"/>
              </a:solidFill>
              <a:latin typeface="Calibri"/>
              <a:ea typeface="Calibri"/>
              <a:cs typeface="Calibri"/>
              <a:sym typeface="Calibri"/>
            </a:endParaRPr>
          </a:p>
        </p:txBody>
      </p:sp>
      <p:sp>
        <p:nvSpPr>
          <p:cNvPr id="255" name="Google Shape;255;p12"/>
          <p:cNvSpPr txBox="1"/>
          <p:nvPr/>
        </p:nvSpPr>
        <p:spPr>
          <a:xfrm>
            <a:off x="1508760" y="1865376"/>
            <a:ext cx="420624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A"/>
              </a:buClr>
              <a:buSzPts val="1350"/>
              <a:buFont typeface="Calibri"/>
              <a:buNone/>
            </a:pPr>
            <a:r>
              <a:rPr b="1" i="0" lang="en-US" sz="1350" u="none" cap="none" strike="noStrike">
                <a:solidFill>
                  <a:srgbClr val="1B2A4A"/>
                </a:solidFill>
                <a:latin typeface="Calibri"/>
                <a:ea typeface="Calibri"/>
                <a:cs typeface="Calibri"/>
                <a:sym typeface="Calibri"/>
              </a:rPr>
              <a:t>Nhiễm vết suy luận &lt;think&gt;</a:t>
            </a:r>
            <a:endParaRPr b="0" i="0" sz="1350" u="none" cap="none" strike="noStrike">
              <a:solidFill>
                <a:schemeClr val="dk1"/>
              </a:solidFill>
              <a:latin typeface="Calibri"/>
              <a:ea typeface="Calibri"/>
              <a:cs typeface="Calibri"/>
              <a:sym typeface="Calibri"/>
            </a:endParaRPr>
          </a:p>
        </p:txBody>
      </p:sp>
      <p:sp>
        <p:nvSpPr>
          <p:cNvPr id="256" name="Google Shape;256;p12"/>
          <p:cNvSpPr txBox="1"/>
          <p:nvPr/>
        </p:nvSpPr>
        <p:spPr>
          <a:xfrm>
            <a:off x="1508760" y="2340864"/>
            <a:ext cx="420624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B85"/>
              </a:buClr>
              <a:buSzPts val="1000"/>
              <a:buFont typeface="Calibri"/>
              <a:buNone/>
            </a:pPr>
            <a:r>
              <a:rPr b="0" i="0" lang="en-US" sz="1000" u="none" cap="none" strike="noStrike">
                <a:solidFill>
                  <a:srgbClr val="5B6B85"/>
                </a:solidFill>
                <a:latin typeface="Calibri"/>
                <a:ea typeface="Calibri"/>
                <a:cs typeface="Calibri"/>
                <a:sym typeface="Calibri"/>
              </a:rPr>
              <a:t>Model “thinking” luôn sinh khối &lt;think&gt;...&lt;/think&gt; trước JSON dù được yêu cầu chỉ trả JSON → parse sai, âm thầm rơi về nhãn mặc định (biểu hiện: 100% câu rơi vào 1 nhãn).</a:t>
            </a:r>
            <a:endParaRPr b="0" i="0" sz="1000" u="none" cap="none" strike="noStrike">
              <a:solidFill>
                <a:schemeClr val="dk1"/>
              </a:solidFill>
              <a:latin typeface="Calibri"/>
              <a:ea typeface="Calibri"/>
              <a:cs typeface="Calibri"/>
              <a:sym typeface="Calibri"/>
            </a:endParaRPr>
          </a:p>
        </p:txBody>
      </p:sp>
      <p:cxnSp>
        <p:nvCxnSpPr>
          <p:cNvPr id="257" name="Google Shape;257;p12"/>
          <p:cNvCxnSpPr/>
          <p:nvPr/>
        </p:nvCxnSpPr>
        <p:spPr>
          <a:xfrm>
            <a:off x="5897880" y="1901952"/>
            <a:ext cx="0" cy="1097280"/>
          </a:xfrm>
          <a:prstGeom prst="straightConnector1">
            <a:avLst/>
          </a:prstGeom>
          <a:noFill/>
          <a:ln cap="flat" cmpd="sng" w="12700">
            <a:solidFill>
              <a:srgbClr val="C7CEDC"/>
            </a:solidFill>
            <a:prstDash val="solid"/>
            <a:round/>
            <a:headEnd len="sm" w="sm" type="none"/>
            <a:tailEnd len="sm" w="sm" type="none"/>
          </a:ln>
        </p:spPr>
      </p:cxnSp>
      <p:sp>
        <p:nvSpPr>
          <p:cNvPr id="258" name="Google Shape;258;p12"/>
          <p:cNvSpPr txBox="1"/>
          <p:nvPr/>
        </p:nvSpPr>
        <p:spPr>
          <a:xfrm>
            <a:off x="6080760" y="1901952"/>
            <a:ext cx="548640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7D5B"/>
              </a:buClr>
              <a:buSzPts val="1150"/>
              <a:buFont typeface="Calibri"/>
              <a:buNone/>
            </a:pPr>
            <a:r>
              <a:rPr b="1" i="0" lang="en-US" sz="1150" u="none" cap="none" strike="noStrike">
                <a:solidFill>
                  <a:srgbClr val="2E7D5B"/>
                </a:solidFill>
                <a:latin typeface="Calibri"/>
                <a:ea typeface="Calibri"/>
                <a:cs typeface="Calibri"/>
                <a:sym typeface="Calibri"/>
              </a:rPr>
              <a:t>Cách xử lý:  </a:t>
            </a:r>
            <a:r>
              <a:rPr b="0" i="0" lang="en-US" sz="1150" u="none" cap="none" strike="noStrike">
                <a:solidFill>
                  <a:srgbClr val="1B2A4A"/>
                </a:solidFill>
                <a:latin typeface="Calibri"/>
                <a:ea typeface="Calibri"/>
                <a:cs typeface="Calibri"/>
                <a:sym typeface="Calibri"/>
              </a:rPr>
              <a:t>Sửa: strip_think() trước parse &amp; trước lưu; hạ ưu tiên model này trong failover.</a:t>
            </a:r>
            <a:endParaRPr b="0" i="0" sz="1150" u="none" cap="none" strike="noStrike">
              <a:solidFill>
                <a:schemeClr val="dk1"/>
              </a:solidFill>
              <a:latin typeface="Calibri"/>
              <a:ea typeface="Calibri"/>
              <a:cs typeface="Calibri"/>
              <a:sym typeface="Calibri"/>
            </a:endParaRPr>
          </a:p>
        </p:txBody>
      </p:sp>
      <p:sp>
        <p:nvSpPr>
          <p:cNvPr id="259" name="Google Shape;259;p12"/>
          <p:cNvSpPr/>
          <p:nvPr/>
        </p:nvSpPr>
        <p:spPr>
          <a:xfrm>
            <a:off x="457200" y="3273552"/>
            <a:ext cx="11274552" cy="1417320"/>
          </a:xfrm>
          <a:prstGeom prst="roundRect">
            <a:avLst>
              <a:gd fmla="val 5161" name="adj"/>
            </a:avLst>
          </a:prstGeom>
          <a:solidFill>
            <a:srgbClr val="EEF1F6"/>
          </a:solidFill>
          <a:ln>
            <a:noFill/>
          </a:ln>
          <a:effectLst>
            <a:outerShdw blurRad="76200" rotWithShape="0" algn="bl" dir="5400000" dist="25400">
              <a:srgbClr val="1B2A4A">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12"/>
          <p:cNvSpPr/>
          <p:nvPr/>
        </p:nvSpPr>
        <p:spPr>
          <a:xfrm>
            <a:off x="713232" y="3529584"/>
            <a:ext cx="566928" cy="566928"/>
          </a:xfrm>
          <a:prstGeom prst="ellipse">
            <a:avLst/>
          </a:prstGeom>
          <a:solidFill>
            <a:srgbClr val="B23A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2"/>
          <p:cNvSpPr txBox="1"/>
          <p:nvPr/>
        </p:nvSpPr>
        <p:spPr>
          <a:xfrm>
            <a:off x="713232" y="3529584"/>
            <a:ext cx="566928"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Times New Roman"/>
              <a:buNone/>
            </a:pPr>
            <a:r>
              <a:rPr b="1" i="0" lang="en-US" sz="2000" u="none" cap="none" strike="noStrike">
                <a:solidFill>
                  <a:srgbClr val="FFFFFF"/>
                </a:solidFill>
                <a:latin typeface="Times New Roman"/>
                <a:ea typeface="Times New Roman"/>
                <a:cs typeface="Times New Roman"/>
                <a:sym typeface="Times New Roman"/>
              </a:rPr>
              <a:t>2</a:t>
            </a:r>
            <a:endParaRPr b="0" i="0" sz="2000" u="none" cap="none" strike="noStrike">
              <a:solidFill>
                <a:schemeClr val="dk1"/>
              </a:solidFill>
              <a:latin typeface="Calibri"/>
              <a:ea typeface="Calibri"/>
              <a:cs typeface="Calibri"/>
              <a:sym typeface="Calibri"/>
            </a:endParaRPr>
          </a:p>
        </p:txBody>
      </p:sp>
      <p:sp>
        <p:nvSpPr>
          <p:cNvPr id="262" name="Google Shape;262;p12"/>
          <p:cNvSpPr txBox="1"/>
          <p:nvPr/>
        </p:nvSpPr>
        <p:spPr>
          <a:xfrm>
            <a:off x="1508760" y="3401568"/>
            <a:ext cx="420624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A"/>
              </a:buClr>
              <a:buSzPts val="1350"/>
              <a:buFont typeface="Calibri"/>
              <a:buNone/>
            </a:pPr>
            <a:r>
              <a:rPr b="1" i="0" lang="en-US" sz="1350" u="none" cap="none" strike="noStrike">
                <a:solidFill>
                  <a:srgbClr val="1B2A4A"/>
                </a:solidFill>
                <a:latin typeface="Calibri"/>
                <a:ea typeface="Calibri"/>
                <a:cs typeface="Calibri"/>
                <a:sym typeface="Calibri"/>
              </a:rPr>
              <a:t>Âm thầm dùng nhãn mặc định khi hết quota</a:t>
            </a:r>
            <a:endParaRPr b="0" i="0" sz="1350" u="none" cap="none" strike="noStrike">
              <a:solidFill>
                <a:schemeClr val="dk1"/>
              </a:solidFill>
              <a:latin typeface="Calibri"/>
              <a:ea typeface="Calibri"/>
              <a:cs typeface="Calibri"/>
              <a:sym typeface="Calibri"/>
            </a:endParaRPr>
          </a:p>
        </p:txBody>
      </p:sp>
      <p:sp>
        <p:nvSpPr>
          <p:cNvPr id="263" name="Google Shape;263;p12"/>
          <p:cNvSpPr txBox="1"/>
          <p:nvPr/>
        </p:nvSpPr>
        <p:spPr>
          <a:xfrm>
            <a:off x="1508760" y="3877056"/>
            <a:ext cx="420624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B85"/>
              </a:buClr>
              <a:buSzPts val="1000"/>
              <a:buFont typeface="Calibri"/>
              <a:buNone/>
            </a:pPr>
            <a:r>
              <a:rPr b="0" i="0" lang="en-US" sz="1000" u="none" cap="none" strike="noStrike">
                <a:solidFill>
                  <a:srgbClr val="5B6B85"/>
                </a:solidFill>
                <a:latin typeface="Calibri"/>
                <a:ea typeface="Calibri"/>
                <a:cs typeface="Calibri"/>
                <a:sym typeface="Calibri"/>
              </a:rPr>
              <a:t>Khi mọi model cùng hết quota, vòng lặp cũ vẫn tiếp tục ghi hàng trăm bản ghi mặc định thay vì dừng lại.</a:t>
            </a:r>
            <a:endParaRPr b="0" i="0" sz="1000" u="none" cap="none" strike="noStrike">
              <a:solidFill>
                <a:schemeClr val="dk1"/>
              </a:solidFill>
              <a:latin typeface="Calibri"/>
              <a:ea typeface="Calibri"/>
              <a:cs typeface="Calibri"/>
              <a:sym typeface="Calibri"/>
            </a:endParaRPr>
          </a:p>
        </p:txBody>
      </p:sp>
      <p:cxnSp>
        <p:nvCxnSpPr>
          <p:cNvPr id="264" name="Google Shape;264;p12"/>
          <p:cNvCxnSpPr/>
          <p:nvPr/>
        </p:nvCxnSpPr>
        <p:spPr>
          <a:xfrm>
            <a:off x="5897880" y="3438144"/>
            <a:ext cx="0" cy="1097280"/>
          </a:xfrm>
          <a:prstGeom prst="straightConnector1">
            <a:avLst/>
          </a:prstGeom>
          <a:noFill/>
          <a:ln cap="flat" cmpd="sng" w="12700">
            <a:solidFill>
              <a:srgbClr val="C7CEDC"/>
            </a:solidFill>
            <a:prstDash val="solid"/>
            <a:round/>
            <a:headEnd len="sm" w="sm" type="none"/>
            <a:tailEnd len="sm" w="sm" type="none"/>
          </a:ln>
        </p:spPr>
      </p:cxnSp>
      <p:sp>
        <p:nvSpPr>
          <p:cNvPr id="265" name="Google Shape;265;p12"/>
          <p:cNvSpPr txBox="1"/>
          <p:nvPr/>
        </p:nvSpPr>
        <p:spPr>
          <a:xfrm>
            <a:off x="6080760" y="3438144"/>
            <a:ext cx="548640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7D5B"/>
              </a:buClr>
              <a:buSzPts val="1150"/>
              <a:buFont typeface="Calibri"/>
              <a:buNone/>
            </a:pPr>
            <a:r>
              <a:rPr b="1" i="0" lang="en-US" sz="1150" u="none" cap="none" strike="noStrike">
                <a:solidFill>
                  <a:srgbClr val="2E7D5B"/>
                </a:solidFill>
                <a:latin typeface="Calibri"/>
                <a:ea typeface="Calibri"/>
                <a:cs typeface="Calibri"/>
                <a:sym typeface="Calibri"/>
              </a:rPr>
              <a:t>Cách xử lý:  </a:t>
            </a:r>
            <a:r>
              <a:rPr b="0" i="0" lang="en-US" sz="1150" u="none" cap="none" strike="noStrike">
                <a:solidFill>
                  <a:srgbClr val="1B2A4A"/>
                </a:solidFill>
                <a:latin typeface="Calibri"/>
                <a:ea typeface="Calibri"/>
                <a:cs typeface="Calibri"/>
                <a:sym typeface="Calibri"/>
              </a:rPr>
              <a:t>Sửa: kiểm tra model khả dụng trước mỗi câu, dừng sớm + log _reason + cảnh báo rõ ràng.</a:t>
            </a:r>
            <a:endParaRPr b="0" i="0" sz="1150" u="none" cap="none" strike="noStrike">
              <a:solidFill>
                <a:schemeClr val="dk1"/>
              </a:solidFill>
              <a:latin typeface="Calibri"/>
              <a:ea typeface="Calibri"/>
              <a:cs typeface="Calibri"/>
              <a:sym typeface="Calibri"/>
            </a:endParaRPr>
          </a:p>
        </p:txBody>
      </p:sp>
      <p:sp>
        <p:nvSpPr>
          <p:cNvPr id="266" name="Google Shape;266;p12"/>
          <p:cNvSpPr/>
          <p:nvPr/>
        </p:nvSpPr>
        <p:spPr>
          <a:xfrm>
            <a:off x="457200" y="4809744"/>
            <a:ext cx="11274552" cy="1417320"/>
          </a:xfrm>
          <a:prstGeom prst="roundRect">
            <a:avLst>
              <a:gd fmla="val 5161" name="adj"/>
            </a:avLst>
          </a:prstGeom>
          <a:solidFill>
            <a:srgbClr val="EEF1F6"/>
          </a:solidFill>
          <a:ln>
            <a:noFill/>
          </a:ln>
          <a:effectLst>
            <a:outerShdw blurRad="76200" rotWithShape="0" algn="bl" dir="5400000" dist="25400">
              <a:srgbClr val="1B2A4A">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2"/>
          <p:cNvSpPr/>
          <p:nvPr/>
        </p:nvSpPr>
        <p:spPr>
          <a:xfrm>
            <a:off x="713232" y="5065776"/>
            <a:ext cx="566928" cy="566928"/>
          </a:xfrm>
          <a:prstGeom prst="ellipse">
            <a:avLst/>
          </a:prstGeom>
          <a:solidFill>
            <a:srgbClr val="B23A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2"/>
          <p:cNvSpPr txBox="1"/>
          <p:nvPr/>
        </p:nvSpPr>
        <p:spPr>
          <a:xfrm>
            <a:off x="713232" y="5065776"/>
            <a:ext cx="566928" cy="56692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000"/>
              <a:buFont typeface="Times New Roman"/>
              <a:buNone/>
            </a:pPr>
            <a:r>
              <a:rPr b="1" i="0" lang="en-US" sz="2000" u="none" cap="none" strike="noStrike">
                <a:solidFill>
                  <a:srgbClr val="FFFFFF"/>
                </a:solidFill>
                <a:latin typeface="Times New Roman"/>
                <a:ea typeface="Times New Roman"/>
                <a:cs typeface="Times New Roman"/>
                <a:sym typeface="Times New Roman"/>
              </a:rPr>
              <a:t>3</a:t>
            </a:r>
            <a:endParaRPr b="0" i="0" sz="2000" u="none" cap="none" strike="noStrike">
              <a:solidFill>
                <a:schemeClr val="dk1"/>
              </a:solidFill>
              <a:latin typeface="Calibri"/>
              <a:ea typeface="Calibri"/>
              <a:cs typeface="Calibri"/>
              <a:sym typeface="Calibri"/>
            </a:endParaRPr>
          </a:p>
        </p:txBody>
      </p:sp>
      <p:sp>
        <p:nvSpPr>
          <p:cNvPr id="269" name="Google Shape;269;p12"/>
          <p:cNvSpPr txBox="1"/>
          <p:nvPr/>
        </p:nvSpPr>
        <p:spPr>
          <a:xfrm>
            <a:off x="1508760" y="4937760"/>
            <a:ext cx="420624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A"/>
              </a:buClr>
              <a:buSzPts val="1350"/>
              <a:buFont typeface="Calibri"/>
              <a:buNone/>
            </a:pPr>
            <a:r>
              <a:rPr b="1" i="0" lang="en-US" sz="1350" u="none" cap="none" strike="noStrike">
                <a:solidFill>
                  <a:srgbClr val="1B2A4A"/>
                </a:solidFill>
                <a:latin typeface="Calibri"/>
                <a:ea typeface="Calibri"/>
                <a:cs typeface="Calibri"/>
                <a:sym typeface="Calibri"/>
              </a:rPr>
              <a:t>413 “Request too large” hiểu nhầm hết quota</a:t>
            </a:r>
            <a:endParaRPr b="0" i="0" sz="1350" u="none" cap="none" strike="noStrike">
              <a:solidFill>
                <a:schemeClr val="dk1"/>
              </a:solidFill>
              <a:latin typeface="Calibri"/>
              <a:ea typeface="Calibri"/>
              <a:cs typeface="Calibri"/>
              <a:sym typeface="Calibri"/>
            </a:endParaRPr>
          </a:p>
        </p:txBody>
      </p:sp>
      <p:sp>
        <p:nvSpPr>
          <p:cNvPr id="270" name="Google Shape;270;p12"/>
          <p:cNvSpPr txBox="1"/>
          <p:nvPr/>
        </p:nvSpPr>
        <p:spPr>
          <a:xfrm>
            <a:off x="1508760" y="5413248"/>
            <a:ext cx="4206240" cy="7772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B6B85"/>
              </a:buClr>
              <a:buSzPts val="1000"/>
              <a:buFont typeface="Calibri"/>
              <a:buNone/>
            </a:pPr>
            <a:r>
              <a:rPr b="0" i="0" lang="en-US" sz="1000" u="none" cap="none" strike="noStrike">
                <a:solidFill>
                  <a:srgbClr val="5B6B85"/>
                </a:solidFill>
                <a:latin typeface="Calibri"/>
                <a:ea typeface="Calibri"/>
                <a:cs typeface="Calibri"/>
                <a:sym typeface="Calibri"/>
              </a:rPr>
              <a:t>Một prompt judge-support ghép nhiều điều luật dài vượt giới hạn token/phút → bị coi giống hết-quota-theo-giờ, khoá nhầm cả 3 model.</a:t>
            </a:r>
            <a:endParaRPr b="0" i="0" sz="1000" u="none" cap="none" strike="noStrike">
              <a:solidFill>
                <a:schemeClr val="dk1"/>
              </a:solidFill>
              <a:latin typeface="Calibri"/>
              <a:ea typeface="Calibri"/>
              <a:cs typeface="Calibri"/>
              <a:sym typeface="Calibri"/>
            </a:endParaRPr>
          </a:p>
        </p:txBody>
      </p:sp>
      <p:cxnSp>
        <p:nvCxnSpPr>
          <p:cNvPr id="271" name="Google Shape;271;p12"/>
          <p:cNvCxnSpPr/>
          <p:nvPr/>
        </p:nvCxnSpPr>
        <p:spPr>
          <a:xfrm>
            <a:off x="5897880" y="4974336"/>
            <a:ext cx="0" cy="1097280"/>
          </a:xfrm>
          <a:prstGeom prst="straightConnector1">
            <a:avLst/>
          </a:prstGeom>
          <a:noFill/>
          <a:ln cap="flat" cmpd="sng" w="12700">
            <a:solidFill>
              <a:srgbClr val="C7CEDC"/>
            </a:solidFill>
            <a:prstDash val="solid"/>
            <a:round/>
            <a:headEnd len="sm" w="sm" type="none"/>
            <a:tailEnd len="sm" w="sm" type="none"/>
          </a:ln>
        </p:spPr>
      </p:cxnSp>
      <p:sp>
        <p:nvSpPr>
          <p:cNvPr id="272" name="Google Shape;272;p12"/>
          <p:cNvSpPr txBox="1"/>
          <p:nvPr/>
        </p:nvSpPr>
        <p:spPr>
          <a:xfrm>
            <a:off x="6080760" y="4974336"/>
            <a:ext cx="548640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7D5B"/>
              </a:buClr>
              <a:buSzPts val="1150"/>
              <a:buFont typeface="Calibri"/>
              <a:buNone/>
            </a:pPr>
            <a:r>
              <a:rPr b="1" i="0" lang="en-US" sz="1150" u="none" cap="none" strike="noStrike">
                <a:solidFill>
                  <a:srgbClr val="2E7D5B"/>
                </a:solidFill>
                <a:latin typeface="Calibri"/>
                <a:ea typeface="Calibri"/>
                <a:cs typeface="Calibri"/>
                <a:sym typeface="Calibri"/>
              </a:rPr>
              <a:t>Cách xử lý:  </a:t>
            </a:r>
            <a:r>
              <a:rPr b="0" i="0" lang="en-US" sz="1150" u="none" cap="none" strike="noStrike">
                <a:solidFill>
                  <a:srgbClr val="1B2A4A"/>
                </a:solidFill>
                <a:latin typeface="Calibri"/>
                <a:ea typeface="Calibri"/>
                <a:cs typeface="Calibri"/>
                <a:sym typeface="Calibri"/>
              </a:rPr>
              <a:t>Sửa: 413 không đánh dấu model hỏng; cắt độ dài mỗi điều luật (MAX_CHUNK_CHARS).</a:t>
            </a:r>
            <a:endParaRPr b="0" i="0" sz="1150" u="none" cap="none" strike="noStrike">
              <a:solidFill>
                <a:schemeClr val="dk1"/>
              </a:solidFill>
              <a:latin typeface="Calibri"/>
              <a:ea typeface="Calibri"/>
              <a:cs typeface="Calibri"/>
              <a:sym typeface="Calibri"/>
            </a:endParaRPr>
          </a:p>
        </p:txBody>
      </p:sp>
      <p:sp>
        <p:nvSpPr>
          <p:cNvPr id="273" name="Google Shape;273;p12"/>
          <p:cNvSpPr txBox="1"/>
          <p:nvPr/>
        </p:nvSpPr>
        <p:spPr>
          <a:xfrm>
            <a:off x="457200" y="6547104"/>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5"/>
              </a:buClr>
              <a:buSzPts val="900"/>
              <a:buFont typeface="Calibri"/>
              <a:buNone/>
            </a:pPr>
            <a:r>
              <a:rPr b="0" i="0" lang="en-US" sz="900" u="none" cap="none" strike="noStrike">
                <a:solidFill>
                  <a:srgbClr val="5B6B85"/>
                </a:solidFill>
                <a:latin typeface="Calibri"/>
                <a:ea typeface="Calibri"/>
                <a:cs typeface="Calibri"/>
                <a:sym typeface="Calibri"/>
              </a:rPr>
              <a:t>Self-RAG-Inspired Legal QA  ·  CS2308.CH203</a:t>
            </a:r>
            <a:endParaRPr b="0" i="0" sz="900" u="none" cap="none" strike="noStrike">
              <a:solidFill>
                <a:schemeClr val="dk1"/>
              </a:solidFill>
              <a:latin typeface="Calibri"/>
              <a:ea typeface="Calibri"/>
              <a:cs typeface="Calibri"/>
              <a:sym typeface="Calibri"/>
            </a:endParaRPr>
          </a:p>
        </p:txBody>
      </p:sp>
      <p:sp>
        <p:nvSpPr>
          <p:cNvPr id="274" name="Google Shape;274;p12"/>
          <p:cNvSpPr txBox="1"/>
          <p:nvPr/>
        </p:nvSpPr>
        <p:spPr>
          <a:xfrm>
            <a:off x="11274552" y="6547104"/>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B85"/>
              </a:buClr>
              <a:buSzPts val="900"/>
              <a:buFont typeface="Calibri"/>
              <a:buNone/>
            </a:pPr>
            <a:r>
              <a:rPr b="0" i="0" lang="en-US" sz="900" u="none" cap="none" strike="noStrike">
                <a:solidFill>
                  <a:srgbClr val="5B6B85"/>
                </a:solidFill>
                <a:latin typeface="Calibri"/>
                <a:ea typeface="Calibri"/>
                <a:cs typeface="Calibri"/>
                <a:sym typeface="Calibri"/>
              </a:rPr>
              <a:t>10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9" name="Shape 279"/>
        <p:cNvGrpSpPr/>
        <p:nvPr/>
      </p:nvGrpSpPr>
      <p:grpSpPr>
        <a:xfrm>
          <a:off x="0" y="0"/>
          <a:ext cx="0" cy="0"/>
          <a:chOff x="0" y="0"/>
          <a:chExt cx="0" cy="0"/>
        </a:xfrm>
      </p:grpSpPr>
      <p:sp>
        <p:nvSpPr>
          <p:cNvPr id="280" name="Google Shape;280;p13"/>
          <p:cNvSpPr txBox="1"/>
          <p:nvPr/>
        </p:nvSpPr>
        <p:spPr>
          <a:xfrm>
            <a:off x="457200" y="320040"/>
            <a:ext cx="105156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1200"/>
              <a:buFont typeface="Calibri"/>
              <a:buNone/>
            </a:pPr>
            <a:r>
              <a:rPr b="1" i="0" lang="en-US" sz="1200" u="none" cap="none" strike="noStrike">
                <a:solidFill>
                  <a:srgbClr val="C9A227"/>
                </a:solidFill>
                <a:latin typeface="Calibri"/>
                <a:ea typeface="Calibri"/>
                <a:cs typeface="Calibri"/>
                <a:sym typeface="Calibri"/>
              </a:rPr>
              <a:t>05 · THỰC NGHIỆM</a:t>
            </a:r>
            <a:endParaRPr b="0" i="0" sz="1200" u="none" cap="none" strike="noStrike">
              <a:solidFill>
                <a:schemeClr val="dk1"/>
              </a:solidFill>
              <a:latin typeface="Calibri"/>
              <a:ea typeface="Calibri"/>
              <a:cs typeface="Calibri"/>
              <a:sym typeface="Calibri"/>
            </a:endParaRPr>
          </a:p>
        </p:txBody>
      </p:sp>
      <p:sp>
        <p:nvSpPr>
          <p:cNvPr id="281" name="Google Shape;281;p13"/>
          <p:cNvSpPr txBox="1"/>
          <p:nvPr/>
        </p:nvSpPr>
        <p:spPr>
          <a:xfrm>
            <a:off x="457200" y="566928"/>
            <a:ext cx="1078992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A"/>
              </a:buClr>
              <a:buSzPts val="2800"/>
              <a:buFont typeface="Times New Roman"/>
              <a:buNone/>
            </a:pPr>
            <a:r>
              <a:rPr b="1" i="0" lang="en-US" sz="2800" u="none" cap="none" strike="noStrike">
                <a:solidFill>
                  <a:srgbClr val="1B2A4A"/>
                </a:solidFill>
                <a:latin typeface="Times New Roman"/>
                <a:ea typeface="Times New Roman"/>
                <a:cs typeface="Times New Roman"/>
                <a:sym typeface="Times New Roman"/>
              </a:rPr>
              <a:t>Thiết lập đánh giá &amp; kiểm chứng chất lượng dữ liệu</a:t>
            </a:r>
            <a:endParaRPr b="0" i="0" sz="2800" u="none" cap="none" strike="noStrike">
              <a:solidFill>
                <a:schemeClr val="dk1"/>
              </a:solidFill>
              <a:latin typeface="Calibri"/>
              <a:ea typeface="Calibri"/>
              <a:cs typeface="Calibri"/>
              <a:sym typeface="Calibri"/>
            </a:endParaRPr>
          </a:p>
        </p:txBody>
      </p:sp>
      <p:sp>
        <p:nvSpPr>
          <p:cNvPr id="282" name="Google Shape;282;p13"/>
          <p:cNvSpPr txBox="1"/>
          <p:nvPr/>
        </p:nvSpPr>
        <p:spPr>
          <a:xfrm>
            <a:off x="457200" y="1463040"/>
            <a:ext cx="53949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5A80"/>
              </a:buClr>
              <a:buSzPts val="1400"/>
              <a:buFont typeface="Calibri"/>
              <a:buNone/>
            </a:pPr>
            <a:r>
              <a:rPr b="1" i="0" lang="en-US" sz="1400" u="none" cap="none" strike="noStrike">
                <a:solidFill>
                  <a:srgbClr val="3D5A80"/>
                </a:solidFill>
                <a:latin typeface="Calibri"/>
                <a:ea typeface="Calibri"/>
                <a:cs typeface="Calibri"/>
                <a:sym typeface="Calibri"/>
              </a:rPr>
              <a:t>Cỡ mẫu thực tế (funnel)</a:t>
            </a:r>
            <a:endParaRPr b="0" i="0" sz="1400" u="none" cap="none" strike="noStrike">
              <a:solidFill>
                <a:schemeClr val="dk1"/>
              </a:solidFill>
              <a:latin typeface="Calibri"/>
              <a:ea typeface="Calibri"/>
              <a:cs typeface="Calibri"/>
              <a:sym typeface="Calibri"/>
            </a:endParaRPr>
          </a:p>
        </p:txBody>
      </p:sp>
      <p:sp>
        <p:nvSpPr>
          <p:cNvPr id="283" name="Google Shape;283;p13"/>
          <p:cNvSpPr/>
          <p:nvPr/>
        </p:nvSpPr>
        <p:spPr>
          <a:xfrm>
            <a:off x="457200" y="1874520"/>
            <a:ext cx="1691640" cy="1417320"/>
          </a:xfrm>
          <a:prstGeom prst="roundRect">
            <a:avLst>
              <a:gd fmla="val 5161" name="adj"/>
            </a:avLst>
          </a:prstGeom>
          <a:solidFill>
            <a:srgbClr val="EEF1F6"/>
          </a:solidFill>
          <a:ln>
            <a:noFill/>
          </a:ln>
          <a:effectLst>
            <a:outerShdw blurRad="76200" rotWithShape="0" algn="bl" dir="5400000" dist="25400">
              <a:srgbClr val="1B2A4A">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3"/>
          <p:cNvSpPr txBox="1"/>
          <p:nvPr/>
        </p:nvSpPr>
        <p:spPr>
          <a:xfrm>
            <a:off x="457200" y="2011680"/>
            <a:ext cx="169164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2A4A"/>
              </a:buClr>
              <a:buSzPts val="3400"/>
              <a:buFont typeface="Times New Roman"/>
              <a:buNone/>
            </a:pPr>
            <a:r>
              <a:rPr b="1" i="0" lang="en-US" sz="3400" u="none" cap="none" strike="noStrike">
                <a:solidFill>
                  <a:srgbClr val="1B2A4A"/>
                </a:solidFill>
                <a:latin typeface="Times New Roman"/>
                <a:ea typeface="Times New Roman"/>
                <a:cs typeface="Times New Roman"/>
                <a:sym typeface="Times New Roman"/>
              </a:rPr>
              <a:t>250</a:t>
            </a:r>
            <a:endParaRPr b="0" i="0" sz="3400" u="none" cap="none" strike="noStrike">
              <a:solidFill>
                <a:schemeClr val="dk1"/>
              </a:solidFill>
              <a:latin typeface="Calibri"/>
              <a:ea typeface="Calibri"/>
              <a:cs typeface="Calibri"/>
              <a:sym typeface="Calibri"/>
            </a:endParaRPr>
          </a:p>
        </p:txBody>
      </p:sp>
      <p:sp>
        <p:nvSpPr>
          <p:cNvPr id="285" name="Google Shape;285;p13"/>
          <p:cNvSpPr txBox="1"/>
          <p:nvPr/>
        </p:nvSpPr>
        <p:spPr>
          <a:xfrm>
            <a:off x="457200" y="2670048"/>
            <a:ext cx="1691640" cy="5029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B6B85"/>
              </a:buClr>
              <a:buSzPts val="1150"/>
              <a:buFont typeface="Calibri"/>
              <a:buNone/>
            </a:pPr>
            <a:r>
              <a:rPr b="0" i="0" lang="en-US" sz="1150" u="none" cap="none" strike="noStrike">
                <a:solidFill>
                  <a:srgbClr val="5B6B85"/>
                </a:solidFill>
                <a:latin typeface="Calibri"/>
                <a:ea typeface="Calibri"/>
                <a:cs typeface="Calibri"/>
                <a:sym typeface="Calibri"/>
              </a:rPr>
              <a:t>Dev set cố định</a:t>
            </a:r>
            <a:endParaRPr b="0" i="0" sz="1150" u="none" cap="none" strike="noStrike">
              <a:solidFill>
                <a:schemeClr val="dk1"/>
              </a:solidFill>
              <a:latin typeface="Calibri"/>
              <a:ea typeface="Calibri"/>
              <a:cs typeface="Calibri"/>
              <a:sym typeface="Calibri"/>
            </a:endParaRPr>
          </a:p>
        </p:txBody>
      </p:sp>
      <p:sp>
        <p:nvSpPr>
          <p:cNvPr id="286" name="Google Shape;286;p13"/>
          <p:cNvSpPr txBox="1"/>
          <p:nvPr/>
        </p:nvSpPr>
        <p:spPr>
          <a:xfrm>
            <a:off x="2103120" y="2331720"/>
            <a:ext cx="36576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9A227"/>
              </a:buClr>
              <a:buSzPts val="1800"/>
              <a:buFont typeface="Calibri"/>
              <a:buNone/>
            </a:pPr>
            <a:r>
              <a:rPr b="1" i="0" lang="en-US" sz="1800" u="none" cap="none" strike="noStrike">
                <a:solidFill>
                  <a:srgbClr val="C9A227"/>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287" name="Google Shape;287;p13"/>
          <p:cNvSpPr/>
          <p:nvPr/>
        </p:nvSpPr>
        <p:spPr>
          <a:xfrm>
            <a:off x="2468880" y="1874520"/>
            <a:ext cx="1691640" cy="1417320"/>
          </a:xfrm>
          <a:prstGeom prst="roundRect">
            <a:avLst>
              <a:gd fmla="val 5161" name="adj"/>
            </a:avLst>
          </a:prstGeom>
          <a:solidFill>
            <a:srgbClr val="EEF1F6"/>
          </a:solidFill>
          <a:ln>
            <a:noFill/>
          </a:ln>
          <a:effectLst>
            <a:outerShdw blurRad="76200" rotWithShape="0" algn="bl" dir="5400000" dist="25400">
              <a:srgbClr val="1B2A4A">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13"/>
          <p:cNvSpPr txBox="1"/>
          <p:nvPr/>
        </p:nvSpPr>
        <p:spPr>
          <a:xfrm>
            <a:off x="2468880" y="2011680"/>
            <a:ext cx="169164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B2A4A"/>
              </a:buClr>
              <a:buSzPts val="3400"/>
              <a:buFont typeface="Times New Roman"/>
              <a:buNone/>
            </a:pPr>
            <a:r>
              <a:rPr b="1" i="0" lang="en-US" sz="3400" u="none" cap="none" strike="noStrike">
                <a:solidFill>
                  <a:srgbClr val="1B2A4A"/>
                </a:solidFill>
                <a:latin typeface="Times New Roman"/>
                <a:ea typeface="Times New Roman"/>
                <a:cs typeface="Times New Roman"/>
                <a:sym typeface="Times New Roman"/>
              </a:rPr>
              <a:t>202</a:t>
            </a:r>
            <a:endParaRPr b="0" i="0" sz="3400" u="none" cap="none" strike="noStrike">
              <a:solidFill>
                <a:schemeClr val="dk1"/>
              </a:solidFill>
              <a:latin typeface="Calibri"/>
              <a:ea typeface="Calibri"/>
              <a:cs typeface="Calibri"/>
              <a:sym typeface="Calibri"/>
            </a:endParaRPr>
          </a:p>
        </p:txBody>
      </p:sp>
      <p:sp>
        <p:nvSpPr>
          <p:cNvPr id="289" name="Google Shape;289;p13"/>
          <p:cNvSpPr txBox="1"/>
          <p:nvPr/>
        </p:nvSpPr>
        <p:spPr>
          <a:xfrm>
            <a:off x="2468880" y="2670048"/>
            <a:ext cx="1691640" cy="5029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B6B85"/>
              </a:buClr>
              <a:buSzPts val="1150"/>
              <a:buFont typeface="Calibri"/>
              <a:buNone/>
            </a:pPr>
            <a:r>
              <a:rPr b="0" i="0" lang="en-US" sz="1150" u="none" cap="none" strike="noStrike">
                <a:solidFill>
                  <a:srgbClr val="5B6B85"/>
                </a:solidFill>
                <a:latin typeface="Calibri"/>
                <a:ea typeface="Calibri"/>
                <a:cs typeface="Calibri"/>
                <a:sym typeface="Calibri"/>
              </a:rPr>
              <a:t>Self-RAG hoàn thành (80.8%)</a:t>
            </a:r>
            <a:endParaRPr b="0" i="0" sz="1150" u="none" cap="none" strike="noStrike">
              <a:solidFill>
                <a:schemeClr val="dk1"/>
              </a:solidFill>
              <a:latin typeface="Calibri"/>
              <a:ea typeface="Calibri"/>
              <a:cs typeface="Calibri"/>
              <a:sym typeface="Calibri"/>
            </a:endParaRPr>
          </a:p>
        </p:txBody>
      </p:sp>
      <p:sp>
        <p:nvSpPr>
          <p:cNvPr id="290" name="Google Shape;290;p13"/>
          <p:cNvSpPr txBox="1"/>
          <p:nvPr/>
        </p:nvSpPr>
        <p:spPr>
          <a:xfrm>
            <a:off x="4114800" y="2331720"/>
            <a:ext cx="36576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9A227"/>
              </a:buClr>
              <a:buSzPts val="1800"/>
              <a:buFont typeface="Calibri"/>
              <a:buNone/>
            </a:pPr>
            <a:r>
              <a:rPr b="1" i="0" lang="en-US" sz="1800" u="none" cap="none" strike="noStrike">
                <a:solidFill>
                  <a:srgbClr val="C9A227"/>
                </a:solidFill>
                <a:latin typeface="Calibri"/>
                <a:ea typeface="Calibri"/>
                <a:cs typeface="Calibri"/>
                <a:sym typeface="Calibri"/>
              </a:rPr>
              <a:t>→</a:t>
            </a:r>
            <a:endParaRPr b="0" i="0" sz="1800" u="none" cap="none" strike="noStrike">
              <a:solidFill>
                <a:schemeClr val="dk1"/>
              </a:solidFill>
              <a:latin typeface="Calibri"/>
              <a:ea typeface="Calibri"/>
              <a:cs typeface="Calibri"/>
              <a:sym typeface="Calibri"/>
            </a:endParaRPr>
          </a:p>
        </p:txBody>
      </p:sp>
      <p:sp>
        <p:nvSpPr>
          <p:cNvPr id="291" name="Google Shape;291;p13"/>
          <p:cNvSpPr/>
          <p:nvPr/>
        </p:nvSpPr>
        <p:spPr>
          <a:xfrm>
            <a:off x="4480560" y="1874520"/>
            <a:ext cx="1691640" cy="1417320"/>
          </a:xfrm>
          <a:prstGeom prst="roundRect">
            <a:avLst>
              <a:gd fmla="val 5161" name="adj"/>
            </a:avLst>
          </a:prstGeom>
          <a:solidFill>
            <a:srgbClr val="E3F0E9"/>
          </a:solidFill>
          <a:ln>
            <a:noFill/>
          </a:ln>
          <a:effectLst>
            <a:outerShdw blurRad="76200" rotWithShape="0" algn="bl" dir="5400000" dist="25400">
              <a:srgbClr val="1B2A4A">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13"/>
          <p:cNvSpPr txBox="1"/>
          <p:nvPr/>
        </p:nvSpPr>
        <p:spPr>
          <a:xfrm>
            <a:off x="4480560" y="2011680"/>
            <a:ext cx="1691640" cy="685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7D5B"/>
              </a:buClr>
              <a:buSzPts val="3400"/>
              <a:buFont typeface="Times New Roman"/>
              <a:buNone/>
            </a:pPr>
            <a:r>
              <a:rPr b="1" i="0" lang="en-US" sz="3400" u="none" cap="none" strike="noStrike">
                <a:solidFill>
                  <a:srgbClr val="2E7D5B"/>
                </a:solidFill>
                <a:latin typeface="Times New Roman"/>
                <a:ea typeface="Times New Roman"/>
                <a:cs typeface="Times New Roman"/>
                <a:sym typeface="Times New Roman"/>
              </a:rPr>
              <a:t>187</a:t>
            </a:r>
            <a:endParaRPr b="0" i="0" sz="3400" u="none" cap="none" strike="noStrike">
              <a:solidFill>
                <a:schemeClr val="dk1"/>
              </a:solidFill>
              <a:latin typeface="Calibri"/>
              <a:ea typeface="Calibri"/>
              <a:cs typeface="Calibri"/>
              <a:sym typeface="Calibri"/>
            </a:endParaRPr>
          </a:p>
        </p:txBody>
      </p:sp>
      <p:sp>
        <p:nvSpPr>
          <p:cNvPr id="293" name="Google Shape;293;p13"/>
          <p:cNvSpPr txBox="1"/>
          <p:nvPr/>
        </p:nvSpPr>
        <p:spPr>
          <a:xfrm>
            <a:off x="4480560" y="2670048"/>
            <a:ext cx="1691640" cy="5029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5B6B85"/>
              </a:buClr>
              <a:buSzPts val="1150"/>
              <a:buFont typeface="Calibri"/>
              <a:buNone/>
            </a:pPr>
            <a:r>
              <a:rPr b="0" i="0" lang="en-US" sz="1150" u="none" cap="none" strike="noStrike">
                <a:solidFill>
                  <a:srgbClr val="5B6B85"/>
                </a:solidFill>
                <a:latin typeface="Calibri"/>
                <a:ea typeface="Calibri"/>
                <a:cs typeface="Calibri"/>
                <a:sym typeface="Calibri"/>
              </a:rPr>
              <a:t>Đã chấm chất lượng đáng tin cậy (92.6%)</a:t>
            </a:r>
            <a:endParaRPr b="0" i="0" sz="1150" u="none" cap="none" strike="noStrike">
              <a:solidFill>
                <a:schemeClr val="dk1"/>
              </a:solidFill>
              <a:latin typeface="Calibri"/>
              <a:ea typeface="Calibri"/>
              <a:cs typeface="Calibri"/>
              <a:sym typeface="Calibri"/>
            </a:endParaRPr>
          </a:p>
        </p:txBody>
      </p:sp>
      <p:sp>
        <p:nvSpPr>
          <p:cNvPr id="294" name="Google Shape;294;p13"/>
          <p:cNvSpPr txBox="1"/>
          <p:nvPr/>
        </p:nvSpPr>
        <p:spPr>
          <a:xfrm>
            <a:off x="457200" y="3493008"/>
            <a:ext cx="5486400" cy="7132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5"/>
              </a:buClr>
              <a:buSzPts val="1050"/>
              <a:buFont typeface="Calibri"/>
              <a:buNone/>
            </a:pPr>
            <a:r>
              <a:rPr b="0" i="1" lang="en-US" sz="1050" u="none" cap="none" strike="noStrike">
                <a:solidFill>
                  <a:srgbClr val="5B6B85"/>
                </a:solidFill>
                <a:latin typeface="Calibri"/>
                <a:ea typeface="Calibri"/>
                <a:cs typeface="Calibri"/>
                <a:sym typeface="Calibri"/>
              </a:rPr>
              <a:t>Giới hạn cứng của free-tier Groq (không phải lỗi phương pháp luận) — Self-RAG tốn ~5 lượt gọi API/câu so với 1 lượt của Standard RAG. Vì lý do sử dụng API key free nên kết quả với bộ data so sánh bị hạn chế.</a:t>
            </a:r>
            <a:endParaRPr b="0" i="0" sz="1050" u="none" cap="none" strike="noStrike">
              <a:solidFill>
                <a:schemeClr val="dk1"/>
              </a:solidFill>
              <a:latin typeface="Calibri"/>
              <a:ea typeface="Calibri"/>
              <a:cs typeface="Calibri"/>
              <a:sym typeface="Calibri"/>
            </a:endParaRPr>
          </a:p>
        </p:txBody>
      </p:sp>
      <p:sp>
        <p:nvSpPr>
          <p:cNvPr id="295" name="Google Shape;295;p13"/>
          <p:cNvSpPr txBox="1"/>
          <p:nvPr/>
        </p:nvSpPr>
        <p:spPr>
          <a:xfrm>
            <a:off x="457200" y="4315968"/>
            <a:ext cx="53949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5A80"/>
              </a:buClr>
              <a:buSzPts val="1400"/>
              <a:buFont typeface="Calibri"/>
              <a:buNone/>
            </a:pPr>
            <a:r>
              <a:rPr b="1" i="0" lang="en-US" sz="1400" u="none" cap="none" strike="noStrike">
                <a:solidFill>
                  <a:srgbClr val="3D5A80"/>
                </a:solidFill>
                <a:latin typeface="Calibri"/>
                <a:ea typeface="Calibri"/>
                <a:cs typeface="Calibri"/>
                <a:sym typeface="Calibri"/>
              </a:rPr>
              <a:t>Metrics sử dụng</a:t>
            </a:r>
            <a:endParaRPr b="0" i="0" sz="1400" u="none" cap="none" strike="noStrike">
              <a:solidFill>
                <a:schemeClr val="dk1"/>
              </a:solidFill>
              <a:latin typeface="Calibri"/>
              <a:ea typeface="Calibri"/>
              <a:cs typeface="Calibri"/>
              <a:sym typeface="Calibri"/>
            </a:endParaRPr>
          </a:p>
        </p:txBody>
      </p:sp>
      <p:sp>
        <p:nvSpPr>
          <p:cNvPr id="296" name="Google Shape;296;p13"/>
          <p:cNvSpPr txBox="1"/>
          <p:nvPr/>
        </p:nvSpPr>
        <p:spPr>
          <a:xfrm>
            <a:off x="457200" y="4663440"/>
            <a:ext cx="5486400" cy="1417320"/>
          </a:xfrm>
          <a:prstGeom prst="rect">
            <a:avLst/>
          </a:prstGeom>
          <a:noFill/>
          <a:ln>
            <a:noFill/>
          </a:ln>
        </p:spPr>
        <p:txBody>
          <a:bodyPr anchorCtr="0" anchor="t" bIns="0" lIns="0" spcFirstLastPara="1" rIns="0" wrap="square" tIns="0">
            <a:noAutofit/>
          </a:bodyPr>
          <a:lstStyle/>
          <a:p>
            <a:pPr indent="-342900" lvl="0" marL="342900" marR="0" rtl="0" algn="l">
              <a:lnSpc>
                <a:spcPct val="108000"/>
              </a:lnSpc>
              <a:spcBef>
                <a:spcPts val="0"/>
              </a:spcBef>
              <a:spcAft>
                <a:spcPts val="0"/>
              </a:spcAft>
              <a:buClr>
                <a:srgbClr val="1B2A4A"/>
              </a:buClr>
              <a:buSzPts val="1200"/>
              <a:buFont typeface="Calibri"/>
              <a:buChar char="•"/>
            </a:pPr>
            <a:r>
              <a:rPr b="0" i="0" lang="en-US" sz="1200" u="none" cap="none" strike="noStrike">
                <a:solidFill>
                  <a:srgbClr val="1B2A4A"/>
                </a:solidFill>
                <a:latin typeface="Calibri"/>
                <a:ea typeface="Calibri"/>
                <a:cs typeface="Calibri"/>
                <a:sym typeface="Calibri"/>
              </a:rPr>
              <a:t>Truy xuất (thuần Python): Recall@k, Precision@k, MRR so với gold aid</a:t>
            </a:r>
            <a:endParaRPr b="0" i="0" sz="1200" u="none" cap="none" strike="noStrike">
              <a:solidFill>
                <a:schemeClr val="dk1"/>
              </a:solidFill>
              <a:latin typeface="Calibri"/>
              <a:ea typeface="Calibri"/>
              <a:cs typeface="Calibri"/>
              <a:sym typeface="Calibri"/>
            </a:endParaRPr>
          </a:p>
          <a:p>
            <a:pPr indent="-342900" lvl="0" marL="342900" marR="0" rtl="0" algn="l">
              <a:lnSpc>
                <a:spcPct val="108000"/>
              </a:lnSpc>
              <a:spcBef>
                <a:spcPts val="1000"/>
              </a:spcBef>
              <a:spcAft>
                <a:spcPts val="0"/>
              </a:spcAft>
              <a:buClr>
                <a:srgbClr val="1B2A4A"/>
              </a:buClr>
              <a:buSzPts val="1200"/>
              <a:buFont typeface="Calibri"/>
              <a:buChar char="•"/>
            </a:pPr>
            <a:r>
              <a:rPr b="0" i="0" lang="en-US" sz="1200" u="none" cap="none" strike="noStrike">
                <a:solidFill>
                  <a:srgbClr val="1B2A4A"/>
                </a:solidFill>
                <a:latin typeface="Calibri"/>
                <a:ea typeface="Calibri"/>
                <a:cs typeface="Calibri"/>
                <a:sym typeface="Calibri"/>
              </a:rPr>
              <a:t>Chất lượng câu trả lời (LLM judge, cùng prompt, temperature=0): Correctness / Support / Usefulness — mỗi trục có rate &amp; score (1/0.5/0)</a:t>
            </a:r>
            <a:endParaRPr b="0" i="0" sz="1200" u="none" cap="none" strike="noStrike">
              <a:solidFill>
                <a:schemeClr val="dk1"/>
              </a:solidFill>
              <a:latin typeface="Calibri"/>
              <a:ea typeface="Calibri"/>
              <a:cs typeface="Calibri"/>
              <a:sym typeface="Calibri"/>
            </a:endParaRPr>
          </a:p>
        </p:txBody>
      </p:sp>
      <p:sp>
        <p:nvSpPr>
          <p:cNvPr id="297" name="Google Shape;297;p13"/>
          <p:cNvSpPr/>
          <p:nvPr/>
        </p:nvSpPr>
        <p:spPr>
          <a:xfrm>
            <a:off x="6263640" y="1463040"/>
            <a:ext cx="5468112" cy="4617720"/>
          </a:xfrm>
          <a:prstGeom prst="roundRect">
            <a:avLst>
              <a:gd fmla="val 1584" name="adj"/>
            </a:avLst>
          </a:prstGeom>
          <a:solidFill>
            <a:srgbClr val="E4E9F2"/>
          </a:solidFill>
          <a:ln>
            <a:noFill/>
          </a:ln>
          <a:effectLst>
            <a:outerShdw blurRad="76200" rotWithShape="0" algn="bl" dir="5400000" dist="25400">
              <a:srgbClr val="1B2A4A">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13"/>
          <p:cNvSpPr txBox="1"/>
          <p:nvPr/>
        </p:nvSpPr>
        <p:spPr>
          <a:xfrm>
            <a:off x="6537960" y="1664208"/>
            <a:ext cx="49377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1550"/>
              <a:buFont typeface="Times New Roman"/>
              <a:buNone/>
            </a:pPr>
            <a:r>
              <a:rPr b="1" i="0" lang="en-US" sz="1550" u="none" cap="none" strike="noStrike">
                <a:solidFill>
                  <a:srgbClr val="1B2A4A"/>
                </a:solidFill>
                <a:latin typeface="Times New Roman"/>
                <a:ea typeface="Times New Roman"/>
                <a:cs typeface="Times New Roman"/>
                <a:sym typeface="Times New Roman"/>
              </a:rPr>
              <a:t>Kiểm chứng chất lượng Judge (n=187)</a:t>
            </a:r>
            <a:endParaRPr b="0" i="0" sz="1550" u="none" cap="none" strike="noStrike">
              <a:solidFill>
                <a:schemeClr val="dk1"/>
              </a:solidFill>
              <a:latin typeface="Calibri"/>
              <a:ea typeface="Calibri"/>
              <a:cs typeface="Calibri"/>
              <a:sym typeface="Calibri"/>
            </a:endParaRPr>
          </a:p>
        </p:txBody>
      </p:sp>
      <p:graphicFrame>
        <p:nvGraphicFramePr>
          <p:cNvPr id="299" name="Google Shape;299;p13"/>
          <p:cNvGraphicFramePr/>
          <p:nvPr/>
        </p:nvGraphicFramePr>
        <p:xfrm>
          <a:off x="6537960" y="2148840"/>
          <a:ext cx="3000000" cy="3000000"/>
        </p:xfrm>
        <a:graphic>
          <a:graphicData uri="http://schemas.openxmlformats.org/drawingml/2006/table">
            <a:tbl>
              <a:tblPr>
                <a:noFill/>
                <a:tableStyleId>{CF771489-7EA7-439F-9CA7-88DC3161A82E}</a:tableStyleId>
              </a:tblPr>
              <a:tblGrid>
                <a:gridCol w="2377450"/>
                <a:gridCol w="2560325"/>
              </a:tblGrid>
              <a:tr h="384050">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Kiểm tra</a:t>
                      </a:r>
                      <a:endParaRPr sz="1100" u="none" cap="none" strike="noStrike">
                        <a:latin typeface="Calibri"/>
                        <a:ea typeface="Calibri"/>
                        <a:cs typeface="Calibri"/>
                        <a:sym typeface="Calibri"/>
                      </a:endParaRPr>
                    </a:p>
                  </a:txBody>
                  <a:tcPr marT="45725" marB="45725" marR="91450" marL="91450" anchor="ctr">
                    <a:lnL cap="flat" cmpd="sng" w="9525">
                      <a:solidFill>
                        <a:srgbClr val="CBD0DC"/>
                      </a:solidFill>
                      <a:prstDash val="solid"/>
                      <a:round/>
                      <a:headEnd len="sm" w="sm" type="none"/>
                      <a:tailEnd len="sm" w="sm" type="none"/>
                    </a:lnL>
                    <a:lnR cap="flat" cmpd="sng" w="9525">
                      <a:solidFill>
                        <a:srgbClr val="CBD0DC"/>
                      </a:solidFill>
                      <a:prstDash val="solid"/>
                      <a:round/>
                      <a:headEnd len="sm" w="sm" type="none"/>
                      <a:tailEnd len="sm" w="sm" type="none"/>
                    </a:lnR>
                    <a:lnT cap="flat" cmpd="sng" w="9525">
                      <a:solidFill>
                        <a:srgbClr val="CBD0DC"/>
                      </a:solidFill>
                      <a:prstDash val="solid"/>
                      <a:round/>
                      <a:headEnd len="sm" w="sm" type="none"/>
                      <a:tailEnd len="sm" w="sm" type="none"/>
                    </a:lnT>
                    <a:lnB cap="flat" cmpd="sng" w="9525">
                      <a:solidFill>
                        <a:srgbClr val="CBD0DC"/>
                      </a:solidFill>
                      <a:prstDash val="solid"/>
                      <a:round/>
                      <a:headEnd len="sm" w="sm" type="none"/>
                      <a:tailEnd len="sm" w="sm" type="none"/>
                    </a:lnB>
                    <a:solidFill>
                      <a:srgbClr val="1B2A4A"/>
                    </a:solidFill>
                  </a:tcPr>
                </a:tc>
                <a:tc>
                  <a:txBody>
                    <a:bodyPr/>
                    <a:lstStyle/>
                    <a:p>
                      <a:pPr indent="0" lvl="0" marL="0" marR="0" rtl="0" algn="l">
                        <a:spcBef>
                          <a:spcPts val="0"/>
                        </a:spcBef>
                        <a:spcAft>
                          <a:spcPts val="0"/>
                        </a:spcAft>
                        <a:buClr>
                          <a:srgbClr val="FFFFFF"/>
                        </a:buClr>
                        <a:buSzPts val="1100"/>
                        <a:buFont typeface="Calibri"/>
                        <a:buNone/>
                      </a:pPr>
                      <a:r>
                        <a:rPr b="1" lang="en-US" sz="1100" u="none" cap="none" strike="noStrike">
                          <a:solidFill>
                            <a:srgbClr val="FFFFFF"/>
                          </a:solidFill>
                          <a:latin typeface="Calibri"/>
                          <a:ea typeface="Calibri"/>
                          <a:cs typeface="Calibri"/>
                          <a:sym typeface="Calibri"/>
                        </a:rPr>
                        <a:t>Kết quả</a:t>
                      </a:r>
                      <a:endParaRPr sz="1100" u="none" cap="none" strike="noStrike">
                        <a:latin typeface="Calibri"/>
                        <a:ea typeface="Calibri"/>
                        <a:cs typeface="Calibri"/>
                        <a:sym typeface="Calibri"/>
                      </a:endParaRPr>
                    </a:p>
                  </a:txBody>
                  <a:tcPr marT="45725" marB="45725" marR="91450" marL="91450" anchor="ctr">
                    <a:lnL cap="flat" cmpd="sng" w="9525">
                      <a:solidFill>
                        <a:srgbClr val="CBD0DC"/>
                      </a:solidFill>
                      <a:prstDash val="solid"/>
                      <a:round/>
                      <a:headEnd len="sm" w="sm" type="none"/>
                      <a:tailEnd len="sm" w="sm" type="none"/>
                    </a:lnL>
                    <a:lnR cap="flat" cmpd="sng" w="9525">
                      <a:solidFill>
                        <a:srgbClr val="CBD0DC"/>
                      </a:solidFill>
                      <a:prstDash val="solid"/>
                      <a:round/>
                      <a:headEnd len="sm" w="sm" type="none"/>
                      <a:tailEnd len="sm" w="sm" type="none"/>
                    </a:lnR>
                    <a:lnT cap="flat" cmpd="sng" w="9525">
                      <a:solidFill>
                        <a:srgbClr val="CBD0DC"/>
                      </a:solidFill>
                      <a:prstDash val="solid"/>
                      <a:round/>
                      <a:headEnd len="sm" w="sm" type="none"/>
                      <a:tailEnd len="sm" w="sm" type="none"/>
                    </a:lnT>
                    <a:lnB cap="flat" cmpd="sng" w="9525">
                      <a:solidFill>
                        <a:srgbClr val="CBD0DC"/>
                      </a:solidFill>
                      <a:prstDash val="solid"/>
                      <a:round/>
                      <a:headEnd len="sm" w="sm" type="none"/>
                      <a:tailEnd len="sm" w="sm" type="none"/>
                    </a:lnB>
                    <a:solidFill>
                      <a:srgbClr val="1B2A4A"/>
                    </a:solidFill>
                  </a:tcPr>
                </a:tc>
              </a:tr>
              <a:tr h="429775">
                <a:tc>
                  <a:txBody>
                    <a:bodyPr/>
                    <a:lstStyle/>
                    <a:p>
                      <a:pPr indent="0" lvl="0" marL="0" marR="0" rtl="0" algn="l">
                        <a:spcBef>
                          <a:spcPts val="0"/>
                        </a:spcBef>
                        <a:spcAft>
                          <a:spcPts val="0"/>
                        </a:spcAft>
                        <a:buClr>
                          <a:srgbClr val="1B2A4A"/>
                        </a:buClr>
                        <a:buSzPts val="1100"/>
                        <a:buFont typeface="Calibri"/>
                        <a:buNone/>
                      </a:pPr>
                      <a:r>
                        <a:rPr lang="en-US" sz="1100" u="none" cap="none" strike="noStrike">
                          <a:solidFill>
                            <a:srgbClr val="1B2A4A"/>
                          </a:solidFill>
                          <a:latin typeface="Calibri"/>
                          <a:ea typeface="Calibri"/>
                          <a:cs typeface="Calibri"/>
                          <a:sym typeface="Calibri"/>
                        </a:rPr>
                        <a:t>Nhiễm &lt;think&gt;</a:t>
                      </a:r>
                      <a:endParaRPr sz="1100" u="none" cap="none" strike="noStrike">
                        <a:latin typeface="Calibri"/>
                        <a:ea typeface="Calibri"/>
                        <a:cs typeface="Calibri"/>
                        <a:sym typeface="Calibri"/>
                      </a:endParaRPr>
                    </a:p>
                  </a:txBody>
                  <a:tcPr marT="45725" marB="45725" marR="91450" marL="91450" anchor="ctr">
                    <a:lnL cap="flat" cmpd="sng" w="9525">
                      <a:solidFill>
                        <a:srgbClr val="CBD0DC"/>
                      </a:solidFill>
                      <a:prstDash val="solid"/>
                      <a:round/>
                      <a:headEnd len="sm" w="sm" type="none"/>
                      <a:tailEnd len="sm" w="sm" type="none"/>
                    </a:lnL>
                    <a:lnR cap="flat" cmpd="sng" w="9525">
                      <a:solidFill>
                        <a:srgbClr val="CBD0DC"/>
                      </a:solidFill>
                      <a:prstDash val="solid"/>
                      <a:round/>
                      <a:headEnd len="sm" w="sm" type="none"/>
                      <a:tailEnd len="sm" w="sm" type="none"/>
                    </a:lnR>
                    <a:lnT cap="flat" cmpd="sng" w="9525">
                      <a:solidFill>
                        <a:srgbClr val="CBD0DC"/>
                      </a:solidFill>
                      <a:prstDash val="solid"/>
                      <a:round/>
                      <a:headEnd len="sm" w="sm" type="none"/>
                      <a:tailEnd len="sm" w="sm" type="none"/>
                    </a:lnT>
                    <a:lnB cap="flat" cmpd="sng" w="9525">
                      <a:solidFill>
                        <a:srgbClr val="CBD0DC"/>
                      </a:solidFill>
                      <a:prstDash val="solid"/>
                      <a:round/>
                      <a:headEnd len="sm" w="sm" type="none"/>
                      <a:tailEnd len="sm" w="sm" type="none"/>
                    </a:lnB>
                  </a:tcPr>
                </a:tc>
                <a:tc>
                  <a:txBody>
                    <a:bodyPr/>
                    <a:lstStyle/>
                    <a:p>
                      <a:pPr indent="0" lvl="0" marL="0" marR="0" rtl="0" algn="l">
                        <a:spcBef>
                          <a:spcPts val="0"/>
                        </a:spcBef>
                        <a:spcAft>
                          <a:spcPts val="0"/>
                        </a:spcAft>
                        <a:buClr>
                          <a:srgbClr val="1B2A4A"/>
                        </a:buClr>
                        <a:buSzPts val="1100"/>
                        <a:buFont typeface="Calibri"/>
                        <a:buNone/>
                      </a:pPr>
                      <a:r>
                        <a:rPr lang="en-US" sz="1100" u="none" cap="none" strike="noStrike">
                          <a:solidFill>
                            <a:srgbClr val="1B2A4A"/>
                          </a:solidFill>
                          <a:latin typeface="Calibri"/>
                          <a:ea typeface="Calibri"/>
                          <a:cs typeface="Calibri"/>
                          <a:sym typeface="Calibri"/>
                        </a:rPr>
                        <a:t>0/187, 0/187, 6/187 (3.2%)</a:t>
                      </a:r>
                      <a:endParaRPr sz="1100" u="none" cap="none" strike="noStrike">
                        <a:latin typeface="Calibri"/>
                        <a:ea typeface="Calibri"/>
                        <a:cs typeface="Calibri"/>
                        <a:sym typeface="Calibri"/>
                      </a:endParaRPr>
                    </a:p>
                  </a:txBody>
                  <a:tcPr marT="45725" marB="45725" marR="91450" marL="91450" anchor="ctr">
                    <a:lnL cap="flat" cmpd="sng" w="9525">
                      <a:solidFill>
                        <a:srgbClr val="CBD0DC"/>
                      </a:solidFill>
                      <a:prstDash val="solid"/>
                      <a:round/>
                      <a:headEnd len="sm" w="sm" type="none"/>
                      <a:tailEnd len="sm" w="sm" type="none"/>
                    </a:lnL>
                    <a:lnR cap="flat" cmpd="sng" w="9525">
                      <a:solidFill>
                        <a:srgbClr val="CBD0DC"/>
                      </a:solidFill>
                      <a:prstDash val="solid"/>
                      <a:round/>
                      <a:headEnd len="sm" w="sm" type="none"/>
                      <a:tailEnd len="sm" w="sm" type="none"/>
                    </a:lnR>
                    <a:lnT cap="flat" cmpd="sng" w="9525">
                      <a:solidFill>
                        <a:srgbClr val="CBD0DC"/>
                      </a:solidFill>
                      <a:prstDash val="solid"/>
                      <a:round/>
                      <a:headEnd len="sm" w="sm" type="none"/>
                      <a:tailEnd len="sm" w="sm" type="none"/>
                    </a:lnT>
                    <a:lnB cap="flat" cmpd="sng" w="9525">
                      <a:solidFill>
                        <a:srgbClr val="CBD0DC"/>
                      </a:solidFill>
                      <a:prstDash val="solid"/>
                      <a:round/>
                      <a:headEnd len="sm" w="sm" type="none"/>
                      <a:tailEnd len="sm" w="sm" type="none"/>
                    </a:lnB>
                  </a:tcPr>
                </a:tc>
              </a:tr>
              <a:tr h="429775">
                <a:tc>
                  <a:txBody>
                    <a:bodyPr/>
                    <a:lstStyle/>
                    <a:p>
                      <a:pPr indent="0" lvl="0" marL="0" marR="0" rtl="0" algn="l">
                        <a:spcBef>
                          <a:spcPts val="0"/>
                        </a:spcBef>
                        <a:spcAft>
                          <a:spcPts val="0"/>
                        </a:spcAft>
                        <a:buClr>
                          <a:srgbClr val="1B2A4A"/>
                        </a:buClr>
                        <a:buSzPts val="1100"/>
                        <a:buFont typeface="Calibri"/>
                        <a:buNone/>
                      </a:pPr>
                      <a:r>
                        <a:rPr lang="en-US" sz="1100" u="none" cap="none" strike="noStrike">
                          <a:solidFill>
                            <a:srgbClr val="1B2A4A"/>
                          </a:solidFill>
                          <a:latin typeface="Calibri"/>
                          <a:ea typeface="Calibri"/>
                          <a:cs typeface="Calibri"/>
                          <a:sym typeface="Calibri"/>
                        </a:rPr>
                        <a:t>Toàn bộ 6 judge = mặc định</a:t>
                      </a:r>
                      <a:endParaRPr sz="1100" u="none" cap="none" strike="noStrike">
                        <a:latin typeface="Calibri"/>
                        <a:ea typeface="Calibri"/>
                        <a:cs typeface="Calibri"/>
                        <a:sym typeface="Calibri"/>
                      </a:endParaRPr>
                    </a:p>
                  </a:txBody>
                  <a:tcPr marT="45725" marB="45725" marR="91450" marL="91450" anchor="ctr">
                    <a:lnL cap="flat" cmpd="sng" w="9525">
                      <a:solidFill>
                        <a:srgbClr val="CBD0DC"/>
                      </a:solidFill>
                      <a:prstDash val="solid"/>
                      <a:round/>
                      <a:headEnd len="sm" w="sm" type="none"/>
                      <a:tailEnd len="sm" w="sm" type="none"/>
                    </a:lnL>
                    <a:lnR cap="flat" cmpd="sng" w="9525">
                      <a:solidFill>
                        <a:srgbClr val="CBD0DC"/>
                      </a:solidFill>
                      <a:prstDash val="solid"/>
                      <a:round/>
                      <a:headEnd len="sm" w="sm" type="none"/>
                      <a:tailEnd len="sm" w="sm" type="none"/>
                    </a:lnR>
                    <a:lnT cap="flat" cmpd="sng" w="9525">
                      <a:solidFill>
                        <a:srgbClr val="CBD0DC"/>
                      </a:solidFill>
                      <a:prstDash val="solid"/>
                      <a:round/>
                      <a:headEnd len="sm" w="sm" type="none"/>
                      <a:tailEnd len="sm" w="sm" type="none"/>
                    </a:lnT>
                    <a:lnB cap="flat" cmpd="sng" w="9525">
                      <a:solidFill>
                        <a:srgbClr val="CBD0DC"/>
                      </a:solidFill>
                      <a:prstDash val="solid"/>
                      <a:round/>
                      <a:headEnd len="sm" w="sm" type="none"/>
                      <a:tailEnd len="sm" w="sm" type="none"/>
                    </a:lnB>
                  </a:tcPr>
                </a:tc>
                <a:tc>
                  <a:txBody>
                    <a:bodyPr/>
                    <a:lstStyle/>
                    <a:p>
                      <a:pPr indent="0" lvl="0" marL="0" marR="0" rtl="0" algn="l">
                        <a:spcBef>
                          <a:spcPts val="0"/>
                        </a:spcBef>
                        <a:spcAft>
                          <a:spcPts val="0"/>
                        </a:spcAft>
                        <a:buClr>
                          <a:srgbClr val="1B2A4A"/>
                        </a:buClr>
                        <a:buSzPts val="1100"/>
                        <a:buFont typeface="Calibri"/>
                        <a:buNone/>
                      </a:pPr>
                      <a:r>
                        <a:rPr lang="en-US" sz="1100" u="none" cap="none" strike="noStrike">
                          <a:solidFill>
                            <a:srgbClr val="1B2A4A"/>
                          </a:solidFill>
                          <a:latin typeface="Calibri"/>
                          <a:ea typeface="Calibri"/>
                          <a:cs typeface="Calibri"/>
                          <a:sym typeface="Calibri"/>
                        </a:rPr>
                        <a:t>12/187 (6.4%) — trước đó 200/202 (99%)</a:t>
                      </a:r>
                      <a:endParaRPr sz="1100" u="none" cap="none" strike="noStrike">
                        <a:latin typeface="Calibri"/>
                        <a:ea typeface="Calibri"/>
                        <a:cs typeface="Calibri"/>
                        <a:sym typeface="Calibri"/>
                      </a:endParaRPr>
                    </a:p>
                  </a:txBody>
                  <a:tcPr marT="45725" marB="45725" marR="91450" marL="91450" anchor="ctr">
                    <a:lnL cap="flat" cmpd="sng" w="9525">
                      <a:solidFill>
                        <a:srgbClr val="CBD0DC"/>
                      </a:solidFill>
                      <a:prstDash val="solid"/>
                      <a:round/>
                      <a:headEnd len="sm" w="sm" type="none"/>
                      <a:tailEnd len="sm" w="sm" type="none"/>
                    </a:lnL>
                    <a:lnR cap="flat" cmpd="sng" w="9525">
                      <a:solidFill>
                        <a:srgbClr val="CBD0DC"/>
                      </a:solidFill>
                      <a:prstDash val="solid"/>
                      <a:round/>
                      <a:headEnd len="sm" w="sm" type="none"/>
                      <a:tailEnd len="sm" w="sm" type="none"/>
                    </a:lnR>
                    <a:lnT cap="flat" cmpd="sng" w="9525">
                      <a:solidFill>
                        <a:srgbClr val="CBD0DC"/>
                      </a:solidFill>
                      <a:prstDash val="solid"/>
                      <a:round/>
                      <a:headEnd len="sm" w="sm" type="none"/>
                      <a:tailEnd len="sm" w="sm" type="none"/>
                    </a:lnT>
                    <a:lnB cap="flat" cmpd="sng" w="9525">
                      <a:solidFill>
                        <a:srgbClr val="CBD0DC"/>
                      </a:solidFill>
                      <a:prstDash val="solid"/>
                      <a:round/>
                      <a:headEnd len="sm" w="sm" type="none"/>
                      <a:tailEnd len="sm" w="sm" type="none"/>
                    </a:lnB>
                  </a:tcPr>
                </a:tc>
              </a:tr>
              <a:tr h="429775">
                <a:tc>
                  <a:txBody>
                    <a:bodyPr/>
                    <a:lstStyle/>
                    <a:p>
                      <a:pPr indent="0" lvl="0" marL="0" marR="0" rtl="0" algn="l">
                        <a:spcBef>
                          <a:spcPts val="0"/>
                        </a:spcBef>
                        <a:spcAft>
                          <a:spcPts val="0"/>
                        </a:spcAft>
                        <a:buClr>
                          <a:srgbClr val="1B2A4A"/>
                        </a:buClr>
                        <a:buSzPts val="1100"/>
                        <a:buFont typeface="Calibri"/>
                        <a:buNone/>
                      </a:pPr>
                      <a:r>
                        <a:rPr lang="en-US" sz="1100" u="none" cap="none" strike="noStrike">
                          <a:solidFill>
                            <a:srgbClr val="1B2A4A"/>
                          </a:solidFill>
                          <a:latin typeface="Calibri"/>
                          <a:ea typeface="Calibri"/>
                          <a:cs typeface="Calibri"/>
                          <a:sym typeface="Calibri"/>
                        </a:rPr>
                        <a:t>≥1/6 judge = mặc định</a:t>
                      </a:r>
                      <a:endParaRPr sz="1100" u="none" cap="none" strike="noStrike">
                        <a:latin typeface="Calibri"/>
                        <a:ea typeface="Calibri"/>
                        <a:cs typeface="Calibri"/>
                        <a:sym typeface="Calibri"/>
                      </a:endParaRPr>
                    </a:p>
                  </a:txBody>
                  <a:tcPr marT="45725" marB="45725" marR="91450" marL="91450" anchor="ctr">
                    <a:lnL cap="flat" cmpd="sng" w="9525">
                      <a:solidFill>
                        <a:srgbClr val="CBD0DC"/>
                      </a:solidFill>
                      <a:prstDash val="solid"/>
                      <a:round/>
                      <a:headEnd len="sm" w="sm" type="none"/>
                      <a:tailEnd len="sm" w="sm" type="none"/>
                    </a:lnL>
                    <a:lnR cap="flat" cmpd="sng" w="9525">
                      <a:solidFill>
                        <a:srgbClr val="CBD0DC"/>
                      </a:solidFill>
                      <a:prstDash val="solid"/>
                      <a:round/>
                      <a:headEnd len="sm" w="sm" type="none"/>
                      <a:tailEnd len="sm" w="sm" type="none"/>
                    </a:lnR>
                    <a:lnT cap="flat" cmpd="sng" w="9525">
                      <a:solidFill>
                        <a:srgbClr val="CBD0DC"/>
                      </a:solidFill>
                      <a:prstDash val="solid"/>
                      <a:round/>
                      <a:headEnd len="sm" w="sm" type="none"/>
                      <a:tailEnd len="sm" w="sm" type="none"/>
                    </a:lnT>
                    <a:lnB cap="flat" cmpd="sng" w="9525">
                      <a:solidFill>
                        <a:srgbClr val="CBD0DC"/>
                      </a:solidFill>
                      <a:prstDash val="solid"/>
                      <a:round/>
                      <a:headEnd len="sm" w="sm" type="none"/>
                      <a:tailEnd len="sm" w="sm" type="none"/>
                    </a:lnB>
                  </a:tcPr>
                </a:tc>
                <a:tc>
                  <a:txBody>
                    <a:bodyPr/>
                    <a:lstStyle/>
                    <a:p>
                      <a:pPr indent="0" lvl="0" marL="0" marR="0" rtl="0" algn="l">
                        <a:spcBef>
                          <a:spcPts val="0"/>
                        </a:spcBef>
                        <a:spcAft>
                          <a:spcPts val="0"/>
                        </a:spcAft>
                        <a:buClr>
                          <a:srgbClr val="1B2A4A"/>
                        </a:buClr>
                        <a:buSzPts val="1100"/>
                        <a:buFont typeface="Calibri"/>
                        <a:buNone/>
                      </a:pPr>
                      <a:r>
                        <a:rPr lang="en-US" sz="1100" u="none" cap="none" strike="noStrike">
                          <a:solidFill>
                            <a:srgbClr val="1B2A4A"/>
                          </a:solidFill>
                          <a:latin typeface="Calibri"/>
                          <a:ea typeface="Calibri"/>
                          <a:cs typeface="Calibri"/>
                          <a:sym typeface="Calibri"/>
                        </a:rPr>
                        <a:t>67/187 (35.8%), không tập trung 1 hệ</a:t>
                      </a:r>
                      <a:endParaRPr sz="1100" u="none" cap="none" strike="noStrike">
                        <a:latin typeface="Calibri"/>
                        <a:ea typeface="Calibri"/>
                        <a:cs typeface="Calibri"/>
                        <a:sym typeface="Calibri"/>
                      </a:endParaRPr>
                    </a:p>
                  </a:txBody>
                  <a:tcPr marT="45725" marB="45725" marR="91450" marL="91450" anchor="ctr">
                    <a:lnL cap="flat" cmpd="sng" w="9525">
                      <a:solidFill>
                        <a:srgbClr val="CBD0DC"/>
                      </a:solidFill>
                      <a:prstDash val="solid"/>
                      <a:round/>
                      <a:headEnd len="sm" w="sm" type="none"/>
                      <a:tailEnd len="sm" w="sm" type="none"/>
                    </a:lnL>
                    <a:lnR cap="flat" cmpd="sng" w="9525">
                      <a:solidFill>
                        <a:srgbClr val="CBD0DC"/>
                      </a:solidFill>
                      <a:prstDash val="solid"/>
                      <a:round/>
                      <a:headEnd len="sm" w="sm" type="none"/>
                      <a:tailEnd len="sm" w="sm" type="none"/>
                    </a:lnR>
                    <a:lnT cap="flat" cmpd="sng" w="9525">
                      <a:solidFill>
                        <a:srgbClr val="CBD0DC"/>
                      </a:solidFill>
                      <a:prstDash val="solid"/>
                      <a:round/>
                      <a:headEnd len="sm" w="sm" type="none"/>
                      <a:tailEnd len="sm" w="sm" type="none"/>
                    </a:lnT>
                    <a:lnB cap="flat" cmpd="sng" w="9525">
                      <a:solidFill>
                        <a:srgbClr val="CBD0DC"/>
                      </a:solidFill>
                      <a:prstDash val="solid"/>
                      <a:round/>
                      <a:headEnd len="sm" w="sm" type="none"/>
                      <a:tailEnd len="sm" w="sm" type="none"/>
                    </a:lnB>
                  </a:tcPr>
                </a:tc>
              </a:tr>
              <a:tr h="429775">
                <a:tc>
                  <a:txBody>
                    <a:bodyPr/>
                    <a:lstStyle/>
                    <a:p>
                      <a:pPr indent="0" lvl="0" marL="0" marR="0" rtl="0" algn="l">
                        <a:spcBef>
                          <a:spcPts val="0"/>
                        </a:spcBef>
                        <a:spcAft>
                          <a:spcPts val="0"/>
                        </a:spcAft>
                        <a:buClr>
                          <a:srgbClr val="1B2A4A"/>
                        </a:buClr>
                        <a:buSzPts val="1100"/>
                        <a:buFont typeface="Calibri"/>
                        <a:buNone/>
                      </a:pPr>
                      <a:r>
                        <a:rPr lang="en-US" sz="1100" u="none" cap="none" strike="noStrike">
                          <a:solidFill>
                            <a:srgbClr val="1B2A4A"/>
                          </a:solidFill>
                          <a:latin typeface="Calibri"/>
                          <a:ea typeface="Calibri"/>
                          <a:cs typeface="Calibri"/>
                          <a:sym typeface="Calibri"/>
                        </a:rPr>
                        <a:t>Phân bố nhãn 3 trục</a:t>
                      </a:r>
                      <a:endParaRPr sz="1100" u="none" cap="none" strike="noStrike">
                        <a:latin typeface="Calibri"/>
                        <a:ea typeface="Calibri"/>
                        <a:cs typeface="Calibri"/>
                        <a:sym typeface="Calibri"/>
                      </a:endParaRPr>
                    </a:p>
                  </a:txBody>
                  <a:tcPr marT="45725" marB="45725" marR="91450" marL="91450" anchor="ctr">
                    <a:lnL cap="flat" cmpd="sng" w="9525">
                      <a:solidFill>
                        <a:srgbClr val="CBD0DC"/>
                      </a:solidFill>
                      <a:prstDash val="solid"/>
                      <a:round/>
                      <a:headEnd len="sm" w="sm" type="none"/>
                      <a:tailEnd len="sm" w="sm" type="none"/>
                    </a:lnL>
                    <a:lnR cap="flat" cmpd="sng" w="9525">
                      <a:solidFill>
                        <a:srgbClr val="CBD0DC"/>
                      </a:solidFill>
                      <a:prstDash val="solid"/>
                      <a:round/>
                      <a:headEnd len="sm" w="sm" type="none"/>
                      <a:tailEnd len="sm" w="sm" type="none"/>
                    </a:lnR>
                    <a:lnT cap="flat" cmpd="sng" w="9525">
                      <a:solidFill>
                        <a:srgbClr val="CBD0DC"/>
                      </a:solidFill>
                      <a:prstDash val="solid"/>
                      <a:round/>
                      <a:headEnd len="sm" w="sm" type="none"/>
                      <a:tailEnd len="sm" w="sm" type="none"/>
                    </a:lnT>
                    <a:lnB cap="flat" cmpd="sng" w="9525">
                      <a:solidFill>
                        <a:srgbClr val="CBD0DC"/>
                      </a:solidFill>
                      <a:prstDash val="solid"/>
                      <a:round/>
                      <a:headEnd len="sm" w="sm" type="none"/>
                      <a:tailEnd len="sm" w="sm" type="none"/>
                    </a:lnB>
                  </a:tcPr>
                </a:tc>
                <a:tc>
                  <a:txBody>
                    <a:bodyPr/>
                    <a:lstStyle/>
                    <a:p>
                      <a:pPr indent="0" lvl="0" marL="0" marR="0" rtl="0" algn="l">
                        <a:spcBef>
                          <a:spcPts val="0"/>
                        </a:spcBef>
                        <a:spcAft>
                          <a:spcPts val="0"/>
                        </a:spcAft>
                        <a:buClr>
                          <a:srgbClr val="1B2A4A"/>
                        </a:buClr>
                        <a:buSzPts val="1100"/>
                        <a:buFont typeface="Calibri"/>
                        <a:buNone/>
                      </a:pPr>
                      <a:r>
                        <a:rPr lang="en-US" sz="1100" u="none" cap="none" strike="noStrike">
                          <a:solidFill>
                            <a:srgbClr val="1B2A4A"/>
                          </a:solidFill>
                          <a:latin typeface="Calibri"/>
                          <a:ea typeface="Calibri"/>
                          <a:cs typeface="Calibri"/>
                          <a:sym typeface="Calibri"/>
                        </a:rPr>
                        <a:t>Đa dạng thật ở cả 3 hệ thống</a:t>
                      </a:r>
                      <a:endParaRPr sz="1100" u="none" cap="none" strike="noStrike">
                        <a:latin typeface="Calibri"/>
                        <a:ea typeface="Calibri"/>
                        <a:cs typeface="Calibri"/>
                        <a:sym typeface="Calibri"/>
                      </a:endParaRPr>
                    </a:p>
                  </a:txBody>
                  <a:tcPr marT="45725" marB="45725" marR="91450" marL="91450" anchor="ctr">
                    <a:lnL cap="flat" cmpd="sng" w="9525">
                      <a:solidFill>
                        <a:srgbClr val="CBD0DC"/>
                      </a:solidFill>
                      <a:prstDash val="solid"/>
                      <a:round/>
                      <a:headEnd len="sm" w="sm" type="none"/>
                      <a:tailEnd len="sm" w="sm" type="none"/>
                    </a:lnL>
                    <a:lnR cap="flat" cmpd="sng" w="9525">
                      <a:solidFill>
                        <a:srgbClr val="CBD0DC"/>
                      </a:solidFill>
                      <a:prstDash val="solid"/>
                      <a:round/>
                      <a:headEnd len="sm" w="sm" type="none"/>
                      <a:tailEnd len="sm" w="sm" type="none"/>
                    </a:lnR>
                    <a:lnT cap="flat" cmpd="sng" w="9525">
                      <a:solidFill>
                        <a:srgbClr val="CBD0DC"/>
                      </a:solidFill>
                      <a:prstDash val="solid"/>
                      <a:round/>
                      <a:headEnd len="sm" w="sm" type="none"/>
                      <a:tailEnd len="sm" w="sm" type="none"/>
                    </a:lnT>
                    <a:lnB cap="flat" cmpd="sng" w="9525">
                      <a:solidFill>
                        <a:srgbClr val="CBD0DC"/>
                      </a:solidFill>
                      <a:prstDash val="solid"/>
                      <a:round/>
                      <a:headEnd len="sm" w="sm" type="none"/>
                      <a:tailEnd len="sm" w="sm" type="none"/>
                    </a:lnB>
                  </a:tcPr>
                </a:tc>
              </a:tr>
            </a:tbl>
          </a:graphicData>
        </a:graphic>
      </p:graphicFrame>
      <p:sp>
        <p:nvSpPr>
          <p:cNvPr id="300" name="Google Shape;300;p13"/>
          <p:cNvSpPr txBox="1"/>
          <p:nvPr/>
        </p:nvSpPr>
        <p:spPr>
          <a:xfrm>
            <a:off x="6537960" y="4434840"/>
            <a:ext cx="493776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2E7D5B"/>
              </a:buClr>
              <a:buSzPts val="1200"/>
              <a:buFont typeface="Calibri"/>
              <a:buNone/>
            </a:pPr>
            <a:r>
              <a:rPr b="1" i="0" lang="en-US" sz="1200" u="none" cap="none" strike="noStrike">
                <a:solidFill>
                  <a:srgbClr val="2E7D5B"/>
                </a:solidFill>
                <a:latin typeface="Calibri"/>
                <a:ea typeface="Calibri"/>
                <a:cs typeface="Calibri"/>
                <a:sym typeface="Calibri"/>
              </a:rPr>
              <a:t>→ Kết luận: dữ liệu lần pull này dùng được cho báo cáo, không cần chạy lại.</a:t>
            </a:r>
            <a:endParaRPr b="0" i="0" sz="1200" u="none" cap="none" strike="noStrike">
              <a:solidFill>
                <a:schemeClr val="dk1"/>
              </a:solidFill>
              <a:latin typeface="Calibri"/>
              <a:ea typeface="Calibri"/>
              <a:cs typeface="Calibri"/>
              <a:sym typeface="Calibri"/>
            </a:endParaRPr>
          </a:p>
        </p:txBody>
      </p:sp>
      <p:sp>
        <p:nvSpPr>
          <p:cNvPr id="301" name="Google Shape;301;p13"/>
          <p:cNvSpPr txBox="1"/>
          <p:nvPr/>
        </p:nvSpPr>
        <p:spPr>
          <a:xfrm>
            <a:off x="457200" y="6547104"/>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5"/>
              </a:buClr>
              <a:buSzPts val="900"/>
              <a:buFont typeface="Calibri"/>
              <a:buNone/>
            </a:pPr>
            <a:r>
              <a:rPr b="0" i="0" lang="en-US" sz="900" u="none" cap="none" strike="noStrike">
                <a:solidFill>
                  <a:srgbClr val="5B6B85"/>
                </a:solidFill>
                <a:latin typeface="Calibri"/>
                <a:ea typeface="Calibri"/>
                <a:cs typeface="Calibri"/>
                <a:sym typeface="Calibri"/>
              </a:rPr>
              <a:t>Self-RAG-Inspired Legal QA  ·  CS2308.CH203</a:t>
            </a:r>
            <a:endParaRPr b="0" i="0" sz="900" u="none" cap="none" strike="noStrike">
              <a:solidFill>
                <a:schemeClr val="dk1"/>
              </a:solidFill>
              <a:latin typeface="Calibri"/>
              <a:ea typeface="Calibri"/>
              <a:cs typeface="Calibri"/>
              <a:sym typeface="Calibri"/>
            </a:endParaRPr>
          </a:p>
        </p:txBody>
      </p:sp>
      <p:sp>
        <p:nvSpPr>
          <p:cNvPr id="302" name="Google Shape;302;p13"/>
          <p:cNvSpPr txBox="1"/>
          <p:nvPr/>
        </p:nvSpPr>
        <p:spPr>
          <a:xfrm>
            <a:off x="11274552" y="6547104"/>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B85"/>
              </a:buClr>
              <a:buSzPts val="900"/>
              <a:buFont typeface="Calibri"/>
              <a:buNone/>
            </a:pPr>
            <a:r>
              <a:rPr b="0" i="0" lang="en-US" sz="900" u="none" cap="none" strike="noStrike">
                <a:solidFill>
                  <a:srgbClr val="5B6B85"/>
                </a:solidFill>
                <a:latin typeface="Calibri"/>
                <a:ea typeface="Calibri"/>
                <a:cs typeface="Calibri"/>
                <a:sym typeface="Calibri"/>
              </a:rPr>
              <a:t>11</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7" name="Shape 307"/>
        <p:cNvGrpSpPr/>
        <p:nvPr/>
      </p:nvGrpSpPr>
      <p:grpSpPr>
        <a:xfrm>
          <a:off x="0" y="0"/>
          <a:ext cx="0" cy="0"/>
          <a:chOff x="0" y="0"/>
          <a:chExt cx="0" cy="0"/>
        </a:xfrm>
      </p:grpSpPr>
      <p:sp>
        <p:nvSpPr>
          <p:cNvPr id="308" name="Google Shape;308;p14"/>
          <p:cNvSpPr txBox="1"/>
          <p:nvPr/>
        </p:nvSpPr>
        <p:spPr>
          <a:xfrm>
            <a:off x="457200" y="320040"/>
            <a:ext cx="105156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1200"/>
              <a:buFont typeface="Calibri"/>
              <a:buNone/>
            </a:pPr>
            <a:r>
              <a:rPr b="1" i="0" lang="en-US" sz="1200" u="none" cap="none" strike="noStrike">
                <a:solidFill>
                  <a:srgbClr val="C9A227"/>
                </a:solidFill>
                <a:latin typeface="Calibri"/>
                <a:ea typeface="Calibri"/>
                <a:cs typeface="Calibri"/>
                <a:sym typeface="Calibri"/>
              </a:rPr>
              <a:t>06 · KẾT QUẢ</a:t>
            </a:r>
            <a:endParaRPr b="0" i="0" sz="1200" u="none" cap="none" strike="noStrike">
              <a:solidFill>
                <a:schemeClr val="dk1"/>
              </a:solidFill>
              <a:latin typeface="Calibri"/>
              <a:ea typeface="Calibri"/>
              <a:cs typeface="Calibri"/>
              <a:sym typeface="Calibri"/>
            </a:endParaRPr>
          </a:p>
        </p:txBody>
      </p:sp>
      <p:sp>
        <p:nvSpPr>
          <p:cNvPr id="309" name="Google Shape;309;p14"/>
          <p:cNvSpPr txBox="1"/>
          <p:nvPr/>
        </p:nvSpPr>
        <p:spPr>
          <a:xfrm>
            <a:off x="457200" y="566928"/>
            <a:ext cx="1078992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A"/>
              </a:buClr>
              <a:buSzPts val="2800"/>
              <a:buFont typeface="Times New Roman"/>
              <a:buNone/>
            </a:pPr>
            <a:r>
              <a:rPr b="1" i="0" lang="en-US" sz="2800" u="none" cap="none" strike="noStrike">
                <a:solidFill>
                  <a:srgbClr val="1B2A4A"/>
                </a:solidFill>
                <a:latin typeface="Times New Roman"/>
                <a:ea typeface="Times New Roman"/>
                <a:cs typeface="Times New Roman"/>
                <a:sym typeface="Times New Roman"/>
              </a:rPr>
              <a:t>Kết quả chính: so sánh 3 hệ thống (n = 187)</a:t>
            </a:r>
            <a:endParaRPr b="0" i="0" sz="2800" u="none" cap="none" strike="noStrike">
              <a:solidFill>
                <a:schemeClr val="dk1"/>
              </a:solidFill>
              <a:latin typeface="Calibri"/>
              <a:ea typeface="Calibri"/>
              <a:cs typeface="Calibri"/>
              <a:sym typeface="Calibri"/>
            </a:endParaRPr>
          </a:p>
        </p:txBody>
      </p:sp>
      <p:sp>
        <p:nvSpPr>
          <p:cNvPr id="310" name="Google Shape;310;p14"/>
          <p:cNvSpPr txBox="1"/>
          <p:nvPr/>
        </p:nvSpPr>
        <p:spPr>
          <a:xfrm>
            <a:off x="457200" y="1298448"/>
            <a:ext cx="107899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5"/>
              </a:buClr>
              <a:buSzPts val="1150"/>
              <a:buFont typeface="Calibri"/>
              <a:buNone/>
            </a:pPr>
            <a:r>
              <a:rPr b="0" i="1" lang="en-US" sz="1150" u="none" cap="none" strike="noStrike">
                <a:solidFill>
                  <a:srgbClr val="5B6B85"/>
                </a:solidFill>
                <a:latin typeface="Calibri"/>
                <a:ea typeface="Calibri"/>
                <a:cs typeface="Calibri"/>
                <a:sym typeface="Calibri"/>
              </a:rPr>
              <a:t>Vì lý do sử dụng API key free nên kết quả với bộ data so sánh bị hạn chế (187/250 câu).</a:t>
            </a:r>
            <a:endParaRPr b="0" i="0" sz="1150" u="none" cap="none" strike="noStrike">
              <a:solidFill>
                <a:schemeClr val="dk1"/>
              </a:solidFill>
              <a:latin typeface="Calibri"/>
              <a:ea typeface="Calibri"/>
              <a:cs typeface="Calibri"/>
              <a:sym typeface="Calibri"/>
            </a:endParaRPr>
          </a:p>
        </p:txBody>
      </p:sp>
      <p:graphicFrame>
        <p:nvGraphicFramePr>
          <p:cNvPr id="311" name="Google Shape;311;p14"/>
          <p:cNvGraphicFramePr/>
          <p:nvPr/>
        </p:nvGraphicFramePr>
        <p:xfrm>
          <a:off x="457200" y="1691640"/>
          <a:ext cx="3000000" cy="3000000"/>
        </p:xfrm>
        <a:graphic>
          <a:graphicData uri="http://schemas.openxmlformats.org/drawingml/2006/table">
            <a:tbl>
              <a:tblPr>
                <a:noFill/>
                <a:tableStyleId>{CF771489-7EA7-439F-9CA7-88DC3161A82E}</a:tableStyleId>
              </a:tblPr>
              <a:tblGrid>
                <a:gridCol w="2011675"/>
                <a:gridCol w="1124700"/>
                <a:gridCol w="1124700"/>
                <a:gridCol w="1133850"/>
              </a:tblGrid>
              <a:tr h="457200">
                <a:tc>
                  <a:txBody>
                    <a:bodyPr/>
                    <a:lstStyle/>
                    <a:p>
                      <a:pPr indent="0" lvl="0" marL="0" marR="0" rtl="0" algn="l">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Hệ thống</a:t>
                      </a:r>
                      <a:endParaRPr sz="1300" u="none" cap="none" strike="noStrike">
                        <a:latin typeface="Calibri"/>
                        <a:ea typeface="Calibri"/>
                        <a:cs typeface="Calibri"/>
                        <a:sym typeface="Calibri"/>
                      </a:endParaRPr>
                    </a:p>
                  </a:txBody>
                  <a:tcPr marT="45725" marB="45725" marR="91450" marL="91450" anchor="ctr">
                    <a:lnL cap="flat" cmpd="sng" w="9525">
                      <a:solidFill>
                        <a:srgbClr val="D8DEE9"/>
                      </a:solidFill>
                      <a:prstDash val="solid"/>
                      <a:round/>
                      <a:headEnd len="sm" w="sm" type="none"/>
                      <a:tailEnd len="sm" w="sm" type="none"/>
                    </a:lnL>
                    <a:lnR cap="flat" cmpd="sng" w="9525">
                      <a:solidFill>
                        <a:srgbClr val="D8DEE9"/>
                      </a:solidFill>
                      <a:prstDash val="solid"/>
                      <a:round/>
                      <a:headEnd len="sm" w="sm" type="none"/>
                      <a:tailEnd len="sm" w="sm" type="none"/>
                    </a:lnR>
                    <a:lnT cap="flat" cmpd="sng" w="9525">
                      <a:solidFill>
                        <a:srgbClr val="D8DEE9"/>
                      </a:solidFill>
                      <a:prstDash val="solid"/>
                      <a:round/>
                      <a:headEnd len="sm" w="sm" type="none"/>
                      <a:tailEnd len="sm" w="sm" type="none"/>
                    </a:lnT>
                    <a:lnB cap="flat" cmpd="sng" w="9525">
                      <a:solidFill>
                        <a:srgbClr val="D8DEE9"/>
                      </a:solidFill>
                      <a:prstDash val="solid"/>
                      <a:round/>
                      <a:headEnd len="sm" w="sm" type="none"/>
                      <a:tailEnd len="sm" w="sm" type="none"/>
                    </a:lnB>
                    <a:solidFill>
                      <a:srgbClr val="1B2A4A"/>
                    </a:solidFill>
                  </a:tcPr>
                </a:tc>
                <a:tc>
                  <a:txBody>
                    <a:bodyPr/>
                    <a:lstStyle/>
                    <a:p>
                      <a:pPr indent="0" lvl="0" marL="0" marR="0" rtl="0" algn="ctr">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Correctness</a:t>
                      </a:r>
                      <a:endParaRPr sz="1300" u="none" cap="none" strike="noStrike">
                        <a:latin typeface="Calibri"/>
                        <a:ea typeface="Calibri"/>
                        <a:cs typeface="Calibri"/>
                        <a:sym typeface="Calibri"/>
                      </a:endParaRPr>
                    </a:p>
                  </a:txBody>
                  <a:tcPr marT="45725" marB="45725" marR="91450" marL="91450" anchor="ctr">
                    <a:lnL cap="flat" cmpd="sng" w="9525">
                      <a:solidFill>
                        <a:srgbClr val="D8DEE9"/>
                      </a:solidFill>
                      <a:prstDash val="solid"/>
                      <a:round/>
                      <a:headEnd len="sm" w="sm" type="none"/>
                      <a:tailEnd len="sm" w="sm" type="none"/>
                    </a:lnL>
                    <a:lnR cap="flat" cmpd="sng" w="9525">
                      <a:solidFill>
                        <a:srgbClr val="D8DEE9"/>
                      </a:solidFill>
                      <a:prstDash val="solid"/>
                      <a:round/>
                      <a:headEnd len="sm" w="sm" type="none"/>
                      <a:tailEnd len="sm" w="sm" type="none"/>
                    </a:lnR>
                    <a:lnT cap="flat" cmpd="sng" w="9525">
                      <a:solidFill>
                        <a:srgbClr val="D8DEE9"/>
                      </a:solidFill>
                      <a:prstDash val="solid"/>
                      <a:round/>
                      <a:headEnd len="sm" w="sm" type="none"/>
                      <a:tailEnd len="sm" w="sm" type="none"/>
                    </a:lnT>
                    <a:lnB cap="flat" cmpd="sng" w="9525">
                      <a:solidFill>
                        <a:srgbClr val="D8DEE9"/>
                      </a:solidFill>
                      <a:prstDash val="solid"/>
                      <a:round/>
                      <a:headEnd len="sm" w="sm" type="none"/>
                      <a:tailEnd len="sm" w="sm" type="none"/>
                    </a:lnB>
                    <a:solidFill>
                      <a:srgbClr val="1B2A4A"/>
                    </a:solidFill>
                  </a:tcPr>
                </a:tc>
                <a:tc>
                  <a:txBody>
                    <a:bodyPr/>
                    <a:lstStyle/>
                    <a:p>
                      <a:pPr indent="0" lvl="0" marL="0" marR="0" rtl="0" algn="ctr">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Support</a:t>
                      </a:r>
                      <a:endParaRPr sz="1300" u="none" cap="none" strike="noStrike">
                        <a:latin typeface="Calibri"/>
                        <a:ea typeface="Calibri"/>
                        <a:cs typeface="Calibri"/>
                        <a:sym typeface="Calibri"/>
                      </a:endParaRPr>
                    </a:p>
                  </a:txBody>
                  <a:tcPr marT="45725" marB="45725" marR="91450" marL="91450" anchor="ctr">
                    <a:lnL cap="flat" cmpd="sng" w="9525">
                      <a:solidFill>
                        <a:srgbClr val="D8DEE9"/>
                      </a:solidFill>
                      <a:prstDash val="solid"/>
                      <a:round/>
                      <a:headEnd len="sm" w="sm" type="none"/>
                      <a:tailEnd len="sm" w="sm" type="none"/>
                    </a:lnL>
                    <a:lnR cap="flat" cmpd="sng" w="9525">
                      <a:solidFill>
                        <a:srgbClr val="D8DEE9"/>
                      </a:solidFill>
                      <a:prstDash val="solid"/>
                      <a:round/>
                      <a:headEnd len="sm" w="sm" type="none"/>
                      <a:tailEnd len="sm" w="sm" type="none"/>
                    </a:lnR>
                    <a:lnT cap="flat" cmpd="sng" w="9525">
                      <a:solidFill>
                        <a:srgbClr val="D8DEE9"/>
                      </a:solidFill>
                      <a:prstDash val="solid"/>
                      <a:round/>
                      <a:headEnd len="sm" w="sm" type="none"/>
                      <a:tailEnd len="sm" w="sm" type="none"/>
                    </a:lnT>
                    <a:lnB cap="flat" cmpd="sng" w="9525">
                      <a:solidFill>
                        <a:srgbClr val="D8DEE9"/>
                      </a:solidFill>
                      <a:prstDash val="solid"/>
                      <a:round/>
                      <a:headEnd len="sm" w="sm" type="none"/>
                      <a:tailEnd len="sm" w="sm" type="none"/>
                    </a:lnB>
                    <a:solidFill>
                      <a:srgbClr val="1B2A4A"/>
                    </a:solidFill>
                  </a:tcPr>
                </a:tc>
                <a:tc>
                  <a:txBody>
                    <a:bodyPr/>
                    <a:lstStyle/>
                    <a:p>
                      <a:pPr indent="0" lvl="0" marL="0" marR="0" rtl="0" algn="ctr">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Usefulness</a:t>
                      </a:r>
                      <a:endParaRPr sz="1300" u="none" cap="none" strike="noStrike">
                        <a:latin typeface="Calibri"/>
                        <a:ea typeface="Calibri"/>
                        <a:cs typeface="Calibri"/>
                        <a:sym typeface="Calibri"/>
                      </a:endParaRPr>
                    </a:p>
                  </a:txBody>
                  <a:tcPr marT="45725" marB="45725" marR="91450" marL="91450" anchor="ctr">
                    <a:lnL cap="flat" cmpd="sng" w="9525">
                      <a:solidFill>
                        <a:srgbClr val="D8DEE9"/>
                      </a:solidFill>
                      <a:prstDash val="solid"/>
                      <a:round/>
                      <a:headEnd len="sm" w="sm" type="none"/>
                      <a:tailEnd len="sm" w="sm" type="none"/>
                    </a:lnL>
                    <a:lnR cap="flat" cmpd="sng" w="9525">
                      <a:solidFill>
                        <a:srgbClr val="D8DEE9"/>
                      </a:solidFill>
                      <a:prstDash val="solid"/>
                      <a:round/>
                      <a:headEnd len="sm" w="sm" type="none"/>
                      <a:tailEnd len="sm" w="sm" type="none"/>
                    </a:lnR>
                    <a:lnT cap="flat" cmpd="sng" w="9525">
                      <a:solidFill>
                        <a:srgbClr val="D8DEE9"/>
                      </a:solidFill>
                      <a:prstDash val="solid"/>
                      <a:round/>
                      <a:headEnd len="sm" w="sm" type="none"/>
                      <a:tailEnd len="sm" w="sm" type="none"/>
                    </a:lnT>
                    <a:lnB cap="flat" cmpd="sng" w="9525">
                      <a:solidFill>
                        <a:srgbClr val="D8DEE9"/>
                      </a:solidFill>
                      <a:prstDash val="solid"/>
                      <a:round/>
                      <a:headEnd len="sm" w="sm" type="none"/>
                      <a:tailEnd len="sm" w="sm" type="none"/>
                    </a:lnB>
                    <a:solidFill>
                      <a:srgbClr val="1B2A4A"/>
                    </a:solidFill>
                  </a:tcPr>
                </a:tc>
              </a:tr>
              <a:tr h="457200">
                <a:tc>
                  <a:txBody>
                    <a:bodyPr/>
                    <a:lstStyle/>
                    <a:p>
                      <a:pPr indent="0" lvl="0" marL="0" marR="0" rtl="0" algn="l">
                        <a:spcBef>
                          <a:spcPts val="0"/>
                        </a:spcBef>
                        <a:spcAft>
                          <a:spcPts val="0"/>
                        </a:spcAft>
                        <a:buClr>
                          <a:srgbClr val="1B2A4A"/>
                        </a:buClr>
                        <a:buSzPts val="1300"/>
                        <a:buFont typeface="Calibri"/>
                        <a:buNone/>
                      </a:pPr>
                      <a:r>
                        <a:rPr lang="en-US" sz="1300" u="none" cap="none" strike="noStrike">
                          <a:solidFill>
                            <a:srgbClr val="1B2A4A"/>
                          </a:solidFill>
                          <a:latin typeface="Calibri"/>
                          <a:ea typeface="Calibri"/>
                          <a:cs typeface="Calibri"/>
                          <a:sym typeface="Calibri"/>
                        </a:rPr>
                        <a:t>No-RAG</a:t>
                      </a:r>
                      <a:endParaRPr sz="1300" u="none" cap="none" strike="noStrike">
                        <a:latin typeface="Calibri"/>
                        <a:ea typeface="Calibri"/>
                        <a:cs typeface="Calibri"/>
                        <a:sym typeface="Calibri"/>
                      </a:endParaRPr>
                    </a:p>
                  </a:txBody>
                  <a:tcPr marT="45725" marB="45725" marR="91450" marL="91450" anchor="ctr">
                    <a:lnL cap="flat" cmpd="sng" w="9525">
                      <a:solidFill>
                        <a:srgbClr val="D8DEE9"/>
                      </a:solidFill>
                      <a:prstDash val="solid"/>
                      <a:round/>
                      <a:headEnd len="sm" w="sm" type="none"/>
                      <a:tailEnd len="sm" w="sm" type="none"/>
                    </a:lnL>
                    <a:lnR cap="flat" cmpd="sng" w="9525">
                      <a:solidFill>
                        <a:srgbClr val="D8DEE9"/>
                      </a:solidFill>
                      <a:prstDash val="solid"/>
                      <a:round/>
                      <a:headEnd len="sm" w="sm" type="none"/>
                      <a:tailEnd len="sm" w="sm" type="none"/>
                    </a:lnR>
                    <a:lnT cap="flat" cmpd="sng" w="9525">
                      <a:solidFill>
                        <a:srgbClr val="D8DEE9"/>
                      </a:solidFill>
                      <a:prstDash val="solid"/>
                      <a:round/>
                      <a:headEnd len="sm" w="sm" type="none"/>
                      <a:tailEnd len="sm" w="sm" type="none"/>
                    </a:lnT>
                    <a:lnB cap="flat" cmpd="sng" w="9525">
                      <a:solidFill>
                        <a:srgbClr val="D8DEE9"/>
                      </a:solidFill>
                      <a:prstDash val="solid"/>
                      <a:round/>
                      <a:headEnd len="sm" w="sm" type="none"/>
                      <a:tailEnd len="sm" w="sm" type="none"/>
                    </a:lnB>
                  </a:tcPr>
                </a:tc>
                <a:tc>
                  <a:txBody>
                    <a:bodyPr/>
                    <a:lstStyle/>
                    <a:p>
                      <a:pPr indent="0" lvl="0" marL="0" marR="0" rtl="0" algn="ctr">
                        <a:spcBef>
                          <a:spcPts val="0"/>
                        </a:spcBef>
                        <a:spcAft>
                          <a:spcPts val="0"/>
                        </a:spcAft>
                        <a:buClr>
                          <a:srgbClr val="1B2A4A"/>
                        </a:buClr>
                        <a:buSzPts val="1300"/>
                        <a:buFont typeface="Calibri"/>
                        <a:buNone/>
                      </a:pPr>
                      <a:r>
                        <a:rPr lang="en-US" sz="1300" u="none" cap="none" strike="noStrike">
                          <a:solidFill>
                            <a:srgbClr val="1B2A4A"/>
                          </a:solidFill>
                          <a:latin typeface="Calibri"/>
                          <a:ea typeface="Calibri"/>
                          <a:cs typeface="Calibri"/>
                          <a:sym typeface="Calibri"/>
                        </a:rPr>
                        <a:t>16.0%</a:t>
                      </a:r>
                      <a:endParaRPr sz="1300" u="none" cap="none" strike="noStrike">
                        <a:latin typeface="Calibri"/>
                        <a:ea typeface="Calibri"/>
                        <a:cs typeface="Calibri"/>
                        <a:sym typeface="Calibri"/>
                      </a:endParaRPr>
                    </a:p>
                  </a:txBody>
                  <a:tcPr marT="45725" marB="45725" marR="91450" marL="91450" anchor="ctr">
                    <a:lnL cap="flat" cmpd="sng" w="9525">
                      <a:solidFill>
                        <a:srgbClr val="D8DEE9"/>
                      </a:solidFill>
                      <a:prstDash val="solid"/>
                      <a:round/>
                      <a:headEnd len="sm" w="sm" type="none"/>
                      <a:tailEnd len="sm" w="sm" type="none"/>
                    </a:lnL>
                    <a:lnR cap="flat" cmpd="sng" w="9525">
                      <a:solidFill>
                        <a:srgbClr val="D8DEE9"/>
                      </a:solidFill>
                      <a:prstDash val="solid"/>
                      <a:round/>
                      <a:headEnd len="sm" w="sm" type="none"/>
                      <a:tailEnd len="sm" w="sm" type="none"/>
                    </a:lnR>
                    <a:lnT cap="flat" cmpd="sng" w="9525">
                      <a:solidFill>
                        <a:srgbClr val="D8DEE9"/>
                      </a:solidFill>
                      <a:prstDash val="solid"/>
                      <a:round/>
                      <a:headEnd len="sm" w="sm" type="none"/>
                      <a:tailEnd len="sm" w="sm" type="none"/>
                    </a:lnT>
                    <a:lnB cap="flat" cmpd="sng" w="9525">
                      <a:solidFill>
                        <a:srgbClr val="D8DEE9"/>
                      </a:solidFill>
                      <a:prstDash val="solid"/>
                      <a:round/>
                      <a:headEnd len="sm" w="sm" type="none"/>
                      <a:tailEnd len="sm" w="sm" type="none"/>
                    </a:lnB>
                  </a:tcPr>
                </a:tc>
                <a:tc>
                  <a:txBody>
                    <a:bodyPr/>
                    <a:lstStyle/>
                    <a:p>
                      <a:pPr indent="0" lvl="0" marL="0" marR="0" rtl="0" algn="ctr">
                        <a:spcBef>
                          <a:spcPts val="0"/>
                        </a:spcBef>
                        <a:spcAft>
                          <a:spcPts val="0"/>
                        </a:spcAft>
                        <a:buClr>
                          <a:srgbClr val="5B6B85"/>
                        </a:buClr>
                        <a:buSzPts val="1300"/>
                        <a:buFont typeface="Calibri"/>
                        <a:buNone/>
                      </a:pPr>
                      <a:r>
                        <a:rPr lang="en-US" sz="1300" u="none" cap="none" strike="noStrike">
                          <a:solidFill>
                            <a:srgbClr val="5B6B85"/>
                          </a:solidFill>
                          <a:latin typeface="Calibri"/>
                          <a:ea typeface="Calibri"/>
                          <a:cs typeface="Calibri"/>
                          <a:sym typeface="Calibri"/>
                        </a:rPr>
                        <a:t>N/A</a:t>
                      </a:r>
                      <a:endParaRPr sz="1300" u="none" cap="none" strike="noStrike">
                        <a:latin typeface="Calibri"/>
                        <a:ea typeface="Calibri"/>
                        <a:cs typeface="Calibri"/>
                        <a:sym typeface="Calibri"/>
                      </a:endParaRPr>
                    </a:p>
                  </a:txBody>
                  <a:tcPr marT="45725" marB="45725" marR="91450" marL="91450" anchor="ctr">
                    <a:lnL cap="flat" cmpd="sng" w="9525">
                      <a:solidFill>
                        <a:srgbClr val="D8DEE9"/>
                      </a:solidFill>
                      <a:prstDash val="solid"/>
                      <a:round/>
                      <a:headEnd len="sm" w="sm" type="none"/>
                      <a:tailEnd len="sm" w="sm" type="none"/>
                    </a:lnL>
                    <a:lnR cap="flat" cmpd="sng" w="9525">
                      <a:solidFill>
                        <a:srgbClr val="D8DEE9"/>
                      </a:solidFill>
                      <a:prstDash val="solid"/>
                      <a:round/>
                      <a:headEnd len="sm" w="sm" type="none"/>
                      <a:tailEnd len="sm" w="sm" type="none"/>
                    </a:lnR>
                    <a:lnT cap="flat" cmpd="sng" w="9525">
                      <a:solidFill>
                        <a:srgbClr val="D8DEE9"/>
                      </a:solidFill>
                      <a:prstDash val="solid"/>
                      <a:round/>
                      <a:headEnd len="sm" w="sm" type="none"/>
                      <a:tailEnd len="sm" w="sm" type="none"/>
                    </a:lnT>
                    <a:lnB cap="flat" cmpd="sng" w="9525">
                      <a:solidFill>
                        <a:srgbClr val="D8DEE9"/>
                      </a:solidFill>
                      <a:prstDash val="solid"/>
                      <a:round/>
                      <a:headEnd len="sm" w="sm" type="none"/>
                      <a:tailEnd len="sm" w="sm" type="none"/>
                    </a:lnB>
                  </a:tcPr>
                </a:tc>
                <a:tc>
                  <a:txBody>
                    <a:bodyPr/>
                    <a:lstStyle/>
                    <a:p>
                      <a:pPr indent="0" lvl="0" marL="0" marR="0" rtl="0" algn="ctr">
                        <a:spcBef>
                          <a:spcPts val="0"/>
                        </a:spcBef>
                        <a:spcAft>
                          <a:spcPts val="0"/>
                        </a:spcAft>
                        <a:buClr>
                          <a:srgbClr val="1B2A4A"/>
                        </a:buClr>
                        <a:buSzPts val="1300"/>
                        <a:buFont typeface="Calibri"/>
                        <a:buNone/>
                      </a:pPr>
                      <a:r>
                        <a:rPr lang="en-US" sz="1300" u="none" cap="none" strike="noStrike">
                          <a:solidFill>
                            <a:srgbClr val="1B2A4A"/>
                          </a:solidFill>
                          <a:latin typeface="Calibri"/>
                          <a:ea typeface="Calibri"/>
                          <a:cs typeface="Calibri"/>
                          <a:sym typeface="Calibri"/>
                        </a:rPr>
                        <a:t>50.8%</a:t>
                      </a:r>
                      <a:endParaRPr sz="1300" u="none" cap="none" strike="noStrike">
                        <a:latin typeface="Calibri"/>
                        <a:ea typeface="Calibri"/>
                        <a:cs typeface="Calibri"/>
                        <a:sym typeface="Calibri"/>
                      </a:endParaRPr>
                    </a:p>
                  </a:txBody>
                  <a:tcPr marT="45725" marB="45725" marR="91450" marL="91450" anchor="ctr">
                    <a:lnL cap="flat" cmpd="sng" w="9525">
                      <a:solidFill>
                        <a:srgbClr val="D8DEE9"/>
                      </a:solidFill>
                      <a:prstDash val="solid"/>
                      <a:round/>
                      <a:headEnd len="sm" w="sm" type="none"/>
                      <a:tailEnd len="sm" w="sm" type="none"/>
                    </a:lnL>
                    <a:lnR cap="flat" cmpd="sng" w="9525">
                      <a:solidFill>
                        <a:srgbClr val="D8DEE9"/>
                      </a:solidFill>
                      <a:prstDash val="solid"/>
                      <a:round/>
                      <a:headEnd len="sm" w="sm" type="none"/>
                      <a:tailEnd len="sm" w="sm" type="none"/>
                    </a:lnR>
                    <a:lnT cap="flat" cmpd="sng" w="9525">
                      <a:solidFill>
                        <a:srgbClr val="D8DEE9"/>
                      </a:solidFill>
                      <a:prstDash val="solid"/>
                      <a:round/>
                      <a:headEnd len="sm" w="sm" type="none"/>
                      <a:tailEnd len="sm" w="sm" type="none"/>
                    </a:lnT>
                    <a:lnB cap="flat" cmpd="sng" w="9525">
                      <a:solidFill>
                        <a:srgbClr val="D8DEE9"/>
                      </a:solidFill>
                      <a:prstDash val="solid"/>
                      <a:round/>
                      <a:headEnd len="sm" w="sm" type="none"/>
                      <a:tailEnd len="sm" w="sm" type="none"/>
                    </a:lnB>
                  </a:tcPr>
                </a:tc>
              </a:tr>
              <a:tr h="457200">
                <a:tc>
                  <a:txBody>
                    <a:bodyPr/>
                    <a:lstStyle/>
                    <a:p>
                      <a:pPr indent="0" lvl="0" marL="0" marR="0" rtl="0" algn="l">
                        <a:spcBef>
                          <a:spcPts val="0"/>
                        </a:spcBef>
                        <a:spcAft>
                          <a:spcPts val="0"/>
                        </a:spcAft>
                        <a:buClr>
                          <a:srgbClr val="1B2A4A"/>
                        </a:buClr>
                        <a:buSzPts val="1300"/>
                        <a:buFont typeface="Calibri"/>
                        <a:buNone/>
                      </a:pPr>
                      <a:r>
                        <a:rPr lang="en-US" sz="1300" u="none" cap="none" strike="noStrike">
                          <a:solidFill>
                            <a:srgbClr val="1B2A4A"/>
                          </a:solidFill>
                          <a:latin typeface="Calibri"/>
                          <a:ea typeface="Calibri"/>
                          <a:cs typeface="Calibri"/>
                          <a:sym typeface="Calibri"/>
                        </a:rPr>
                        <a:t>Standard RAG</a:t>
                      </a:r>
                      <a:endParaRPr sz="1300" u="none" cap="none" strike="noStrike">
                        <a:latin typeface="Calibri"/>
                        <a:ea typeface="Calibri"/>
                        <a:cs typeface="Calibri"/>
                        <a:sym typeface="Calibri"/>
                      </a:endParaRPr>
                    </a:p>
                  </a:txBody>
                  <a:tcPr marT="45725" marB="45725" marR="91450" marL="91450" anchor="ctr">
                    <a:lnL cap="flat" cmpd="sng" w="9525">
                      <a:solidFill>
                        <a:srgbClr val="D8DEE9"/>
                      </a:solidFill>
                      <a:prstDash val="solid"/>
                      <a:round/>
                      <a:headEnd len="sm" w="sm" type="none"/>
                      <a:tailEnd len="sm" w="sm" type="none"/>
                    </a:lnL>
                    <a:lnR cap="flat" cmpd="sng" w="9525">
                      <a:solidFill>
                        <a:srgbClr val="D8DEE9"/>
                      </a:solidFill>
                      <a:prstDash val="solid"/>
                      <a:round/>
                      <a:headEnd len="sm" w="sm" type="none"/>
                      <a:tailEnd len="sm" w="sm" type="none"/>
                    </a:lnR>
                    <a:lnT cap="flat" cmpd="sng" w="9525">
                      <a:solidFill>
                        <a:srgbClr val="D8DEE9"/>
                      </a:solidFill>
                      <a:prstDash val="solid"/>
                      <a:round/>
                      <a:headEnd len="sm" w="sm" type="none"/>
                      <a:tailEnd len="sm" w="sm" type="none"/>
                    </a:lnT>
                    <a:lnB cap="flat" cmpd="sng" w="9525">
                      <a:solidFill>
                        <a:srgbClr val="D8DEE9"/>
                      </a:solidFill>
                      <a:prstDash val="solid"/>
                      <a:round/>
                      <a:headEnd len="sm" w="sm" type="none"/>
                      <a:tailEnd len="sm" w="sm" type="none"/>
                    </a:lnB>
                  </a:tcPr>
                </a:tc>
                <a:tc>
                  <a:txBody>
                    <a:bodyPr/>
                    <a:lstStyle/>
                    <a:p>
                      <a:pPr indent="0" lvl="0" marL="0" marR="0" rtl="0" algn="ctr">
                        <a:spcBef>
                          <a:spcPts val="0"/>
                        </a:spcBef>
                        <a:spcAft>
                          <a:spcPts val="0"/>
                        </a:spcAft>
                        <a:buClr>
                          <a:srgbClr val="1B2A4A"/>
                        </a:buClr>
                        <a:buSzPts val="1300"/>
                        <a:buFont typeface="Calibri"/>
                        <a:buNone/>
                      </a:pPr>
                      <a:r>
                        <a:rPr lang="en-US" sz="1300" u="none" cap="none" strike="noStrike">
                          <a:solidFill>
                            <a:srgbClr val="1B2A4A"/>
                          </a:solidFill>
                          <a:latin typeface="Calibri"/>
                          <a:ea typeface="Calibri"/>
                          <a:cs typeface="Calibri"/>
                          <a:sym typeface="Calibri"/>
                        </a:rPr>
                        <a:t>25.7%</a:t>
                      </a:r>
                      <a:endParaRPr sz="1300" u="none" cap="none" strike="noStrike">
                        <a:latin typeface="Calibri"/>
                        <a:ea typeface="Calibri"/>
                        <a:cs typeface="Calibri"/>
                        <a:sym typeface="Calibri"/>
                      </a:endParaRPr>
                    </a:p>
                  </a:txBody>
                  <a:tcPr marT="45725" marB="45725" marR="91450" marL="91450" anchor="ctr">
                    <a:lnL cap="flat" cmpd="sng" w="9525">
                      <a:solidFill>
                        <a:srgbClr val="D8DEE9"/>
                      </a:solidFill>
                      <a:prstDash val="solid"/>
                      <a:round/>
                      <a:headEnd len="sm" w="sm" type="none"/>
                      <a:tailEnd len="sm" w="sm" type="none"/>
                    </a:lnL>
                    <a:lnR cap="flat" cmpd="sng" w="9525">
                      <a:solidFill>
                        <a:srgbClr val="D8DEE9"/>
                      </a:solidFill>
                      <a:prstDash val="solid"/>
                      <a:round/>
                      <a:headEnd len="sm" w="sm" type="none"/>
                      <a:tailEnd len="sm" w="sm" type="none"/>
                    </a:lnR>
                    <a:lnT cap="flat" cmpd="sng" w="9525">
                      <a:solidFill>
                        <a:srgbClr val="D8DEE9"/>
                      </a:solidFill>
                      <a:prstDash val="solid"/>
                      <a:round/>
                      <a:headEnd len="sm" w="sm" type="none"/>
                      <a:tailEnd len="sm" w="sm" type="none"/>
                    </a:lnT>
                    <a:lnB cap="flat" cmpd="sng" w="9525">
                      <a:solidFill>
                        <a:srgbClr val="D8DEE9"/>
                      </a:solidFill>
                      <a:prstDash val="solid"/>
                      <a:round/>
                      <a:headEnd len="sm" w="sm" type="none"/>
                      <a:tailEnd len="sm" w="sm" type="none"/>
                    </a:lnB>
                  </a:tcPr>
                </a:tc>
                <a:tc>
                  <a:txBody>
                    <a:bodyPr/>
                    <a:lstStyle/>
                    <a:p>
                      <a:pPr indent="0" lvl="0" marL="0" marR="0" rtl="0" algn="ctr">
                        <a:spcBef>
                          <a:spcPts val="0"/>
                        </a:spcBef>
                        <a:spcAft>
                          <a:spcPts val="0"/>
                        </a:spcAft>
                        <a:buClr>
                          <a:srgbClr val="1B2A4A"/>
                        </a:buClr>
                        <a:buSzPts val="1300"/>
                        <a:buFont typeface="Calibri"/>
                        <a:buNone/>
                      </a:pPr>
                      <a:r>
                        <a:rPr lang="en-US" sz="1300" u="none" cap="none" strike="noStrike">
                          <a:solidFill>
                            <a:srgbClr val="1B2A4A"/>
                          </a:solidFill>
                          <a:latin typeface="Calibri"/>
                          <a:ea typeface="Calibri"/>
                          <a:cs typeface="Calibri"/>
                          <a:sym typeface="Calibri"/>
                        </a:rPr>
                        <a:t>53.5%</a:t>
                      </a:r>
                      <a:endParaRPr sz="1300" u="none" cap="none" strike="noStrike">
                        <a:latin typeface="Calibri"/>
                        <a:ea typeface="Calibri"/>
                        <a:cs typeface="Calibri"/>
                        <a:sym typeface="Calibri"/>
                      </a:endParaRPr>
                    </a:p>
                  </a:txBody>
                  <a:tcPr marT="45725" marB="45725" marR="91450" marL="91450" anchor="ctr">
                    <a:lnL cap="flat" cmpd="sng" w="9525">
                      <a:solidFill>
                        <a:srgbClr val="D8DEE9"/>
                      </a:solidFill>
                      <a:prstDash val="solid"/>
                      <a:round/>
                      <a:headEnd len="sm" w="sm" type="none"/>
                      <a:tailEnd len="sm" w="sm" type="none"/>
                    </a:lnL>
                    <a:lnR cap="flat" cmpd="sng" w="9525">
                      <a:solidFill>
                        <a:srgbClr val="D8DEE9"/>
                      </a:solidFill>
                      <a:prstDash val="solid"/>
                      <a:round/>
                      <a:headEnd len="sm" w="sm" type="none"/>
                      <a:tailEnd len="sm" w="sm" type="none"/>
                    </a:lnR>
                    <a:lnT cap="flat" cmpd="sng" w="9525">
                      <a:solidFill>
                        <a:srgbClr val="D8DEE9"/>
                      </a:solidFill>
                      <a:prstDash val="solid"/>
                      <a:round/>
                      <a:headEnd len="sm" w="sm" type="none"/>
                      <a:tailEnd len="sm" w="sm" type="none"/>
                    </a:lnT>
                    <a:lnB cap="flat" cmpd="sng" w="9525">
                      <a:solidFill>
                        <a:srgbClr val="D8DEE9"/>
                      </a:solidFill>
                      <a:prstDash val="solid"/>
                      <a:round/>
                      <a:headEnd len="sm" w="sm" type="none"/>
                      <a:tailEnd len="sm" w="sm" type="none"/>
                    </a:lnB>
                  </a:tcPr>
                </a:tc>
                <a:tc>
                  <a:txBody>
                    <a:bodyPr/>
                    <a:lstStyle/>
                    <a:p>
                      <a:pPr indent="0" lvl="0" marL="0" marR="0" rtl="0" algn="ctr">
                        <a:spcBef>
                          <a:spcPts val="0"/>
                        </a:spcBef>
                        <a:spcAft>
                          <a:spcPts val="0"/>
                        </a:spcAft>
                        <a:buClr>
                          <a:srgbClr val="1B2A4A"/>
                        </a:buClr>
                        <a:buSzPts val="1300"/>
                        <a:buFont typeface="Calibri"/>
                        <a:buNone/>
                      </a:pPr>
                      <a:r>
                        <a:rPr lang="en-US" sz="1300" u="none" cap="none" strike="noStrike">
                          <a:solidFill>
                            <a:srgbClr val="1B2A4A"/>
                          </a:solidFill>
                          <a:latin typeface="Calibri"/>
                          <a:ea typeface="Calibri"/>
                          <a:cs typeface="Calibri"/>
                          <a:sym typeface="Calibri"/>
                        </a:rPr>
                        <a:t>25.7%</a:t>
                      </a:r>
                      <a:endParaRPr sz="1300" u="none" cap="none" strike="noStrike">
                        <a:latin typeface="Calibri"/>
                        <a:ea typeface="Calibri"/>
                        <a:cs typeface="Calibri"/>
                        <a:sym typeface="Calibri"/>
                      </a:endParaRPr>
                    </a:p>
                  </a:txBody>
                  <a:tcPr marT="45725" marB="45725" marR="91450" marL="91450" anchor="ctr">
                    <a:lnL cap="flat" cmpd="sng" w="9525">
                      <a:solidFill>
                        <a:srgbClr val="D8DEE9"/>
                      </a:solidFill>
                      <a:prstDash val="solid"/>
                      <a:round/>
                      <a:headEnd len="sm" w="sm" type="none"/>
                      <a:tailEnd len="sm" w="sm" type="none"/>
                    </a:lnL>
                    <a:lnR cap="flat" cmpd="sng" w="9525">
                      <a:solidFill>
                        <a:srgbClr val="D8DEE9"/>
                      </a:solidFill>
                      <a:prstDash val="solid"/>
                      <a:round/>
                      <a:headEnd len="sm" w="sm" type="none"/>
                      <a:tailEnd len="sm" w="sm" type="none"/>
                    </a:lnR>
                    <a:lnT cap="flat" cmpd="sng" w="9525">
                      <a:solidFill>
                        <a:srgbClr val="D8DEE9"/>
                      </a:solidFill>
                      <a:prstDash val="solid"/>
                      <a:round/>
                      <a:headEnd len="sm" w="sm" type="none"/>
                      <a:tailEnd len="sm" w="sm" type="none"/>
                    </a:lnT>
                    <a:lnB cap="flat" cmpd="sng" w="9525">
                      <a:solidFill>
                        <a:srgbClr val="D8DEE9"/>
                      </a:solidFill>
                      <a:prstDash val="solid"/>
                      <a:round/>
                      <a:headEnd len="sm" w="sm" type="none"/>
                      <a:tailEnd len="sm" w="sm" type="none"/>
                    </a:lnB>
                  </a:tcPr>
                </a:tc>
              </a:tr>
              <a:tr h="457200">
                <a:tc>
                  <a:txBody>
                    <a:bodyPr/>
                    <a:lstStyle/>
                    <a:p>
                      <a:pPr indent="0" lvl="0" marL="0" marR="0" rtl="0" algn="l">
                        <a:spcBef>
                          <a:spcPts val="0"/>
                        </a:spcBef>
                        <a:spcAft>
                          <a:spcPts val="0"/>
                        </a:spcAft>
                        <a:buClr>
                          <a:srgbClr val="2E7D5B"/>
                        </a:buClr>
                        <a:buSzPts val="1300"/>
                        <a:buFont typeface="Calibri"/>
                        <a:buNone/>
                      </a:pPr>
                      <a:r>
                        <a:rPr b="1" lang="en-US" sz="1300" u="none" cap="none" strike="noStrike">
                          <a:solidFill>
                            <a:srgbClr val="2E7D5B"/>
                          </a:solidFill>
                          <a:latin typeface="Calibri"/>
                          <a:ea typeface="Calibri"/>
                          <a:cs typeface="Calibri"/>
                          <a:sym typeface="Calibri"/>
                        </a:rPr>
                        <a:t>Self-RAG-inspired</a:t>
                      </a:r>
                      <a:endParaRPr sz="1300" u="none" cap="none" strike="noStrike">
                        <a:latin typeface="Calibri"/>
                        <a:ea typeface="Calibri"/>
                        <a:cs typeface="Calibri"/>
                        <a:sym typeface="Calibri"/>
                      </a:endParaRPr>
                    </a:p>
                  </a:txBody>
                  <a:tcPr marT="45725" marB="45725" marR="91450" marL="91450" anchor="ctr">
                    <a:lnL cap="flat" cmpd="sng" w="9525">
                      <a:solidFill>
                        <a:srgbClr val="D8DEE9"/>
                      </a:solidFill>
                      <a:prstDash val="solid"/>
                      <a:round/>
                      <a:headEnd len="sm" w="sm" type="none"/>
                      <a:tailEnd len="sm" w="sm" type="none"/>
                    </a:lnL>
                    <a:lnR cap="flat" cmpd="sng" w="9525">
                      <a:solidFill>
                        <a:srgbClr val="D8DEE9"/>
                      </a:solidFill>
                      <a:prstDash val="solid"/>
                      <a:round/>
                      <a:headEnd len="sm" w="sm" type="none"/>
                      <a:tailEnd len="sm" w="sm" type="none"/>
                    </a:lnR>
                    <a:lnT cap="flat" cmpd="sng" w="9525">
                      <a:solidFill>
                        <a:srgbClr val="D8DEE9"/>
                      </a:solidFill>
                      <a:prstDash val="solid"/>
                      <a:round/>
                      <a:headEnd len="sm" w="sm" type="none"/>
                      <a:tailEnd len="sm" w="sm" type="none"/>
                    </a:lnT>
                    <a:lnB cap="flat" cmpd="sng" w="9525">
                      <a:solidFill>
                        <a:srgbClr val="D8DEE9"/>
                      </a:solidFill>
                      <a:prstDash val="solid"/>
                      <a:round/>
                      <a:headEnd len="sm" w="sm" type="none"/>
                      <a:tailEnd len="sm" w="sm" type="none"/>
                    </a:lnB>
                  </a:tcPr>
                </a:tc>
                <a:tc>
                  <a:txBody>
                    <a:bodyPr/>
                    <a:lstStyle/>
                    <a:p>
                      <a:pPr indent="0" lvl="0" marL="0" marR="0" rtl="0" algn="ctr">
                        <a:spcBef>
                          <a:spcPts val="0"/>
                        </a:spcBef>
                        <a:spcAft>
                          <a:spcPts val="0"/>
                        </a:spcAft>
                        <a:buClr>
                          <a:srgbClr val="2E7D5B"/>
                        </a:buClr>
                        <a:buSzPts val="1300"/>
                        <a:buFont typeface="Calibri"/>
                        <a:buNone/>
                      </a:pPr>
                      <a:r>
                        <a:rPr b="1" lang="en-US" sz="1300" u="none" cap="none" strike="noStrike">
                          <a:solidFill>
                            <a:srgbClr val="2E7D5B"/>
                          </a:solidFill>
                          <a:latin typeface="Calibri"/>
                          <a:ea typeface="Calibri"/>
                          <a:cs typeface="Calibri"/>
                          <a:sym typeface="Calibri"/>
                        </a:rPr>
                        <a:t>33.2%</a:t>
                      </a:r>
                      <a:endParaRPr sz="1300" u="none" cap="none" strike="noStrike">
                        <a:latin typeface="Calibri"/>
                        <a:ea typeface="Calibri"/>
                        <a:cs typeface="Calibri"/>
                        <a:sym typeface="Calibri"/>
                      </a:endParaRPr>
                    </a:p>
                  </a:txBody>
                  <a:tcPr marT="45725" marB="45725" marR="91450" marL="91450" anchor="ctr">
                    <a:lnL cap="flat" cmpd="sng" w="9525">
                      <a:solidFill>
                        <a:srgbClr val="D8DEE9"/>
                      </a:solidFill>
                      <a:prstDash val="solid"/>
                      <a:round/>
                      <a:headEnd len="sm" w="sm" type="none"/>
                      <a:tailEnd len="sm" w="sm" type="none"/>
                    </a:lnL>
                    <a:lnR cap="flat" cmpd="sng" w="9525">
                      <a:solidFill>
                        <a:srgbClr val="D8DEE9"/>
                      </a:solidFill>
                      <a:prstDash val="solid"/>
                      <a:round/>
                      <a:headEnd len="sm" w="sm" type="none"/>
                      <a:tailEnd len="sm" w="sm" type="none"/>
                    </a:lnR>
                    <a:lnT cap="flat" cmpd="sng" w="9525">
                      <a:solidFill>
                        <a:srgbClr val="D8DEE9"/>
                      </a:solidFill>
                      <a:prstDash val="solid"/>
                      <a:round/>
                      <a:headEnd len="sm" w="sm" type="none"/>
                      <a:tailEnd len="sm" w="sm" type="none"/>
                    </a:lnT>
                    <a:lnB cap="flat" cmpd="sng" w="9525">
                      <a:solidFill>
                        <a:srgbClr val="D8DEE9"/>
                      </a:solidFill>
                      <a:prstDash val="solid"/>
                      <a:round/>
                      <a:headEnd len="sm" w="sm" type="none"/>
                      <a:tailEnd len="sm" w="sm" type="none"/>
                    </a:lnB>
                    <a:solidFill>
                      <a:srgbClr val="E3F0E9"/>
                    </a:solidFill>
                  </a:tcPr>
                </a:tc>
                <a:tc>
                  <a:txBody>
                    <a:bodyPr/>
                    <a:lstStyle/>
                    <a:p>
                      <a:pPr indent="0" lvl="0" marL="0" marR="0" rtl="0" algn="ctr">
                        <a:spcBef>
                          <a:spcPts val="0"/>
                        </a:spcBef>
                        <a:spcAft>
                          <a:spcPts val="0"/>
                        </a:spcAft>
                        <a:buClr>
                          <a:srgbClr val="2E7D5B"/>
                        </a:buClr>
                        <a:buSzPts val="1300"/>
                        <a:buFont typeface="Calibri"/>
                        <a:buNone/>
                      </a:pPr>
                      <a:r>
                        <a:rPr b="1" lang="en-US" sz="1300" u="none" cap="none" strike="noStrike">
                          <a:solidFill>
                            <a:srgbClr val="2E7D5B"/>
                          </a:solidFill>
                          <a:latin typeface="Calibri"/>
                          <a:ea typeface="Calibri"/>
                          <a:cs typeface="Calibri"/>
                          <a:sym typeface="Calibri"/>
                        </a:rPr>
                        <a:t>62.0%</a:t>
                      </a:r>
                      <a:endParaRPr sz="1300" u="none" cap="none" strike="noStrike">
                        <a:latin typeface="Calibri"/>
                        <a:ea typeface="Calibri"/>
                        <a:cs typeface="Calibri"/>
                        <a:sym typeface="Calibri"/>
                      </a:endParaRPr>
                    </a:p>
                  </a:txBody>
                  <a:tcPr marT="45725" marB="45725" marR="91450" marL="91450" anchor="ctr">
                    <a:lnL cap="flat" cmpd="sng" w="9525">
                      <a:solidFill>
                        <a:srgbClr val="D8DEE9"/>
                      </a:solidFill>
                      <a:prstDash val="solid"/>
                      <a:round/>
                      <a:headEnd len="sm" w="sm" type="none"/>
                      <a:tailEnd len="sm" w="sm" type="none"/>
                    </a:lnL>
                    <a:lnR cap="flat" cmpd="sng" w="9525">
                      <a:solidFill>
                        <a:srgbClr val="D8DEE9"/>
                      </a:solidFill>
                      <a:prstDash val="solid"/>
                      <a:round/>
                      <a:headEnd len="sm" w="sm" type="none"/>
                      <a:tailEnd len="sm" w="sm" type="none"/>
                    </a:lnR>
                    <a:lnT cap="flat" cmpd="sng" w="9525">
                      <a:solidFill>
                        <a:srgbClr val="D8DEE9"/>
                      </a:solidFill>
                      <a:prstDash val="solid"/>
                      <a:round/>
                      <a:headEnd len="sm" w="sm" type="none"/>
                      <a:tailEnd len="sm" w="sm" type="none"/>
                    </a:lnT>
                    <a:lnB cap="flat" cmpd="sng" w="9525">
                      <a:solidFill>
                        <a:srgbClr val="D8DEE9"/>
                      </a:solidFill>
                      <a:prstDash val="solid"/>
                      <a:round/>
                      <a:headEnd len="sm" w="sm" type="none"/>
                      <a:tailEnd len="sm" w="sm" type="none"/>
                    </a:lnB>
                    <a:solidFill>
                      <a:srgbClr val="E3F0E9"/>
                    </a:solidFill>
                  </a:tcPr>
                </a:tc>
                <a:tc>
                  <a:txBody>
                    <a:bodyPr/>
                    <a:lstStyle/>
                    <a:p>
                      <a:pPr indent="0" lvl="0" marL="0" marR="0" rtl="0" algn="ctr">
                        <a:spcBef>
                          <a:spcPts val="0"/>
                        </a:spcBef>
                        <a:spcAft>
                          <a:spcPts val="0"/>
                        </a:spcAft>
                        <a:buClr>
                          <a:srgbClr val="2E7D5B"/>
                        </a:buClr>
                        <a:buSzPts val="1300"/>
                        <a:buFont typeface="Calibri"/>
                        <a:buNone/>
                      </a:pPr>
                      <a:r>
                        <a:rPr b="1" lang="en-US" sz="1300" u="none" cap="none" strike="noStrike">
                          <a:solidFill>
                            <a:srgbClr val="2E7D5B"/>
                          </a:solidFill>
                          <a:latin typeface="Calibri"/>
                          <a:ea typeface="Calibri"/>
                          <a:cs typeface="Calibri"/>
                          <a:sym typeface="Calibri"/>
                        </a:rPr>
                        <a:t>62.6%</a:t>
                      </a:r>
                      <a:endParaRPr sz="1300" u="none" cap="none" strike="noStrike">
                        <a:latin typeface="Calibri"/>
                        <a:ea typeface="Calibri"/>
                        <a:cs typeface="Calibri"/>
                        <a:sym typeface="Calibri"/>
                      </a:endParaRPr>
                    </a:p>
                  </a:txBody>
                  <a:tcPr marT="45725" marB="45725" marR="91450" marL="91450" anchor="ctr">
                    <a:lnL cap="flat" cmpd="sng" w="9525">
                      <a:solidFill>
                        <a:srgbClr val="D8DEE9"/>
                      </a:solidFill>
                      <a:prstDash val="solid"/>
                      <a:round/>
                      <a:headEnd len="sm" w="sm" type="none"/>
                      <a:tailEnd len="sm" w="sm" type="none"/>
                    </a:lnL>
                    <a:lnR cap="flat" cmpd="sng" w="9525">
                      <a:solidFill>
                        <a:srgbClr val="D8DEE9"/>
                      </a:solidFill>
                      <a:prstDash val="solid"/>
                      <a:round/>
                      <a:headEnd len="sm" w="sm" type="none"/>
                      <a:tailEnd len="sm" w="sm" type="none"/>
                    </a:lnR>
                    <a:lnT cap="flat" cmpd="sng" w="9525">
                      <a:solidFill>
                        <a:srgbClr val="D8DEE9"/>
                      </a:solidFill>
                      <a:prstDash val="solid"/>
                      <a:round/>
                      <a:headEnd len="sm" w="sm" type="none"/>
                      <a:tailEnd len="sm" w="sm" type="none"/>
                    </a:lnT>
                    <a:lnB cap="flat" cmpd="sng" w="9525">
                      <a:solidFill>
                        <a:srgbClr val="D8DEE9"/>
                      </a:solidFill>
                      <a:prstDash val="solid"/>
                      <a:round/>
                      <a:headEnd len="sm" w="sm" type="none"/>
                      <a:tailEnd len="sm" w="sm" type="none"/>
                    </a:lnB>
                    <a:solidFill>
                      <a:srgbClr val="E3F0E9"/>
                    </a:solidFill>
                  </a:tcPr>
                </a:tc>
              </a:tr>
            </a:tbl>
          </a:graphicData>
        </a:graphic>
      </p:graphicFrame>
      <p:sp>
        <p:nvSpPr>
          <p:cNvPr id="312" name="Google Shape;312;p14"/>
          <p:cNvSpPr txBox="1"/>
          <p:nvPr/>
        </p:nvSpPr>
        <p:spPr>
          <a:xfrm>
            <a:off x="457200" y="3611880"/>
            <a:ext cx="53949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5"/>
              </a:buClr>
              <a:buSzPts val="950"/>
              <a:buFont typeface="Calibri"/>
              <a:buNone/>
            </a:pPr>
            <a:r>
              <a:rPr b="0" i="1" lang="en-US" sz="950" u="none" cap="none" strike="noStrike">
                <a:solidFill>
                  <a:srgbClr val="5B6B85"/>
                </a:solidFill>
                <a:latin typeface="Calibri"/>
                <a:ea typeface="Calibri"/>
                <a:cs typeface="Calibri"/>
                <a:sym typeface="Calibri"/>
              </a:rPr>
              <a:t>*_rate = tỉ lệ đạt nhãn tốt nhất (CORRECT / FULLY_SUPPORTED / USEFUL). Support không áp dụng cho No-RAG (không dùng evidence).</a:t>
            </a:r>
            <a:endParaRPr b="0" i="0" sz="950" u="none" cap="none" strike="noStrike">
              <a:solidFill>
                <a:schemeClr val="dk1"/>
              </a:solidFill>
              <a:latin typeface="Calibri"/>
              <a:ea typeface="Calibri"/>
              <a:cs typeface="Calibri"/>
              <a:sym typeface="Calibri"/>
            </a:endParaRPr>
          </a:p>
        </p:txBody>
      </p:sp>
      <p:sp>
        <p:nvSpPr>
          <p:cNvPr id="313" name="Google Shape;313;p14"/>
          <p:cNvSpPr/>
          <p:nvPr/>
        </p:nvSpPr>
        <p:spPr>
          <a:xfrm>
            <a:off x="457200" y="4251960"/>
            <a:ext cx="5394960" cy="1828800"/>
          </a:xfrm>
          <a:prstGeom prst="roundRect">
            <a:avLst>
              <a:gd fmla="val 4000" name="adj"/>
            </a:avLst>
          </a:prstGeom>
          <a:solidFill>
            <a:srgbClr val="E3F0E9"/>
          </a:solidFill>
          <a:ln>
            <a:noFill/>
          </a:ln>
          <a:effectLst>
            <a:outerShdw blurRad="76200" rotWithShape="0" algn="bl" dir="5400000" dist="25400">
              <a:srgbClr val="1B2A4A">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14"/>
          <p:cNvSpPr txBox="1"/>
          <p:nvPr/>
        </p:nvSpPr>
        <p:spPr>
          <a:xfrm>
            <a:off x="731520" y="4434840"/>
            <a:ext cx="4846320" cy="1463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1450"/>
              <a:buFont typeface="Times New Roman"/>
              <a:buNone/>
            </a:pPr>
            <a:r>
              <a:rPr b="1" i="0" lang="en-US" sz="1450" u="none" cap="none" strike="noStrike">
                <a:solidFill>
                  <a:srgbClr val="1B2A4A"/>
                </a:solidFill>
                <a:latin typeface="Times New Roman"/>
                <a:ea typeface="Times New Roman"/>
                <a:cs typeface="Times New Roman"/>
                <a:sym typeface="Times New Roman"/>
              </a:rPr>
              <a:t>Self-RAG-inspired thắng cả 2 baseline trên mọi chỉ số chất lượng câu trả lời cùng lúc — bằng chứng mạnh nhất cho giá trị của cơ chế phản tư.</a:t>
            </a:r>
            <a:endParaRPr b="0" i="0" sz="1450" u="none" cap="none" strike="noStrike">
              <a:solidFill>
                <a:schemeClr val="dk1"/>
              </a:solidFill>
              <a:latin typeface="Calibri"/>
              <a:ea typeface="Calibri"/>
              <a:cs typeface="Calibri"/>
              <a:sym typeface="Calibri"/>
            </a:endParaRPr>
          </a:p>
        </p:txBody>
      </p:sp>
      <p:pic>
        <p:nvPicPr>
          <p:cNvPr id="315" name="Google Shape;315;p14"/>
          <p:cNvPicPr preferRelativeResize="0"/>
          <p:nvPr/>
        </p:nvPicPr>
        <p:blipFill rotWithShape="1">
          <a:blip r:embed="rId3">
            <a:alphaModFix/>
          </a:blip>
          <a:srcRect b="0" l="0" r="0" t="0"/>
          <a:stretch/>
        </p:blipFill>
        <p:spPr>
          <a:xfrm>
            <a:off x="6172200" y="1691640"/>
            <a:ext cx="5577840" cy="4389120"/>
          </a:xfrm>
          <a:prstGeom prst="rect">
            <a:avLst/>
          </a:prstGeom>
          <a:noFill/>
          <a:ln>
            <a:noFill/>
          </a:ln>
        </p:spPr>
      </p:pic>
      <p:sp>
        <p:nvSpPr>
          <p:cNvPr id="316" name="Google Shape;316;p14"/>
          <p:cNvSpPr txBox="1"/>
          <p:nvPr/>
        </p:nvSpPr>
        <p:spPr>
          <a:xfrm>
            <a:off x="457200" y="6547104"/>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5"/>
              </a:buClr>
              <a:buSzPts val="900"/>
              <a:buFont typeface="Calibri"/>
              <a:buNone/>
            </a:pPr>
            <a:r>
              <a:rPr b="0" i="0" lang="en-US" sz="900" u="none" cap="none" strike="noStrike">
                <a:solidFill>
                  <a:srgbClr val="5B6B85"/>
                </a:solidFill>
                <a:latin typeface="Calibri"/>
                <a:ea typeface="Calibri"/>
                <a:cs typeface="Calibri"/>
                <a:sym typeface="Calibri"/>
              </a:rPr>
              <a:t>Self-RAG-Inspired Legal QA  ·  CS2308.CH203</a:t>
            </a:r>
            <a:endParaRPr b="0" i="0" sz="900" u="none" cap="none" strike="noStrike">
              <a:solidFill>
                <a:schemeClr val="dk1"/>
              </a:solidFill>
              <a:latin typeface="Calibri"/>
              <a:ea typeface="Calibri"/>
              <a:cs typeface="Calibri"/>
              <a:sym typeface="Calibri"/>
            </a:endParaRPr>
          </a:p>
        </p:txBody>
      </p:sp>
      <p:sp>
        <p:nvSpPr>
          <p:cNvPr id="317" name="Google Shape;317;p14"/>
          <p:cNvSpPr txBox="1"/>
          <p:nvPr/>
        </p:nvSpPr>
        <p:spPr>
          <a:xfrm>
            <a:off x="11274552" y="6547104"/>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B85"/>
              </a:buClr>
              <a:buSzPts val="900"/>
              <a:buFont typeface="Calibri"/>
              <a:buNone/>
            </a:pPr>
            <a:r>
              <a:rPr b="0" i="0" lang="en-US" sz="900" u="none" cap="none" strike="noStrike">
                <a:solidFill>
                  <a:srgbClr val="5B6B85"/>
                </a:solidFill>
                <a:latin typeface="Calibri"/>
                <a:ea typeface="Calibri"/>
                <a:cs typeface="Calibri"/>
                <a:sym typeface="Calibri"/>
              </a:rPr>
              <a:t>12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2" name="Shape 322"/>
        <p:cNvGrpSpPr/>
        <p:nvPr/>
      </p:nvGrpSpPr>
      <p:grpSpPr>
        <a:xfrm>
          <a:off x="0" y="0"/>
          <a:ext cx="0" cy="0"/>
          <a:chOff x="0" y="0"/>
          <a:chExt cx="0" cy="0"/>
        </a:xfrm>
      </p:grpSpPr>
      <p:sp>
        <p:nvSpPr>
          <p:cNvPr id="323" name="Google Shape;323;p15"/>
          <p:cNvSpPr txBox="1"/>
          <p:nvPr/>
        </p:nvSpPr>
        <p:spPr>
          <a:xfrm>
            <a:off x="457200" y="320040"/>
            <a:ext cx="105156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1200"/>
              <a:buFont typeface="Calibri"/>
              <a:buNone/>
            </a:pPr>
            <a:r>
              <a:rPr b="1" i="0" lang="en-US" sz="1200" u="none" cap="none" strike="noStrike">
                <a:solidFill>
                  <a:srgbClr val="C9A227"/>
                </a:solidFill>
                <a:latin typeface="Calibri"/>
                <a:ea typeface="Calibri"/>
                <a:cs typeface="Calibri"/>
                <a:sym typeface="Calibri"/>
              </a:rPr>
              <a:t>06 · KẾT QUẢ</a:t>
            </a:r>
            <a:endParaRPr b="0" i="0" sz="1200" u="none" cap="none" strike="noStrike">
              <a:solidFill>
                <a:schemeClr val="dk1"/>
              </a:solidFill>
              <a:latin typeface="Calibri"/>
              <a:ea typeface="Calibri"/>
              <a:cs typeface="Calibri"/>
              <a:sym typeface="Calibri"/>
            </a:endParaRPr>
          </a:p>
        </p:txBody>
      </p:sp>
      <p:sp>
        <p:nvSpPr>
          <p:cNvPr id="324" name="Google Shape;324;p15"/>
          <p:cNvSpPr txBox="1"/>
          <p:nvPr/>
        </p:nvSpPr>
        <p:spPr>
          <a:xfrm>
            <a:off x="457200" y="566928"/>
            <a:ext cx="1078992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A"/>
              </a:buClr>
              <a:buSzPts val="2800"/>
              <a:buFont typeface="Times New Roman"/>
              <a:buNone/>
            </a:pPr>
            <a:r>
              <a:rPr b="1" i="0" lang="en-US" sz="2800" u="none" cap="none" strike="noStrike">
                <a:solidFill>
                  <a:srgbClr val="1B2A4A"/>
                </a:solidFill>
                <a:latin typeface="Times New Roman"/>
                <a:ea typeface="Times New Roman"/>
                <a:cs typeface="Times New Roman"/>
                <a:sym typeface="Times New Roman"/>
              </a:rPr>
              <a:t>Chất lượng truy xuất: trước và sau bộ lọc ISREL</a:t>
            </a:r>
            <a:endParaRPr b="0" i="0" sz="2800" u="none" cap="none" strike="noStrike">
              <a:solidFill>
                <a:schemeClr val="dk1"/>
              </a:solidFill>
              <a:latin typeface="Calibri"/>
              <a:ea typeface="Calibri"/>
              <a:cs typeface="Calibri"/>
              <a:sym typeface="Calibri"/>
            </a:endParaRPr>
          </a:p>
        </p:txBody>
      </p:sp>
      <p:graphicFrame>
        <p:nvGraphicFramePr>
          <p:cNvPr id="325" name="Google Shape;325;p15"/>
          <p:cNvGraphicFramePr/>
          <p:nvPr/>
        </p:nvGraphicFramePr>
        <p:xfrm>
          <a:off x="457200" y="1645920"/>
          <a:ext cx="3000000" cy="3000000"/>
        </p:xfrm>
        <a:graphic>
          <a:graphicData uri="http://schemas.openxmlformats.org/drawingml/2006/table">
            <a:tbl>
              <a:tblPr>
                <a:noFill/>
                <a:tableStyleId>{CF771489-7EA7-439F-9CA7-88DC3161A82E}</a:tableStyleId>
              </a:tblPr>
              <a:tblGrid>
                <a:gridCol w="3108950"/>
                <a:gridCol w="1097275"/>
                <a:gridCol w="1097275"/>
                <a:gridCol w="1097275"/>
              </a:tblGrid>
              <a:tr h="457200">
                <a:tc>
                  <a:txBody>
                    <a:bodyPr/>
                    <a:lstStyle/>
                    <a:p>
                      <a:pPr indent="0" lvl="0" marL="0" marR="0" rtl="0" algn="l">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Cấu hình</a:t>
                      </a:r>
                      <a:endParaRPr sz="1300" u="none" cap="none" strike="noStrike">
                        <a:latin typeface="Calibri"/>
                        <a:ea typeface="Calibri"/>
                        <a:cs typeface="Calibri"/>
                        <a:sym typeface="Calibri"/>
                      </a:endParaRPr>
                    </a:p>
                  </a:txBody>
                  <a:tcPr marT="45725" marB="45725" marR="91450" marL="91450" anchor="ctr">
                    <a:lnL cap="flat" cmpd="sng" w="9525">
                      <a:solidFill>
                        <a:srgbClr val="D8DEE9"/>
                      </a:solidFill>
                      <a:prstDash val="solid"/>
                      <a:round/>
                      <a:headEnd len="sm" w="sm" type="none"/>
                      <a:tailEnd len="sm" w="sm" type="none"/>
                    </a:lnL>
                    <a:lnR cap="flat" cmpd="sng" w="9525">
                      <a:solidFill>
                        <a:srgbClr val="D8DEE9"/>
                      </a:solidFill>
                      <a:prstDash val="solid"/>
                      <a:round/>
                      <a:headEnd len="sm" w="sm" type="none"/>
                      <a:tailEnd len="sm" w="sm" type="none"/>
                    </a:lnR>
                    <a:lnT cap="flat" cmpd="sng" w="9525">
                      <a:solidFill>
                        <a:srgbClr val="D8DEE9"/>
                      </a:solidFill>
                      <a:prstDash val="solid"/>
                      <a:round/>
                      <a:headEnd len="sm" w="sm" type="none"/>
                      <a:tailEnd len="sm" w="sm" type="none"/>
                    </a:lnT>
                    <a:lnB cap="flat" cmpd="sng" w="9525">
                      <a:solidFill>
                        <a:srgbClr val="D8DEE9"/>
                      </a:solidFill>
                      <a:prstDash val="solid"/>
                      <a:round/>
                      <a:headEnd len="sm" w="sm" type="none"/>
                      <a:tailEnd len="sm" w="sm" type="none"/>
                    </a:lnB>
                    <a:solidFill>
                      <a:srgbClr val="1B2A4A"/>
                    </a:solidFill>
                  </a:tcPr>
                </a:tc>
                <a:tc>
                  <a:txBody>
                    <a:bodyPr/>
                    <a:lstStyle/>
                    <a:p>
                      <a:pPr indent="0" lvl="0" marL="0" marR="0" rtl="0" algn="ctr">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Recall</a:t>
                      </a:r>
                      <a:endParaRPr sz="1300" u="none" cap="none" strike="noStrike">
                        <a:latin typeface="Calibri"/>
                        <a:ea typeface="Calibri"/>
                        <a:cs typeface="Calibri"/>
                        <a:sym typeface="Calibri"/>
                      </a:endParaRPr>
                    </a:p>
                  </a:txBody>
                  <a:tcPr marT="45725" marB="45725" marR="91450" marL="91450" anchor="ctr">
                    <a:lnL cap="flat" cmpd="sng" w="9525">
                      <a:solidFill>
                        <a:srgbClr val="D8DEE9"/>
                      </a:solidFill>
                      <a:prstDash val="solid"/>
                      <a:round/>
                      <a:headEnd len="sm" w="sm" type="none"/>
                      <a:tailEnd len="sm" w="sm" type="none"/>
                    </a:lnL>
                    <a:lnR cap="flat" cmpd="sng" w="9525">
                      <a:solidFill>
                        <a:srgbClr val="D8DEE9"/>
                      </a:solidFill>
                      <a:prstDash val="solid"/>
                      <a:round/>
                      <a:headEnd len="sm" w="sm" type="none"/>
                      <a:tailEnd len="sm" w="sm" type="none"/>
                    </a:lnR>
                    <a:lnT cap="flat" cmpd="sng" w="9525">
                      <a:solidFill>
                        <a:srgbClr val="D8DEE9"/>
                      </a:solidFill>
                      <a:prstDash val="solid"/>
                      <a:round/>
                      <a:headEnd len="sm" w="sm" type="none"/>
                      <a:tailEnd len="sm" w="sm" type="none"/>
                    </a:lnT>
                    <a:lnB cap="flat" cmpd="sng" w="9525">
                      <a:solidFill>
                        <a:srgbClr val="D8DEE9"/>
                      </a:solidFill>
                      <a:prstDash val="solid"/>
                      <a:round/>
                      <a:headEnd len="sm" w="sm" type="none"/>
                      <a:tailEnd len="sm" w="sm" type="none"/>
                    </a:lnB>
                    <a:solidFill>
                      <a:srgbClr val="1B2A4A"/>
                    </a:solidFill>
                  </a:tcPr>
                </a:tc>
                <a:tc>
                  <a:txBody>
                    <a:bodyPr/>
                    <a:lstStyle/>
                    <a:p>
                      <a:pPr indent="0" lvl="0" marL="0" marR="0" rtl="0" algn="ctr">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Precision</a:t>
                      </a:r>
                      <a:endParaRPr sz="1300" u="none" cap="none" strike="noStrike">
                        <a:latin typeface="Calibri"/>
                        <a:ea typeface="Calibri"/>
                        <a:cs typeface="Calibri"/>
                        <a:sym typeface="Calibri"/>
                      </a:endParaRPr>
                    </a:p>
                  </a:txBody>
                  <a:tcPr marT="45725" marB="45725" marR="91450" marL="91450" anchor="ctr">
                    <a:lnL cap="flat" cmpd="sng" w="9525">
                      <a:solidFill>
                        <a:srgbClr val="D8DEE9"/>
                      </a:solidFill>
                      <a:prstDash val="solid"/>
                      <a:round/>
                      <a:headEnd len="sm" w="sm" type="none"/>
                      <a:tailEnd len="sm" w="sm" type="none"/>
                    </a:lnL>
                    <a:lnR cap="flat" cmpd="sng" w="9525">
                      <a:solidFill>
                        <a:srgbClr val="D8DEE9"/>
                      </a:solidFill>
                      <a:prstDash val="solid"/>
                      <a:round/>
                      <a:headEnd len="sm" w="sm" type="none"/>
                      <a:tailEnd len="sm" w="sm" type="none"/>
                    </a:lnR>
                    <a:lnT cap="flat" cmpd="sng" w="9525">
                      <a:solidFill>
                        <a:srgbClr val="D8DEE9"/>
                      </a:solidFill>
                      <a:prstDash val="solid"/>
                      <a:round/>
                      <a:headEnd len="sm" w="sm" type="none"/>
                      <a:tailEnd len="sm" w="sm" type="none"/>
                    </a:lnT>
                    <a:lnB cap="flat" cmpd="sng" w="9525">
                      <a:solidFill>
                        <a:srgbClr val="D8DEE9"/>
                      </a:solidFill>
                      <a:prstDash val="solid"/>
                      <a:round/>
                      <a:headEnd len="sm" w="sm" type="none"/>
                      <a:tailEnd len="sm" w="sm" type="none"/>
                    </a:lnB>
                    <a:solidFill>
                      <a:srgbClr val="1B2A4A"/>
                    </a:solidFill>
                  </a:tcPr>
                </a:tc>
                <a:tc>
                  <a:txBody>
                    <a:bodyPr/>
                    <a:lstStyle/>
                    <a:p>
                      <a:pPr indent="0" lvl="0" marL="0" marR="0" rtl="0" algn="ctr">
                        <a:spcBef>
                          <a:spcPts val="0"/>
                        </a:spcBef>
                        <a:spcAft>
                          <a:spcPts val="0"/>
                        </a:spcAft>
                        <a:buClr>
                          <a:srgbClr val="FFFFFF"/>
                        </a:buClr>
                        <a:buSzPts val="1300"/>
                        <a:buFont typeface="Calibri"/>
                        <a:buNone/>
                      </a:pPr>
                      <a:r>
                        <a:rPr b="1" lang="en-US" sz="1300" u="none" cap="none" strike="noStrike">
                          <a:solidFill>
                            <a:srgbClr val="FFFFFF"/>
                          </a:solidFill>
                          <a:latin typeface="Calibri"/>
                          <a:ea typeface="Calibri"/>
                          <a:cs typeface="Calibri"/>
                          <a:sym typeface="Calibri"/>
                        </a:rPr>
                        <a:t>MRR</a:t>
                      </a:r>
                      <a:endParaRPr sz="1300" u="none" cap="none" strike="noStrike">
                        <a:latin typeface="Calibri"/>
                        <a:ea typeface="Calibri"/>
                        <a:cs typeface="Calibri"/>
                        <a:sym typeface="Calibri"/>
                      </a:endParaRPr>
                    </a:p>
                  </a:txBody>
                  <a:tcPr marT="45725" marB="45725" marR="91450" marL="91450" anchor="ctr">
                    <a:lnL cap="flat" cmpd="sng" w="9525">
                      <a:solidFill>
                        <a:srgbClr val="D8DEE9"/>
                      </a:solidFill>
                      <a:prstDash val="solid"/>
                      <a:round/>
                      <a:headEnd len="sm" w="sm" type="none"/>
                      <a:tailEnd len="sm" w="sm" type="none"/>
                    </a:lnL>
                    <a:lnR cap="flat" cmpd="sng" w="9525">
                      <a:solidFill>
                        <a:srgbClr val="D8DEE9"/>
                      </a:solidFill>
                      <a:prstDash val="solid"/>
                      <a:round/>
                      <a:headEnd len="sm" w="sm" type="none"/>
                      <a:tailEnd len="sm" w="sm" type="none"/>
                    </a:lnR>
                    <a:lnT cap="flat" cmpd="sng" w="9525">
                      <a:solidFill>
                        <a:srgbClr val="D8DEE9"/>
                      </a:solidFill>
                      <a:prstDash val="solid"/>
                      <a:round/>
                      <a:headEnd len="sm" w="sm" type="none"/>
                      <a:tailEnd len="sm" w="sm" type="none"/>
                    </a:lnT>
                    <a:lnB cap="flat" cmpd="sng" w="9525">
                      <a:solidFill>
                        <a:srgbClr val="D8DEE9"/>
                      </a:solidFill>
                      <a:prstDash val="solid"/>
                      <a:round/>
                      <a:headEnd len="sm" w="sm" type="none"/>
                      <a:tailEnd len="sm" w="sm" type="none"/>
                    </a:lnB>
                    <a:solidFill>
                      <a:srgbClr val="1B2A4A"/>
                    </a:solidFill>
                  </a:tcPr>
                </a:tc>
              </a:tr>
              <a:tr h="457200">
                <a:tc>
                  <a:txBody>
                    <a:bodyPr/>
                    <a:lstStyle/>
                    <a:p>
                      <a:pPr indent="0" lvl="0" marL="0" marR="0" rtl="0" algn="l">
                        <a:spcBef>
                          <a:spcPts val="0"/>
                        </a:spcBef>
                        <a:spcAft>
                          <a:spcPts val="0"/>
                        </a:spcAft>
                        <a:buClr>
                          <a:srgbClr val="1B2A4A"/>
                        </a:buClr>
                        <a:buSzPts val="1300"/>
                        <a:buFont typeface="Calibri"/>
                        <a:buNone/>
                      </a:pPr>
                      <a:r>
                        <a:rPr lang="en-US" sz="1300" u="none" cap="none" strike="noStrike">
                          <a:solidFill>
                            <a:srgbClr val="1B2A4A"/>
                          </a:solidFill>
                          <a:latin typeface="Calibri"/>
                          <a:ea typeface="Calibri"/>
                          <a:cs typeface="Calibri"/>
                          <a:sym typeface="Calibri"/>
                        </a:rPr>
                        <a:t>Standard RAG (top-5 cố định)</a:t>
                      </a:r>
                      <a:endParaRPr sz="1300" u="none" cap="none" strike="noStrike">
                        <a:latin typeface="Calibri"/>
                        <a:ea typeface="Calibri"/>
                        <a:cs typeface="Calibri"/>
                        <a:sym typeface="Calibri"/>
                      </a:endParaRPr>
                    </a:p>
                  </a:txBody>
                  <a:tcPr marT="45725" marB="45725" marR="91450" marL="91450" anchor="ctr">
                    <a:lnL cap="flat" cmpd="sng" w="9525">
                      <a:solidFill>
                        <a:srgbClr val="D8DEE9"/>
                      </a:solidFill>
                      <a:prstDash val="solid"/>
                      <a:round/>
                      <a:headEnd len="sm" w="sm" type="none"/>
                      <a:tailEnd len="sm" w="sm" type="none"/>
                    </a:lnL>
                    <a:lnR cap="flat" cmpd="sng" w="9525">
                      <a:solidFill>
                        <a:srgbClr val="D8DEE9"/>
                      </a:solidFill>
                      <a:prstDash val="solid"/>
                      <a:round/>
                      <a:headEnd len="sm" w="sm" type="none"/>
                      <a:tailEnd len="sm" w="sm" type="none"/>
                    </a:lnR>
                    <a:lnT cap="flat" cmpd="sng" w="9525">
                      <a:solidFill>
                        <a:srgbClr val="D8DEE9"/>
                      </a:solidFill>
                      <a:prstDash val="solid"/>
                      <a:round/>
                      <a:headEnd len="sm" w="sm" type="none"/>
                      <a:tailEnd len="sm" w="sm" type="none"/>
                    </a:lnT>
                    <a:lnB cap="flat" cmpd="sng" w="9525">
                      <a:solidFill>
                        <a:srgbClr val="D8DEE9"/>
                      </a:solidFill>
                      <a:prstDash val="solid"/>
                      <a:round/>
                      <a:headEnd len="sm" w="sm" type="none"/>
                      <a:tailEnd len="sm" w="sm" type="none"/>
                    </a:lnB>
                  </a:tcPr>
                </a:tc>
                <a:tc>
                  <a:txBody>
                    <a:bodyPr/>
                    <a:lstStyle/>
                    <a:p>
                      <a:pPr indent="0" lvl="0" marL="0" marR="0" rtl="0" algn="ctr">
                        <a:spcBef>
                          <a:spcPts val="0"/>
                        </a:spcBef>
                        <a:spcAft>
                          <a:spcPts val="0"/>
                        </a:spcAft>
                        <a:buClr>
                          <a:srgbClr val="1B2A4A"/>
                        </a:buClr>
                        <a:buSzPts val="1300"/>
                        <a:buFont typeface="Calibri"/>
                        <a:buNone/>
                      </a:pPr>
                      <a:r>
                        <a:rPr lang="en-US" sz="1300" u="none" cap="none" strike="noStrike">
                          <a:solidFill>
                            <a:srgbClr val="1B2A4A"/>
                          </a:solidFill>
                          <a:latin typeface="Calibri"/>
                          <a:ea typeface="Calibri"/>
                          <a:cs typeface="Calibri"/>
                          <a:sym typeface="Calibri"/>
                        </a:rPr>
                        <a:t>0.497</a:t>
                      </a:r>
                      <a:endParaRPr sz="1300" u="none" cap="none" strike="noStrike">
                        <a:latin typeface="Calibri"/>
                        <a:ea typeface="Calibri"/>
                        <a:cs typeface="Calibri"/>
                        <a:sym typeface="Calibri"/>
                      </a:endParaRPr>
                    </a:p>
                  </a:txBody>
                  <a:tcPr marT="45725" marB="45725" marR="91450" marL="91450" anchor="ctr">
                    <a:lnL cap="flat" cmpd="sng" w="9525">
                      <a:solidFill>
                        <a:srgbClr val="D8DEE9"/>
                      </a:solidFill>
                      <a:prstDash val="solid"/>
                      <a:round/>
                      <a:headEnd len="sm" w="sm" type="none"/>
                      <a:tailEnd len="sm" w="sm" type="none"/>
                    </a:lnL>
                    <a:lnR cap="flat" cmpd="sng" w="9525">
                      <a:solidFill>
                        <a:srgbClr val="D8DEE9"/>
                      </a:solidFill>
                      <a:prstDash val="solid"/>
                      <a:round/>
                      <a:headEnd len="sm" w="sm" type="none"/>
                      <a:tailEnd len="sm" w="sm" type="none"/>
                    </a:lnR>
                    <a:lnT cap="flat" cmpd="sng" w="9525">
                      <a:solidFill>
                        <a:srgbClr val="D8DEE9"/>
                      </a:solidFill>
                      <a:prstDash val="solid"/>
                      <a:round/>
                      <a:headEnd len="sm" w="sm" type="none"/>
                      <a:tailEnd len="sm" w="sm" type="none"/>
                    </a:lnT>
                    <a:lnB cap="flat" cmpd="sng" w="9525">
                      <a:solidFill>
                        <a:srgbClr val="D8DEE9"/>
                      </a:solidFill>
                      <a:prstDash val="solid"/>
                      <a:round/>
                      <a:headEnd len="sm" w="sm" type="none"/>
                      <a:tailEnd len="sm" w="sm" type="none"/>
                    </a:lnB>
                  </a:tcPr>
                </a:tc>
                <a:tc>
                  <a:txBody>
                    <a:bodyPr/>
                    <a:lstStyle/>
                    <a:p>
                      <a:pPr indent="0" lvl="0" marL="0" marR="0" rtl="0" algn="ctr">
                        <a:spcBef>
                          <a:spcPts val="0"/>
                        </a:spcBef>
                        <a:spcAft>
                          <a:spcPts val="0"/>
                        </a:spcAft>
                        <a:buClr>
                          <a:srgbClr val="1B2A4A"/>
                        </a:buClr>
                        <a:buSzPts val="1300"/>
                        <a:buFont typeface="Calibri"/>
                        <a:buNone/>
                      </a:pPr>
                      <a:r>
                        <a:rPr lang="en-US" sz="1300" u="none" cap="none" strike="noStrike">
                          <a:solidFill>
                            <a:srgbClr val="1B2A4A"/>
                          </a:solidFill>
                          <a:latin typeface="Calibri"/>
                          <a:ea typeface="Calibri"/>
                          <a:cs typeface="Calibri"/>
                          <a:sym typeface="Calibri"/>
                        </a:rPr>
                        <a:t>0.127</a:t>
                      </a:r>
                      <a:endParaRPr sz="1300" u="none" cap="none" strike="noStrike">
                        <a:latin typeface="Calibri"/>
                        <a:ea typeface="Calibri"/>
                        <a:cs typeface="Calibri"/>
                        <a:sym typeface="Calibri"/>
                      </a:endParaRPr>
                    </a:p>
                  </a:txBody>
                  <a:tcPr marT="45725" marB="45725" marR="91450" marL="91450" anchor="ctr">
                    <a:lnL cap="flat" cmpd="sng" w="9525">
                      <a:solidFill>
                        <a:srgbClr val="D8DEE9"/>
                      </a:solidFill>
                      <a:prstDash val="solid"/>
                      <a:round/>
                      <a:headEnd len="sm" w="sm" type="none"/>
                      <a:tailEnd len="sm" w="sm" type="none"/>
                    </a:lnL>
                    <a:lnR cap="flat" cmpd="sng" w="9525">
                      <a:solidFill>
                        <a:srgbClr val="D8DEE9"/>
                      </a:solidFill>
                      <a:prstDash val="solid"/>
                      <a:round/>
                      <a:headEnd len="sm" w="sm" type="none"/>
                      <a:tailEnd len="sm" w="sm" type="none"/>
                    </a:lnR>
                    <a:lnT cap="flat" cmpd="sng" w="9525">
                      <a:solidFill>
                        <a:srgbClr val="D8DEE9"/>
                      </a:solidFill>
                      <a:prstDash val="solid"/>
                      <a:round/>
                      <a:headEnd len="sm" w="sm" type="none"/>
                      <a:tailEnd len="sm" w="sm" type="none"/>
                    </a:lnT>
                    <a:lnB cap="flat" cmpd="sng" w="9525">
                      <a:solidFill>
                        <a:srgbClr val="D8DEE9"/>
                      </a:solidFill>
                      <a:prstDash val="solid"/>
                      <a:round/>
                      <a:headEnd len="sm" w="sm" type="none"/>
                      <a:tailEnd len="sm" w="sm" type="none"/>
                    </a:lnB>
                  </a:tcPr>
                </a:tc>
                <a:tc>
                  <a:txBody>
                    <a:bodyPr/>
                    <a:lstStyle/>
                    <a:p>
                      <a:pPr indent="0" lvl="0" marL="0" marR="0" rtl="0" algn="ctr">
                        <a:spcBef>
                          <a:spcPts val="0"/>
                        </a:spcBef>
                        <a:spcAft>
                          <a:spcPts val="0"/>
                        </a:spcAft>
                        <a:buClr>
                          <a:srgbClr val="1B2A4A"/>
                        </a:buClr>
                        <a:buSzPts val="1300"/>
                        <a:buFont typeface="Calibri"/>
                        <a:buNone/>
                      </a:pPr>
                      <a:r>
                        <a:rPr lang="en-US" sz="1300" u="none" cap="none" strike="noStrike">
                          <a:solidFill>
                            <a:srgbClr val="1B2A4A"/>
                          </a:solidFill>
                          <a:latin typeface="Calibri"/>
                          <a:ea typeface="Calibri"/>
                          <a:cs typeface="Calibri"/>
                          <a:sym typeface="Calibri"/>
                        </a:rPr>
                        <a:t>0.421</a:t>
                      </a:r>
                      <a:endParaRPr sz="1300" u="none" cap="none" strike="noStrike">
                        <a:latin typeface="Calibri"/>
                        <a:ea typeface="Calibri"/>
                        <a:cs typeface="Calibri"/>
                        <a:sym typeface="Calibri"/>
                      </a:endParaRPr>
                    </a:p>
                  </a:txBody>
                  <a:tcPr marT="45725" marB="45725" marR="91450" marL="91450" anchor="ctr">
                    <a:lnL cap="flat" cmpd="sng" w="9525">
                      <a:solidFill>
                        <a:srgbClr val="D8DEE9"/>
                      </a:solidFill>
                      <a:prstDash val="solid"/>
                      <a:round/>
                      <a:headEnd len="sm" w="sm" type="none"/>
                      <a:tailEnd len="sm" w="sm" type="none"/>
                    </a:lnL>
                    <a:lnR cap="flat" cmpd="sng" w="9525">
                      <a:solidFill>
                        <a:srgbClr val="D8DEE9"/>
                      </a:solidFill>
                      <a:prstDash val="solid"/>
                      <a:round/>
                      <a:headEnd len="sm" w="sm" type="none"/>
                      <a:tailEnd len="sm" w="sm" type="none"/>
                    </a:lnR>
                    <a:lnT cap="flat" cmpd="sng" w="9525">
                      <a:solidFill>
                        <a:srgbClr val="D8DEE9"/>
                      </a:solidFill>
                      <a:prstDash val="solid"/>
                      <a:round/>
                      <a:headEnd len="sm" w="sm" type="none"/>
                      <a:tailEnd len="sm" w="sm" type="none"/>
                    </a:lnT>
                    <a:lnB cap="flat" cmpd="sng" w="9525">
                      <a:solidFill>
                        <a:srgbClr val="D8DEE9"/>
                      </a:solidFill>
                      <a:prstDash val="solid"/>
                      <a:round/>
                      <a:headEnd len="sm" w="sm" type="none"/>
                      <a:tailEnd len="sm" w="sm" type="none"/>
                    </a:lnB>
                  </a:tcPr>
                </a:tc>
              </a:tr>
              <a:tr h="457200">
                <a:tc>
                  <a:txBody>
                    <a:bodyPr/>
                    <a:lstStyle/>
                    <a:p>
                      <a:pPr indent="0" lvl="0" marL="0" marR="0" rtl="0" algn="l">
                        <a:spcBef>
                          <a:spcPts val="0"/>
                        </a:spcBef>
                        <a:spcAft>
                          <a:spcPts val="0"/>
                        </a:spcAft>
                        <a:buClr>
                          <a:srgbClr val="1B2A4A"/>
                        </a:buClr>
                        <a:buSzPts val="1300"/>
                        <a:buFont typeface="Calibri"/>
                        <a:buNone/>
                      </a:pPr>
                      <a:r>
                        <a:rPr lang="en-US" sz="1300" u="none" cap="none" strike="noStrike">
                          <a:solidFill>
                            <a:srgbClr val="1B2A4A"/>
                          </a:solidFill>
                          <a:latin typeface="Calibri"/>
                          <a:ea typeface="Calibri"/>
                          <a:cs typeface="Calibri"/>
                          <a:sym typeface="Calibri"/>
                        </a:rPr>
                        <a:t>Self-RAG — trước ISREL</a:t>
                      </a:r>
                      <a:endParaRPr sz="1300" u="none" cap="none" strike="noStrike">
                        <a:latin typeface="Calibri"/>
                        <a:ea typeface="Calibri"/>
                        <a:cs typeface="Calibri"/>
                        <a:sym typeface="Calibri"/>
                      </a:endParaRPr>
                    </a:p>
                  </a:txBody>
                  <a:tcPr marT="45725" marB="45725" marR="91450" marL="91450" anchor="ctr">
                    <a:lnL cap="flat" cmpd="sng" w="9525">
                      <a:solidFill>
                        <a:srgbClr val="D8DEE9"/>
                      </a:solidFill>
                      <a:prstDash val="solid"/>
                      <a:round/>
                      <a:headEnd len="sm" w="sm" type="none"/>
                      <a:tailEnd len="sm" w="sm" type="none"/>
                    </a:lnL>
                    <a:lnR cap="flat" cmpd="sng" w="9525">
                      <a:solidFill>
                        <a:srgbClr val="D8DEE9"/>
                      </a:solidFill>
                      <a:prstDash val="solid"/>
                      <a:round/>
                      <a:headEnd len="sm" w="sm" type="none"/>
                      <a:tailEnd len="sm" w="sm" type="none"/>
                    </a:lnR>
                    <a:lnT cap="flat" cmpd="sng" w="9525">
                      <a:solidFill>
                        <a:srgbClr val="D8DEE9"/>
                      </a:solidFill>
                      <a:prstDash val="solid"/>
                      <a:round/>
                      <a:headEnd len="sm" w="sm" type="none"/>
                      <a:tailEnd len="sm" w="sm" type="none"/>
                    </a:lnT>
                    <a:lnB cap="flat" cmpd="sng" w="9525">
                      <a:solidFill>
                        <a:srgbClr val="D8DEE9"/>
                      </a:solidFill>
                      <a:prstDash val="solid"/>
                      <a:round/>
                      <a:headEnd len="sm" w="sm" type="none"/>
                      <a:tailEnd len="sm" w="sm" type="none"/>
                    </a:lnB>
                  </a:tcPr>
                </a:tc>
                <a:tc>
                  <a:txBody>
                    <a:bodyPr/>
                    <a:lstStyle/>
                    <a:p>
                      <a:pPr indent="0" lvl="0" marL="0" marR="0" rtl="0" algn="ctr">
                        <a:spcBef>
                          <a:spcPts val="0"/>
                        </a:spcBef>
                        <a:spcAft>
                          <a:spcPts val="0"/>
                        </a:spcAft>
                        <a:buClr>
                          <a:srgbClr val="1B2A4A"/>
                        </a:buClr>
                        <a:buSzPts val="1300"/>
                        <a:buFont typeface="Calibri"/>
                        <a:buNone/>
                      </a:pPr>
                      <a:r>
                        <a:rPr lang="en-US" sz="1300" u="none" cap="none" strike="noStrike">
                          <a:solidFill>
                            <a:srgbClr val="1B2A4A"/>
                          </a:solidFill>
                          <a:latin typeface="Calibri"/>
                          <a:ea typeface="Calibri"/>
                          <a:cs typeface="Calibri"/>
                          <a:sym typeface="Calibri"/>
                        </a:rPr>
                        <a:t>0.503</a:t>
                      </a:r>
                      <a:endParaRPr sz="1300" u="none" cap="none" strike="noStrike">
                        <a:latin typeface="Calibri"/>
                        <a:ea typeface="Calibri"/>
                        <a:cs typeface="Calibri"/>
                        <a:sym typeface="Calibri"/>
                      </a:endParaRPr>
                    </a:p>
                  </a:txBody>
                  <a:tcPr marT="45725" marB="45725" marR="91450" marL="91450" anchor="ctr">
                    <a:lnL cap="flat" cmpd="sng" w="9525">
                      <a:solidFill>
                        <a:srgbClr val="D8DEE9"/>
                      </a:solidFill>
                      <a:prstDash val="solid"/>
                      <a:round/>
                      <a:headEnd len="sm" w="sm" type="none"/>
                      <a:tailEnd len="sm" w="sm" type="none"/>
                    </a:lnL>
                    <a:lnR cap="flat" cmpd="sng" w="9525">
                      <a:solidFill>
                        <a:srgbClr val="D8DEE9"/>
                      </a:solidFill>
                      <a:prstDash val="solid"/>
                      <a:round/>
                      <a:headEnd len="sm" w="sm" type="none"/>
                      <a:tailEnd len="sm" w="sm" type="none"/>
                    </a:lnR>
                    <a:lnT cap="flat" cmpd="sng" w="9525">
                      <a:solidFill>
                        <a:srgbClr val="D8DEE9"/>
                      </a:solidFill>
                      <a:prstDash val="solid"/>
                      <a:round/>
                      <a:headEnd len="sm" w="sm" type="none"/>
                      <a:tailEnd len="sm" w="sm" type="none"/>
                    </a:lnT>
                    <a:lnB cap="flat" cmpd="sng" w="9525">
                      <a:solidFill>
                        <a:srgbClr val="D8DEE9"/>
                      </a:solidFill>
                      <a:prstDash val="solid"/>
                      <a:round/>
                      <a:headEnd len="sm" w="sm" type="none"/>
                      <a:tailEnd len="sm" w="sm" type="none"/>
                    </a:lnB>
                  </a:tcPr>
                </a:tc>
                <a:tc>
                  <a:txBody>
                    <a:bodyPr/>
                    <a:lstStyle/>
                    <a:p>
                      <a:pPr indent="0" lvl="0" marL="0" marR="0" rtl="0" algn="ctr">
                        <a:spcBef>
                          <a:spcPts val="0"/>
                        </a:spcBef>
                        <a:spcAft>
                          <a:spcPts val="0"/>
                        </a:spcAft>
                        <a:buClr>
                          <a:srgbClr val="1B2A4A"/>
                        </a:buClr>
                        <a:buSzPts val="1300"/>
                        <a:buFont typeface="Calibri"/>
                        <a:buNone/>
                      </a:pPr>
                      <a:r>
                        <a:rPr lang="en-US" sz="1300" u="none" cap="none" strike="noStrike">
                          <a:solidFill>
                            <a:srgbClr val="1B2A4A"/>
                          </a:solidFill>
                          <a:latin typeface="Calibri"/>
                          <a:ea typeface="Calibri"/>
                          <a:cs typeface="Calibri"/>
                          <a:sym typeface="Calibri"/>
                        </a:rPr>
                        <a:t>0.129</a:t>
                      </a:r>
                      <a:endParaRPr sz="1300" u="none" cap="none" strike="noStrike">
                        <a:latin typeface="Calibri"/>
                        <a:ea typeface="Calibri"/>
                        <a:cs typeface="Calibri"/>
                        <a:sym typeface="Calibri"/>
                      </a:endParaRPr>
                    </a:p>
                  </a:txBody>
                  <a:tcPr marT="45725" marB="45725" marR="91450" marL="91450" anchor="ctr">
                    <a:lnL cap="flat" cmpd="sng" w="9525">
                      <a:solidFill>
                        <a:srgbClr val="D8DEE9"/>
                      </a:solidFill>
                      <a:prstDash val="solid"/>
                      <a:round/>
                      <a:headEnd len="sm" w="sm" type="none"/>
                      <a:tailEnd len="sm" w="sm" type="none"/>
                    </a:lnL>
                    <a:lnR cap="flat" cmpd="sng" w="9525">
                      <a:solidFill>
                        <a:srgbClr val="D8DEE9"/>
                      </a:solidFill>
                      <a:prstDash val="solid"/>
                      <a:round/>
                      <a:headEnd len="sm" w="sm" type="none"/>
                      <a:tailEnd len="sm" w="sm" type="none"/>
                    </a:lnR>
                    <a:lnT cap="flat" cmpd="sng" w="9525">
                      <a:solidFill>
                        <a:srgbClr val="D8DEE9"/>
                      </a:solidFill>
                      <a:prstDash val="solid"/>
                      <a:round/>
                      <a:headEnd len="sm" w="sm" type="none"/>
                      <a:tailEnd len="sm" w="sm" type="none"/>
                    </a:lnT>
                    <a:lnB cap="flat" cmpd="sng" w="9525">
                      <a:solidFill>
                        <a:srgbClr val="D8DEE9"/>
                      </a:solidFill>
                      <a:prstDash val="solid"/>
                      <a:round/>
                      <a:headEnd len="sm" w="sm" type="none"/>
                      <a:tailEnd len="sm" w="sm" type="none"/>
                    </a:lnB>
                  </a:tcPr>
                </a:tc>
                <a:tc>
                  <a:txBody>
                    <a:bodyPr/>
                    <a:lstStyle/>
                    <a:p>
                      <a:pPr indent="0" lvl="0" marL="0" marR="0" rtl="0" algn="ctr">
                        <a:spcBef>
                          <a:spcPts val="0"/>
                        </a:spcBef>
                        <a:spcAft>
                          <a:spcPts val="0"/>
                        </a:spcAft>
                        <a:buClr>
                          <a:srgbClr val="5B6B85"/>
                        </a:buClr>
                        <a:buSzPts val="1300"/>
                        <a:buFont typeface="Calibri"/>
                        <a:buNone/>
                      </a:pPr>
                      <a:r>
                        <a:rPr lang="en-US" sz="1300" u="none" cap="none" strike="noStrike">
                          <a:solidFill>
                            <a:srgbClr val="5B6B85"/>
                          </a:solidFill>
                          <a:latin typeface="Calibri"/>
                          <a:ea typeface="Calibri"/>
                          <a:cs typeface="Calibri"/>
                          <a:sym typeface="Calibri"/>
                        </a:rPr>
                        <a:t>—</a:t>
                      </a:r>
                      <a:endParaRPr sz="1300" u="none" cap="none" strike="noStrike">
                        <a:latin typeface="Calibri"/>
                        <a:ea typeface="Calibri"/>
                        <a:cs typeface="Calibri"/>
                        <a:sym typeface="Calibri"/>
                      </a:endParaRPr>
                    </a:p>
                  </a:txBody>
                  <a:tcPr marT="45725" marB="45725" marR="91450" marL="91450" anchor="ctr">
                    <a:lnL cap="flat" cmpd="sng" w="9525">
                      <a:solidFill>
                        <a:srgbClr val="D8DEE9"/>
                      </a:solidFill>
                      <a:prstDash val="solid"/>
                      <a:round/>
                      <a:headEnd len="sm" w="sm" type="none"/>
                      <a:tailEnd len="sm" w="sm" type="none"/>
                    </a:lnL>
                    <a:lnR cap="flat" cmpd="sng" w="9525">
                      <a:solidFill>
                        <a:srgbClr val="D8DEE9"/>
                      </a:solidFill>
                      <a:prstDash val="solid"/>
                      <a:round/>
                      <a:headEnd len="sm" w="sm" type="none"/>
                      <a:tailEnd len="sm" w="sm" type="none"/>
                    </a:lnR>
                    <a:lnT cap="flat" cmpd="sng" w="9525">
                      <a:solidFill>
                        <a:srgbClr val="D8DEE9"/>
                      </a:solidFill>
                      <a:prstDash val="solid"/>
                      <a:round/>
                      <a:headEnd len="sm" w="sm" type="none"/>
                      <a:tailEnd len="sm" w="sm" type="none"/>
                    </a:lnT>
                    <a:lnB cap="flat" cmpd="sng" w="9525">
                      <a:solidFill>
                        <a:srgbClr val="D8DEE9"/>
                      </a:solidFill>
                      <a:prstDash val="solid"/>
                      <a:round/>
                      <a:headEnd len="sm" w="sm" type="none"/>
                      <a:tailEnd len="sm" w="sm" type="none"/>
                    </a:lnB>
                  </a:tcPr>
                </a:tc>
              </a:tr>
              <a:tr h="457200">
                <a:tc>
                  <a:txBody>
                    <a:bodyPr/>
                    <a:lstStyle/>
                    <a:p>
                      <a:pPr indent="0" lvl="0" marL="0" marR="0" rtl="0" algn="l">
                        <a:spcBef>
                          <a:spcPts val="0"/>
                        </a:spcBef>
                        <a:spcAft>
                          <a:spcPts val="0"/>
                        </a:spcAft>
                        <a:buClr>
                          <a:srgbClr val="2E7D5B"/>
                        </a:buClr>
                        <a:buSzPts val="1300"/>
                        <a:buFont typeface="Calibri"/>
                        <a:buNone/>
                      </a:pPr>
                      <a:r>
                        <a:rPr b="1" lang="en-US" sz="1300" u="none" cap="none" strike="noStrike">
                          <a:solidFill>
                            <a:srgbClr val="2E7D5B"/>
                          </a:solidFill>
                          <a:latin typeface="Calibri"/>
                          <a:ea typeface="Calibri"/>
                          <a:cs typeface="Calibri"/>
                          <a:sym typeface="Calibri"/>
                        </a:rPr>
                        <a:t>Self-RAG — sau ISREL</a:t>
                      </a:r>
                      <a:endParaRPr sz="1300" u="none" cap="none" strike="noStrike">
                        <a:latin typeface="Calibri"/>
                        <a:ea typeface="Calibri"/>
                        <a:cs typeface="Calibri"/>
                        <a:sym typeface="Calibri"/>
                      </a:endParaRPr>
                    </a:p>
                  </a:txBody>
                  <a:tcPr marT="45725" marB="45725" marR="91450" marL="91450" anchor="ctr">
                    <a:lnL cap="flat" cmpd="sng" w="9525">
                      <a:solidFill>
                        <a:srgbClr val="D8DEE9"/>
                      </a:solidFill>
                      <a:prstDash val="solid"/>
                      <a:round/>
                      <a:headEnd len="sm" w="sm" type="none"/>
                      <a:tailEnd len="sm" w="sm" type="none"/>
                    </a:lnL>
                    <a:lnR cap="flat" cmpd="sng" w="9525">
                      <a:solidFill>
                        <a:srgbClr val="D8DEE9"/>
                      </a:solidFill>
                      <a:prstDash val="solid"/>
                      <a:round/>
                      <a:headEnd len="sm" w="sm" type="none"/>
                      <a:tailEnd len="sm" w="sm" type="none"/>
                    </a:lnR>
                    <a:lnT cap="flat" cmpd="sng" w="9525">
                      <a:solidFill>
                        <a:srgbClr val="D8DEE9"/>
                      </a:solidFill>
                      <a:prstDash val="solid"/>
                      <a:round/>
                      <a:headEnd len="sm" w="sm" type="none"/>
                      <a:tailEnd len="sm" w="sm" type="none"/>
                    </a:lnT>
                    <a:lnB cap="flat" cmpd="sng" w="9525">
                      <a:solidFill>
                        <a:srgbClr val="D8DEE9"/>
                      </a:solidFill>
                      <a:prstDash val="solid"/>
                      <a:round/>
                      <a:headEnd len="sm" w="sm" type="none"/>
                      <a:tailEnd len="sm" w="sm" type="none"/>
                    </a:lnB>
                  </a:tcPr>
                </a:tc>
                <a:tc>
                  <a:txBody>
                    <a:bodyPr/>
                    <a:lstStyle/>
                    <a:p>
                      <a:pPr indent="0" lvl="0" marL="0" marR="0" rtl="0" algn="ctr">
                        <a:spcBef>
                          <a:spcPts val="0"/>
                        </a:spcBef>
                        <a:spcAft>
                          <a:spcPts val="0"/>
                        </a:spcAft>
                        <a:buClr>
                          <a:srgbClr val="2E7D5B"/>
                        </a:buClr>
                        <a:buSzPts val="1300"/>
                        <a:buFont typeface="Calibri"/>
                        <a:buNone/>
                      </a:pPr>
                      <a:r>
                        <a:rPr b="1" lang="en-US" sz="1300" u="none" cap="none" strike="noStrike">
                          <a:solidFill>
                            <a:srgbClr val="2E7D5B"/>
                          </a:solidFill>
                          <a:latin typeface="Calibri"/>
                          <a:ea typeface="Calibri"/>
                          <a:cs typeface="Calibri"/>
                          <a:sym typeface="Calibri"/>
                        </a:rPr>
                        <a:t>0.425</a:t>
                      </a:r>
                      <a:endParaRPr sz="1300" u="none" cap="none" strike="noStrike">
                        <a:latin typeface="Calibri"/>
                        <a:ea typeface="Calibri"/>
                        <a:cs typeface="Calibri"/>
                        <a:sym typeface="Calibri"/>
                      </a:endParaRPr>
                    </a:p>
                  </a:txBody>
                  <a:tcPr marT="45725" marB="45725" marR="91450" marL="91450" anchor="ctr">
                    <a:lnL cap="flat" cmpd="sng" w="9525">
                      <a:solidFill>
                        <a:srgbClr val="D8DEE9"/>
                      </a:solidFill>
                      <a:prstDash val="solid"/>
                      <a:round/>
                      <a:headEnd len="sm" w="sm" type="none"/>
                      <a:tailEnd len="sm" w="sm" type="none"/>
                    </a:lnL>
                    <a:lnR cap="flat" cmpd="sng" w="9525">
                      <a:solidFill>
                        <a:srgbClr val="D8DEE9"/>
                      </a:solidFill>
                      <a:prstDash val="solid"/>
                      <a:round/>
                      <a:headEnd len="sm" w="sm" type="none"/>
                      <a:tailEnd len="sm" w="sm" type="none"/>
                    </a:lnR>
                    <a:lnT cap="flat" cmpd="sng" w="9525">
                      <a:solidFill>
                        <a:srgbClr val="D8DEE9"/>
                      </a:solidFill>
                      <a:prstDash val="solid"/>
                      <a:round/>
                      <a:headEnd len="sm" w="sm" type="none"/>
                      <a:tailEnd len="sm" w="sm" type="none"/>
                    </a:lnT>
                    <a:lnB cap="flat" cmpd="sng" w="9525">
                      <a:solidFill>
                        <a:srgbClr val="D8DEE9"/>
                      </a:solidFill>
                      <a:prstDash val="solid"/>
                      <a:round/>
                      <a:headEnd len="sm" w="sm" type="none"/>
                      <a:tailEnd len="sm" w="sm" type="none"/>
                    </a:lnB>
                    <a:solidFill>
                      <a:srgbClr val="E3F0E9"/>
                    </a:solidFill>
                  </a:tcPr>
                </a:tc>
                <a:tc>
                  <a:txBody>
                    <a:bodyPr/>
                    <a:lstStyle/>
                    <a:p>
                      <a:pPr indent="0" lvl="0" marL="0" marR="0" rtl="0" algn="ctr">
                        <a:spcBef>
                          <a:spcPts val="0"/>
                        </a:spcBef>
                        <a:spcAft>
                          <a:spcPts val="0"/>
                        </a:spcAft>
                        <a:buClr>
                          <a:srgbClr val="2E7D5B"/>
                        </a:buClr>
                        <a:buSzPts val="1300"/>
                        <a:buFont typeface="Calibri"/>
                        <a:buNone/>
                      </a:pPr>
                      <a:r>
                        <a:rPr b="1" lang="en-US" sz="1300" u="none" cap="none" strike="noStrike">
                          <a:solidFill>
                            <a:srgbClr val="2E7D5B"/>
                          </a:solidFill>
                          <a:latin typeface="Calibri"/>
                          <a:ea typeface="Calibri"/>
                          <a:cs typeface="Calibri"/>
                          <a:sym typeface="Calibri"/>
                        </a:rPr>
                        <a:t>0.280</a:t>
                      </a:r>
                      <a:endParaRPr sz="1300" u="none" cap="none" strike="noStrike">
                        <a:latin typeface="Calibri"/>
                        <a:ea typeface="Calibri"/>
                        <a:cs typeface="Calibri"/>
                        <a:sym typeface="Calibri"/>
                      </a:endParaRPr>
                    </a:p>
                  </a:txBody>
                  <a:tcPr marT="45725" marB="45725" marR="91450" marL="91450" anchor="ctr">
                    <a:lnL cap="flat" cmpd="sng" w="9525">
                      <a:solidFill>
                        <a:srgbClr val="D8DEE9"/>
                      </a:solidFill>
                      <a:prstDash val="solid"/>
                      <a:round/>
                      <a:headEnd len="sm" w="sm" type="none"/>
                      <a:tailEnd len="sm" w="sm" type="none"/>
                    </a:lnL>
                    <a:lnR cap="flat" cmpd="sng" w="9525">
                      <a:solidFill>
                        <a:srgbClr val="D8DEE9"/>
                      </a:solidFill>
                      <a:prstDash val="solid"/>
                      <a:round/>
                      <a:headEnd len="sm" w="sm" type="none"/>
                      <a:tailEnd len="sm" w="sm" type="none"/>
                    </a:lnR>
                    <a:lnT cap="flat" cmpd="sng" w="9525">
                      <a:solidFill>
                        <a:srgbClr val="D8DEE9"/>
                      </a:solidFill>
                      <a:prstDash val="solid"/>
                      <a:round/>
                      <a:headEnd len="sm" w="sm" type="none"/>
                      <a:tailEnd len="sm" w="sm" type="none"/>
                    </a:lnT>
                    <a:lnB cap="flat" cmpd="sng" w="9525">
                      <a:solidFill>
                        <a:srgbClr val="D8DEE9"/>
                      </a:solidFill>
                      <a:prstDash val="solid"/>
                      <a:round/>
                      <a:headEnd len="sm" w="sm" type="none"/>
                      <a:tailEnd len="sm" w="sm" type="none"/>
                    </a:lnB>
                    <a:solidFill>
                      <a:srgbClr val="E3F0E9"/>
                    </a:solidFill>
                  </a:tcPr>
                </a:tc>
                <a:tc>
                  <a:txBody>
                    <a:bodyPr/>
                    <a:lstStyle/>
                    <a:p>
                      <a:pPr indent="0" lvl="0" marL="0" marR="0" rtl="0" algn="ctr">
                        <a:spcBef>
                          <a:spcPts val="0"/>
                        </a:spcBef>
                        <a:spcAft>
                          <a:spcPts val="0"/>
                        </a:spcAft>
                        <a:buClr>
                          <a:srgbClr val="2E7D5B"/>
                        </a:buClr>
                        <a:buSzPts val="1300"/>
                        <a:buFont typeface="Calibri"/>
                        <a:buNone/>
                      </a:pPr>
                      <a:r>
                        <a:rPr b="1" lang="en-US" sz="1300" u="none" cap="none" strike="noStrike">
                          <a:solidFill>
                            <a:srgbClr val="2E7D5B"/>
                          </a:solidFill>
                          <a:latin typeface="Calibri"/>
                          <a:ea typeface="Calibri"/>
                          <a:cs typeface="Calibri"/>
                          <a:sym typeface="Calibri"/>
                        </a:rPr>
                        <a:t>0.422</a:t>
                      </a:r>
                      <a:endParaRPr sz="1300" u="none" cap="none" strike="noStrike">
                        <a:latin typeface="Calibri"/>
                        <a:ea typeface="Calibri"/>
                        <a:cs typeface="Calibri"/>
                        <a:sym typeface="Calibri"/>
                      </a:endParaRPr>
                    </a:p>
                  </a:txBody>
                  <a:tcPr marT="45725" marB="45725" marR="91450" marL="91450" anchor="ctr">
                    <a:lnL cap="flat" cmpd="sng" w="9525">
                      <a:solidFill>
                        <a:srgbClr val="D8DEE9"/>
                      </a:solidFill>
                      <a:prstDash val="solid"/>
                      <a:round/>
                      <a:headEnd len="sm" w="sm" type="none"/>
                      <a:tailEnd len="sm" w="sm" type="none"/>
                    </a:lnL>
                    <a:lnR cap="flat" cmpd="sng" w="9525">
                      <a:solidFill>
                        <a:srgbClr val="D8DEE9"/>
                      </a:solidFill>
                      <a:prstDash val="solid"/>
                      <a:round/>
                      <a:headEnd len="sm" w="sm" type="none"/>
                      <a:tailEnd len="sm" w="sm" type="none"/>
                    </a:lnR>
                    <a:lnT cap="flat" cmpd="sng" w="9525">
                      <a:solidFill>
                        <a:srgbClr val="D8DEE9"/>
                      </a:solidFill>
                      <a:prstDash val="solid"/>
                      <a:round/>
                      <a:headEnd len="sm" w="sm" type="none"/>
                      <a:tailEnd len="sm" w="sm" type="none"/>
                    </a:lnT>
                    <a:lnB cap="flat" cmpd="sng" w="9525">
                      <a:solidFill>
                        <a:srgbClr val="D8DEE9"/>
                      </a:solidFill>
                      <a:prstDash val="solid"/>
                      <a:round/>
                      <a:headEnd len="sm" w="sm" type="none"/>
                      <a:tailEnd len="sm" w="sm" type="none"/>
                    </a:lnB>
                    <a:solidFill>
                      <a:srgbClr val="E3F0E9"/>
                    </a:solidFill>
                  </a:tcPr>
                </a:tc>
              </a:tr>
            </a:tbl>
          </a:graphicData>
        </a:graphic>
      </p:graphicFrame>
      <p:sp>
        <p:nvSpPr>
          <p:cNvPr id="326" name="Google Shape;326;p15"/>
          <p:cNvSpPr/>
          <p:nvPr/>
        </p:nvSpPr>
        <p:spPr>
          <a:xfrm>
            <a:off x="457200" y="3703320"/>
            <a:ext cx="6400800" cy="2377440"/>
          </a:xfrm>
          <a:prstGeom prst="roundRect">
            <a:avLst>
              <a:gd fmla="val 3077" name="adj"/>
            </a:avLst>
          </a:prstGeom>
          <a:solidFill>
            <a:srgbClr val="EEF1F6"/>
          </a:solidFill>
          <a:ln>
            <a:noFill/>
          </a:ln>
          <a:effectLst>
            <a:outerShdw blurRad="76200" rotWithShape="0" algn="bl" dir="5400000" dist="25400">
              <a:srgbClr val="1B2A4A">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5"/>
          <p:cNvSpPr txBox="1"/>
          <p:nvPr/>
        </p:nvSpPr>
        <p:spPr>
          <a:xfrm>
            <a:off x="731520" y="3886200"/>
            <a:ext cx="58521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1500"/>
              <a:buFont typeface="Times New Roman"/>
              <a:buNone/>
            </a:pPr>
            <a:r>
              <a:rPr b="1" i="0" lang="en-US" sz="1500" u="none" cap="none" strike="noStrike">
                <a:solidFill>
                  <a:srgbClr val="1B2A4A"/>
                </a:solidFill>
                <a:latin typeface="Times New Roman"/>
                <a:ea typeface="Times New Roman"/>
                <a:cs typeface="Times New Roman"/>
                <a:sym typeface="Times New Roman"/>
              </a:rPr>
              <a:t>Đánh đổi Precision ↔ Recall</a:t>
            </a:r>
            <a:endParaRPr b="0" i="0" sz="1500" u="none" cap="none" strike="noStrike">
              <a:solidFill>
                <a:schemeClr val="dk1"/>
              </a:solidFill>
              <a:latin typeface="Calibri"/>
              <a:ea typeface="Calibri"/>
              <a:cs typeface="Calibri"/>
              <a:sym typeface="Calibri"/>
            </a:endParaRPr>
          </a:p>
        </p:txBody>
      </p:sp>
      <p:sp>
        <p:nvSpPr>
          <p:cNvPr id="328" name="Google Shape;328;p15"/>
          <p:cNvSpPr txBox="1"/>
          <p:nvPr/>
        </p:nvSpPr>
        <p:spPr>
          <a:xfrm>
            <a:off x="731520" y="4297680"/>
            <a:ext cx="5852160" cy="1691640"/>
          </a:xfrm>
          <a:prstGeom prst="rect">
            <a:avLst/>
          </a:prstGeom>
          <a:noFill/>
          <a:ln>
            <a:noFill/>
          </a:ln>
        </p:spPr>
        <p:txBody>
          <a:bodyPr anchorCtr="0" anchor="t" bIns="0" lIns="0" spcFirstLastPara="1" rIns="0" wrap="square" tIns="0">
            <a:noAutofit/>
          </a:bodyPr>
          <a:lstStyle/>
          <a:p>
            <a:pPr indent="-342900" lvl="0" marL="342900" marR="0" rtl="0" algn="l">
              <a:lnSpc>
                <a:spcPct val="108000"/>
              </a:lnSpc>
              <a:spcBef>
                <a:spcPts val="0"/>
              </a:spcBef>
              <a:spcAft>
                <a:spcPts val="0"/>
              </a:spcAft>
              <a:buClr>
                <a:srgbClr val="1B2A4A"/>
              </a:buClr>
              <a:buSzPts val="1250"/>
              <a:buFont typeface="Calibri"/>
              <a:buChar char="•"/>
            </a:pPr>
            <a:r>
              <a:rPr b="0" i="0" lang="en-US" sz="1250" u="none" cap="none" strike="noStrike">
                <a:solidFill>
                  <a:srgbClr val="1B2A4A"/>
                </a:solidFill>
                <a:latin typeface="Calibri"/>
                <a:ea typeface="Calibri"/>
                <a:cs typeface="Calibri"/>
                <a:sym typeface="Calibri"/>
              </a:rPr>
              <a:t>Trước ISREL: kết quả gần giống hệt Standard RAG (đúng như kỳ vọng — cùng retriever)</a:t>
            </a:r>
            <a:endParaRPr b="0" i="0" sz="1250" u="none" cap="none" strike="noStrike">
              <a:solidFill>
                <a:schemeClr val="dk1"/>
              </a:solidFill>
              <a:latin typeface="Calibri"/>
              <a:ea typeface="Calibri"/>
              <a:cs typeface="Calibri"/>
              <a:sym typeface="Calibri"/>
            </a:endParaRPr>
          </a:p>
          <a:p>
            <a:pPr indent="-342900" lvl="0" marL="342900" marR="0" rtl="0" algn="l">
              <a:lnSpc>
                <a:spcPct val="108000"/>
              </a:lnSpc>
              <a:spcBef>
                <a:spcPts val="800"/>
              </a:spcBef>
              <a:spcAft>
                <a:spcPts val="0"/>
              </a:spcAft>
              <a:buClr>
                <a:srgbClr val="1B2A4A"/>
              </a:buClr>
              <a:buSzPts val="1250"/>
              <a:buFont typeface="Calibri"/>
              <a:buChar char="•"/>
            </a:pPr>
            <a:r>
              <a:rPr b="0" i="0" lang="en-US" sz="1250" u="none" cap="none" strike="noStrike">
                <a:solidFill>
                  <a:srgbClr val="1B2A4A"/>
                </a:solidFill>
                <a:latin typeface="Calibri"/>
                <a:ea typeface="Calibri"/>
                <a:cs typeface="Calibri"/>
                <a:sym typeface="Calibri"/>
              </a:rPr>
              <a:t>Sau ISREL: Precision tăng ~2.2 lần, đổi lấy Recall giảm tương đối ~15–17%</a:t>
            </a:r>
            <a:endParaRPr b="0" i="0" sz="1250" u="none" cap="none" strike="noStrike">
              <a:solidFill>
                <a:schemeClr val="dk1"/>
              </a:solidFill>
              <a:latin typeface="Calibri"/>
              <a:ea typeface="Calibri"/>
              <a:cs typeface="Calibri"/>
              <a:sym typeface="Calibri"/>
            </a:endParaRPr>
          </a:p>
          <a:p>
            <a:pPr indent="-342900" lvl="0" marL="342900" marR="0" rtl="0" algn="l">
              <a:lnSpc>
                <a:spcPct val="108000"/>
              </a:lnSpc>
              <a:spcBef>
                <a:spcPts val="800"/>
              </a:spcBef>
              <a:spcAft>
                <a:spcPts val="0"/>
              </a:spcAft>
              <a:buClr>
                <a:srgbClr val="1B2A4A"/>
              </a:buClr>
              <a:buSzPts val="1250"/>
              <a:buFont typeface="Calibri"/>
              <a:buChar char="•"/>
            </a:pPr>
            <a:r>
              <a:rPr b="0" i="0" lang="en-US" sz="1250" u="none" cap="none" strike="noStrike">
                <a:solidFill>
                  <a:srgbClr val="1B2A4A"/>
                </a:solidFill>
                <a:latin typeface="Calibri"/>
                <a:ea typeface="Calibri"/>
                <a:cs typeface="Calibri"/>
                <a:sym typeface="Calibri"/>
              </a:rPr>
              <a:t>Hành vi ổn định, tái hiện nhất quán qua 3 lần đánh giá độc lập của đồ án</a:t>
            </a:r>
            <a:endParaRPr b="0" i="0" sz="1250" u="none" cap="none" strike="noStrike">
              <a:solidFill>
                <a:schemeClr val="dk1"/>
              </a:solidFill>
              <a:latin typeface="Calibri"/>
              <a:ea typeface="Calibri"/>
              <a:cs typeface="Calibri"/>
              <a:sym typeface="Calibri"/>
            </a:endParaRPr>
          </a:p>
        </p:txBody>
      </p:sp>
      <p:sp>
        <p:nvSpPr>
          <p:cNvPr id="329" name="Google Shape;329;p15"/>
          <p:cNvSpPr txBox="1"/>
          <p:nvPr/>
        </p:nvSpPr>
        <p:spPr>
          <a:xfrm>
            <a:off x="7223760" y="1645920"/>
            <a:ext cx="44805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5A80"/>
              </a:buClr>
              <a:buSzPts val="1150"/>
              <a:buFont typeface="Calibri"/>
              <a:buNone/>
            </a:pPr>
            <a:r>
              <a:rPr b="1" i="0" lang="en-US" sz="1150" u="none" cap="none" strike="noStrike">
                <a:solidFill>
                  <a:srgbClr val="3D5A80"/>
                </a:solidFill>
                <a:latin typeface="Calibri"/>
                <a:ea typeface="Calibri"/>
                <a:cs typeface="Calibri"/>
                <a:sym typeface="Calibri"/>
              </a:rPr>
              <a:t>Precision — trước vs sau ISREL</a:t>
            </a:r>
            <a:endParaRPr b="0" i="0" sz="1150" u="none" cap="none" strike="noStrike">
              <a:solidFill>
                <a:schemeClr val="dk1"/>
              </a:solidFill>
              <a:latin typeface="Calibri"/>
              <a:ea typeface="Calibri"/>
              <a:cs typeface="Calibri"/>
              <a:sym typeface="Calibri"/>
            </a:endParaRPr>
          </a:p>
        </p:txBody>
      </p:sp>
      <p:sp>
        <p:nvSpPr>
          <p:cNvPr id="330" name="Google Shape;330;p15"/>
          <p:cNvSpPr txBox="1"/>
          <p:nvPr/>
        </p:nvSpPr>
        <p:spPr>
          <a:xfrm>
            <a:off x="7223760" y="2011680"/>
            <a:ext cx="1554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1050"/>
              <a:buFont typeface="Calibri"/>
              <a:buNone/>
            </a:pPr>
            <a:r>
              <a:rPr b="0" i="0" lang="en-US" sz="1050" u="none" cap="none" strike="noStrike">
                <a:solidFill>
                  <a:srgbClr val="1B2A4A"/>
                </a:solidFill>
                <a:latin typeface="Calibri"/>
                <a:ea typeface="Calibri"/>
                <a:cs typeface="Calibri"/>
                <a:sym typeface="Calibri"/>
              </a:rPr>
              <a:t>Standard RAG</a:t>
            </a:r>
            <a:endParaRPr b="0" i="0" sz="1050" u="none" cap="none" strike="noStrike">
              <a:solidFill>
                <a:schemeClr val="dk1"/>
              </a:solidFill>
              <a:latin typeface="Calibri"/>
              <a:ea typeface="Calibri"/>
              <a:cs typeface="Calibri"/>
              <a:sym typeface="Calibri"/>
            </a:endParaRPr>
          </a:p>
        </p:txBody>
      </p:sp>
      <p:sp>
        <p:nvSpPr>
          <p:cNvPr id="331" name="Google Shape;331;p15"/>
          <p:cNvSpPr/>
          <p:nvPr/>
        </p:nvSpPr>
        <p:spPr>
          <a:xfrm>
            <a:off x="8823960" y="2057400"/>
            <a:ext cx="2743200" cy="228600"/>
          </a:xfrm>
          <a:prstGeom prst="roundRect">
            <a:avLst>
              <a:gd fmla="val 12000" name="adj"/>
            </a:avLst>
          </a:prstGeom>
          <a:solidFill>
            <a:srgbClr val="E4E9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15"/>
          <p:cNvSpPr/>
          <p:nvPr/>
        </p:nvSpPr>
        <p:spPr>
          <a:xfrm>
            <a:off x="8823960" y="2057400"/>
            <a:ext cx="995390" cy="228600"/>
          </a:xfrm>
          <a:prstGeom prst="roundRect">
            <a:avLst>
              <a:gd fmla="val 12000" name="adj"/>
            </a:avLst>
          </a:prstGeom>
          <a:solidFill>
            <a:srgbClr val="3D5A8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15"/>
          <p:cNvSpPr txBox="1"/>
          <p:nvPr/>
        </p:nvSpPr>
        <p:spPr>
          <a:xfrm>
            <a:off x="11640312" y="1993392"/>
            <a:ext cx="5486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1050"/>
              <a:buFont typeface="Calibri"/>
              <a:buNone/>
            </a:pPr>
            <a:r>
              <a:rPr b="1" i="0" lang="en-US" sz="1050" u="none" cap="none" strike="noStrike">
                <a:solidFill>
                  <a:srgbClr val="1B2A4A"/>
                </a:solidFill>
                <a:latin typeface="Calibri"/>
                <a:ea typeface="Calibri"/>
                <a:cs typeface="Calibri"/>
                <a:sym typeface="Calibri"/>
              </a:rPr>
              <a:t>0.127</a:t>
            </a:r>
            <a:endParaRPr b="0" i="0" sz="1050" u="none" cap="none" strike="noStrike">
              <a:solidFill>
                <a:schemeClr val="dk1"/>
              </a:solidFill>
              <a:latin typeface="Calibri"/>
              <a:ea typeface="Calibri"/>
              <a:cs typeface="Calibri"/>
              <a:sym typeface="Calibri"/>
            </a:endParaRPr>
          </a:p>
        </p:txBody>
      </p:sp>
      <p:sp>
        <p:nvSpPr>
          <p:cNvPr id="334" name="Google Shape;334;p15"/>
          <p:cNvSpPr txBox="1"/>
          <p:nvPr/>
        </p:nvSpPr>
        <p:spPr>
          <a:xfrm>
            <a:off x="7223760" y="2423160"/>
            <a:ext cx="1554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1050"/>
              <a:buFont typeface="Calibri"/>
              <a:buNone/>
            </a:pPr>
            <a:r>
              <a:rPr b="0" i="0" lang="en-US" sz="1050" u="none" cap="none" strike="noStrike">
                <a:solidFill>
                  <a:srgbClr val="1B2A4A"/>
                </a:solidFill>
                <a:latin typeface="Calibri"/>
                <a:ea typeface="Calibri"/>
                <a:cs typeface="Calibri"/>
                <a:sym typeface="Calibri"/>
              </a:rPr>
              <a:t>Trước ISREL</a:t>
            </a:r>
            <a:endParaRPr b="0" i="0" sz="1050" u="none" cap="none" strike="noStrike">
              <a:solidFill>
                <a:schemeClr val="dk1"/>
              </a:solidFill>
              <a:latin typeface="Calibri"/>
              <a:ea typeface="Calibri"/>
              <a:cs typeface="Calibri"/>
              <a:sym typeface="Calibri"/>
            </a:endParaRPr>
          </a:p>
        </p:txBody>
      </p:sp>
      <p:sp>
        <p:nvSpPr>
          <p:cNvPr id="335" name="Google Shape;335;p15"/>
          <p:cNvSpPr/>
          <p:nvPr/>
        </p:nvSpPr>
        <p:spPr>
          <a:xfrm>
            <a:off x="8823960" y="2468880"/>
            <a:ext cx="2743200" cy="228600"/>
          </a:xfrm>
          <a:prstGeom prst="roundRect">
            <a:avLst>
              <a:gd fmla="val 12000" name="adj"/>
            </a:avLst>
          </a:prstGeom>
          <a:solidFill>
            <a:srgbClr val="E4E9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5"/>
          <p:cNvSpPr/>
          <p:nvPr/>
        </p:nvSpPr>
        <p:spPr>
          <a:xfrm>
            <a:off x="8823960" y="2468880"/>
            <a:ext cx="1011065" cy="228600"/>
          </a:xfrm>
          <a:prstGeom prst="roundRect">
            <a:avLst>
              <a:gd fmla="val 12000" name="adj"/>
            </a:avLst>
          </a:prstGeom>
          <a:solidFill>
            <a:srgbClr val="5B6B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15"/>
          <p:cNvSpPr txBox="1"/>
          <p:nvPr/>
        </p:nvSpPr>
        <p:spPr>
          <a:xfrm>
            <a:off x="11640312" y="2404872"/>
            <a:ext cx="5486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1050"/>
              <a:buFont typeface="Calibri"/>
              <a:buNone/>
            </a:pPr>
            <a:r>
              <a:rPr b="1" i="0" lang="en-US" sz="1050" u="none" cap="none" strike="noStrike">
                <a:solidFill>
                  <a:srgbClr val="1B2A4A"/>
                </a:solidFill>
                <a:latin typeface="Calibri"/>
                <a:ea typeface="Calibri"/>
                <a:cs typeface="Calibri"/>
                <a:sym typeface="Calibri"/>
              </a:rPr>
              <a:t>0.129</a:t>
            </a:r>
            <a:endParaRPr b="0" i="0" sz="1050" u="none" cap="none" strike="noStrike">
              <a:solidFill>
                <a:schemeClr val="dk1"/>
              </a:solidFill>
              <a:latin typeface="Calibri"/>
              <a:ea typeface="Calibri"/>
              <a:cs typeface="Calibri"/>
              <a:sym typeface="Calibri"/>
            </a:endParaRPr>
          </a:p>
        </p:txBody>
      </p:sp>
      <p:sp>
        <p:nvSpPr>
          <p:cNvPr id="338" name="Google Shape;338;p15"/>
          <p:cNvSpPr txBox="1"/>
          <p:nvPr/>
        </p:nvSpPr>
        <p:spPr>
          <a:xfrm>
            <a:off x="7223760" y="2834640"/>
            <a:ext cx="1554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1050"/>
              <a:buFont typeface="Calibri"/>
              <a:buNone/>
            </a:pPr>
            <a:r>
              <a:rPr b="0" i="0" lang="en-US" sz="1050" u="none" cap="none" strike="noStrike">
                <a:solidFill>
                  <a:srgbClr val="1B2A4A"/>
                </a:solidFill>
                <a:latin typeface="Calibri"/>
                <a:ea typeface="Calibri"/>
                <a:cs typeface="Calibri"/>
                <a:sym typeface="Calibri"/>
              </a:rPr>
              <a:t>Sau ISREL</a:t>
            </a:r>
            <a:endParaRPr b="0" i="0" sz="1050" u="none" cap="none" strike="noStrike">
              <a:solidFill>
                <a:schemeClr val="dk1"/>
              </a:solidFill>
              <a:latin typeface="Calibri"/>
              <a:ea typeface="Calibri"/>
              <a:cs typeface="Calibri"/>
              <a:sym typeface="Calibri"/>
            </a:endParaRPr>
          </a:p>
        </p:txBody>
      </p:sp>
      <p:sp>
        <p:nvSpPr>
          <p:cNvPr id="339" name="Google Shape;339;p15"/>
          <p:cNvSpPr/>
          <p:nvPr/>
        </p:nvSpPr>
        <p:spPr>
          <a:xfrm>
            <a:off x="8823960" y="2880360"/>
            <a:ext cx="2743200" cy="228600"/>
          </a:xfrm>
          <a:prstGeom prst="roundRect">
            <a:avLst>
              <a:gd fmla="val 12000" name="adj"/>
            </a:avLst>
          </a:prstGeom>
          <a:solidFill>
            <a:srgbClr val="E4E9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5"/>
          <p:cNvSpPr/>
          <p:nvPr/>
        </p:nvSpPr>
        <p:spPr>
          <a:xfrm>
            <a:off x="8823960" y="2880360"/>
            <a:ext cx="2194560" cy="228600"/>
          </a:xfrm>
          <a:prstGeom prst="roundRect">
            <a:avLst>
              <a:gd fmla="val 12000" name="adj"/>
            </a:avLst>
          </a:prstGeom>
          <a:solidFill>
            <a:srgbClr val="2E7D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15"/>
          <p:cNvSpPr txBox="1"/>
          <p:nvPr/>
        </p:nvSpPr>
        <p:spPr>
          <a:xfrm>
            <a:off x="11640312" y="2816352"/>
            <a:ext cx="5486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1050"/>
              <a:buFont typeface="Calibri"/>
              <a:buNone/>
            </a:pPr>
            <a:r>
              <a:rPr b="1" i="0" lang="en-US" sz="1050" u="none" cap="none" strike="noStrike">
                <a:solidFill>
                  <a:srgbClr val="1B2A4A"/>
                </a:solidFill>
                <a:latin typeface="Calibri"/>
                <a:ea typeface="Calibri"/>
                <a:cs typeface="Calibri"/>
                <a:sym typeface="Calibri"/>
              </a:rPr>
              <a:t>0.280</a:t>
            </a:r>
            <a:endParaRPr b="0" i="0" sz="1050" u="none" cap="none" strike="noStrike">
              <a:solidFill>
                <a:schemeClr val="dk1"/>
              </a:solidFill>
              <a:latin typeface="Calibri"/>
              <a:ea typeface="Calibri"/>
              <a:cs typeface="Calibri"/>
              <a:sym typeface="Calibri"/>
            </a:endParaRPr>
          </a:p>
        </p:txBody>
      </p:sp>
      <p:sp>
        <p:nvSpPr>
          <p:cNvPr id="342" name="Google Shape;342;p15"/>
          <p:cNvSpPr txBox="1"/>
          <p:nvPr/>
        </p:nvSpPr>
        <p:spPr>
          <a:xfrm>
            <a:off x="7223760" y="3337560"/>
            <a:ext cx="44805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5A80"/>
              </a:buClr>
              <a:buSzPts val="1150"/>
              <a:buFont typeface="Calibri"/>
              <a:buNone/>
            </a:pPr>
            <a:r>
              <a:rPr b="1" i="0" lang="en-US" sz="1150" u="none" cap="none" strike="noStrike">
                <a:solidFill>
                  <a:srgbClr val="3D5A80"/>
                </a:solidFill>
                <a:latin typeface="Calibri"/>
                <a:ea typeface="Calibri"/>
                <a:cs typeface="Calibri"/>
                <a:sym typeface="Calibri"/>
              </a:rPr>
              <a:t>Recall — trước vs sau ISREL</a:t>
            </a:r>
            <a:endParaRPr b="0" i="0" sz="1150" u="none" cap="none" strike="noStrike">
              <a:solidFill>
                <a:schemeClr val="dk1"/>
              </a:solidFill>
              <a:latin typeface="Calibri"/>
              <a:ea typeface="Calibri"/>
              <a:cs typeface="Calibri"/>
              <a:sym typeface="Calibri"/>
            </a:endParaRPr>
          </a:p>
        </p:txBody>
      </p:sp>
      <p:sp>
        <p:nvSpPr>
          <p:cNvPr id="343" name="Google Shape;343;p15"/>
          <p:cNvSpPr txBox="1"/>
          <p:nvPr/>
        </p:nvSpPr>
        <p:spPr>
          <a:xfrm>
            <a:off x="7223760" y="3703320"/>
            <a:ext cx="1554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1050"/>
              <a:buFont typeface="Calibri"/>
              <a:buNone/>
            </a:pPr>
            <a:r>
              <a:rPr b="0" i="0" lang="en-US" sz="1050" u="none" cap="none" strike="noStrike">
                <a:solidFill>
                  <a:srgbClr val="1B2A4A"/>
                </a:solidFill>
                <a:latin typeface="Calibri"/>
                <a:ea typeface="Calibri"/>
                <a:cs typeface="Calibri"/>
                <a:sym typeface="Calibri"/>
              </a:rPr>
              <a:t>Standard RAG</a:t>
            </a:r>
            <a:endParaRPr b="0" i="0" sz="1050" u="none" cap="none" strike="noStrike">
              <a:solidFill>
                <a:schemeClr val="dk1"/>
              </a:solidFill>
              <a:latin typeface="Calibri"/>
              <a:ea typeface="Calibri"/>
              <a:cs typeface="Calibri"/>
              <a:sym typeface="Calibri"/>
            </a:endParaRPr>
          </a:p>
        </p:txBody>
      </p:sp>
      <p:sp>
        <p:nvSpPr>
          <p:cNvPr id="344" name="Google Shape;344;p15"/>
          <p:cNvSpPr/>
          <p:nvPr/>
        </p:nvSpPr>
        <p:spPr>
          <a:xfrm>
            <a:off x="8823960" y="3749040"/>
            <a:ext cx="2743200" cy="228600"/>
          </a:xfrm>
          <a:prstGeom prst="roundRect">
            <a:avLst>
              <a:gd fmla="val 12000" name="adj"/>
            </a:avLst>
          </a:prstGeom>
          <a:solidFill>
            <a:srgbClr val="E4E9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15"/>
          <p:cNvSpPr/>
          <p:nvPr/>
        </p:nvSpPr>
        <p:spPr>
          <a:xfrm>
            <a:off x="8823960" y="3749040"/>
            <a:ext cx="2478855" cy="228600"/>
          </a:xfrm>
          <a:prstGeom prst="roundRect">
            <a:avLst>
              <a:gd fmla="val 12000" name="adj"/>
            </a:avLst>
          </a:prstGeom>
          <a:solidFill>
            <a:srgbClr val="3D5A8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15"/>
          <p:cNvSpPr txBox="1"/>
          <p:nvPr/>
        </p:nvSpPr>
        <p:spPr>
          <a:xfrm>
            <a:off x="11640312" y="3685032"/>
            <a:ext cx="5486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1050"/>
              <a:buFont typeface="Calibri"/>
              <a:buNone/>
            </a:pPr>
            <a:r>
              <a:rPr b="1" i="0" lang="en-US" sz="1050" u="none" cap="none" strike="noStrike">
                <a:solidFill>
                  <a:srgbClr val="1B2A4A"/>
                </a:solidFill>
                <a:latin typeface="Calibri"/>
                <a:ea typeface="Calibri"/>
                <a:cs typeface="Calibri"/>
                <a:sym typeface="Calibri"/>
              </a:rPr>
              <a:t>0.497</a:t>
            </a:r>
            <a:endParaRPr b="0" i="0" sz="1050" u="none" cap="none" strike="noStrike">
              <a:solidFill>
                <a:schemeClr val="dk1"/>
              </a:solidFill>
              <a:latin typeface="Calibri"/>
              <a:ea typeface="Calibri"/>
              <a:cs typeface="Calibri"/>
              <a:sym typeface="Calibri"/>
            </a:endParaRPr>
          </a:p>
        </p:txBody>
      </p:sp>
      <p:sp>
        <p:nvSpPr>
          <p:cNvPr id="347" name="Google Shape;347;p15"/>
          <p:cNvSpPr txBox="1"/>
          <p:nvPr/>
        </p:nvSpPr>
        <p:spPr>
          <a:xfrm>
            <a:off x="7223760" y="4114800"/>
            <a:ext cx="1554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1050"/>
              <a:buFont typeface="Calibri"/>
              <a:buNone/>
            </a:pPr>
            <a:r>
              <a:rPr b="0" i="0" lang="en-US" sz="1050" u="none" cap="none" strike="noStrike">
                <a:solidFill>
                  <a:srgbClr val="1B2A4A"/>
                </a:solidFill>
                <a:latin typeface="Calibri"/>
                <a:ea typeface="Calibri"/>
                <a:cs typeface="Calibri"/>
                <a:sym typeface="Calibri"/>
              </a:rPr>
              <a:t>Trước ISREL</a:t>
            </a:r>
            <a:endParaRPr b="0" i="0" sz="1050" u="none" cap="none" strike="noStrike">
              <a:solidFill>
                <a:schemeClr val="dk1"/>
              </a:solidFill>
              <a:latin typeface="Calibri"/>
              <a:ea typeface="Calibri"/>
              <a:cs typeface="Calibri"/>
              <a:sym typeface="Calibri"/>
            </a:endParaRPr>
          </a:p>
        </p:txBody>
      </p:sp>
      <p:sp>
        <p:nvSpPr>
          <p:cNvPr id="348" name="Google Shape;348;p15"/>
          <p:cNvSpPr/>
          <p:nvPr/>
        </p:nvSpPr>
        <p:spPr>
          <a:xfrm>
            <a:off x="8823960" y="4160520"/>
            <a:ext cx="2743200" cy="228600"/>
          </a:xfrm>
          <a:prstGeom prst="roundRect">
            <a:avLst>
              <a:gd fmla="val 12000" name="adj"/>
            </a:avLst>
          </a:prstGeom>
          <a:solidFill>
            <a:srgbClr val="E4E9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15"/>
          <p:cNvSpPr/>
          <p:nvPr/>
        </p:nvSpPr>
        <p:spPr>
          <a:xfrm>
            <a:off x="8823960" y="4160520"/>
            <a:ext cx="2508781" cy="228600"/>
          </a:xfrm>
          <a:prstGeom prst="roundRect">
            <a:avLst>
              <a:gd fmla="val 12000" name="adj"/>
            </a:avLst>
          </a:prstGeom>
          <a:solidFill>
            <a:srgbClr val="5B6B8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5"/>
          <p:cNvSpPr txBox="1"/>
          <p:nvPr/>
        </p:nvSpPr>
        <p:spPr>
          <a:xfrm>
            <a:off x="11640312" y="4096512"/>
            <a:ext cx="5486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1050"/>
              <a:buFont typeface="Calibri"/>
              <a:buNone/>
            </a:pPr>
            <a:r>
              <a:rPr b="1" i="0" lang="en-US" sz="1050" u="none" cap="none" strike="noStrike">
                <a:solidFill>
                  <a:srgbClr val="1B2A4A"/>
                </a:solidFill>
                <a:latin typeface="Calibri"/>
                <a:ea typeface="Calibri"/>
                <a:cs typeface="Calibri"/>
                <a:sym typeface="Calibri"/>
              </a:rPr>
              <a:t>0.503</a:t>
            </a:r>
            <a:endParaRPr b="0" i="0" sz="1050" u="none" cap="none" strike="noStrike">
              <a:solidFill>
                <a:schemeClr val="dk1"/>
              </a:solidFill>
              <a:latin typeface="Calibri"/>
              <a:ea typeface="Calibri"/>
              <a:cs typeface="Calibri"/>
              <a:sym typeface="Calibri"/>
            </a:endParaRPr>
          </a:p>
        </p:txBody>
      </p:sp>
      <p:sp>
        <p:nvSpPr>
          <p:cNvPr id="351" name="Google Shape;351;p15"/>
          <p:cNvSpPr txBox="1"/>
          <p:nvPr/>
        </p:nvSpPr>
        <p:spPr>
          <a:xfrm>
            <a:off x="7223760" y="4526280"/>
            <a:ext cx="15544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1050"/>
              <a:buFont typeface="Calibri"/>
              <a:buNone/>
            </a:pPr>
            <a:r>
              <a:rPr b="0" i="0" lang="en-US" sz="1050" u="none" cap="none" strike="noStrike">
                <a:solidFill>
                  <a:srgbClr val="1B2A4A"/>
                </a:solidFill>
                <a:latin typeface="Calibri"/>
                <a:ea typeface="Calibri"/>
                <a:cs typeface="Calibri"/>
                <a:sym typeface="Calibri"/>
              </a:rPr>
              <a:t>Sau ISREL</a:t>
            </a:r>
            <a:endParaRPr b="0" i="0" sz="1050" u="none" cap="none" strike="noStrike">
              <a:solidFill>
                <a:schemeClr val="dk1"/>
              </a:solidFill>
              <a:latin typeface="Calibri"/>
              <a:ea typeface="Calibri"/>
              <a:cs typeface="Calibri"/>
              <a:sym typeface="Calibri"/>
            </a:endParaRPr>
          </a:p>
        </p:txBody>
      </p:sp>
      <p:sp>
        <p:nvSpPr>
          <p:cNvPr id="352" name="Google Shape;352;p15"/>
          <p:cNvSpPr/>
          <p:nvPr/>
        </p:nvSpPr>
        <p:spPr>
          <a:xfrm>
            <a:off x="8823960" y="4572000"/>
            <a:ext cx="2743200" cy="228600"/>
          </a:xfrm>
          <a:prstGeom prst="roundRect">
            <a:avLst>
              <a:gd fmla="val 12000" name="adj"/>
            </a:avLst>
          </a:prstGeom>
          <a:solidFill>
            <a:srgbClr val="E4E9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5"/>
          <p:cNvSpPr/>
          <p:nvPr/>
        </p:nvSpPr>
        <p:spPr>
          <a:xfrm>
            <a:off x="8823960" y="4572000"/>
            <a:ext cx="2119745" cy="228600"/>
          </a:xfrm>
          <a:prstGeom prst="roundRect">
            <a:avLst>
              <a:gd fmla="val 12000" name="adj"/>
            </a:avLst>
          </a:prstGeom>
          <a:solidFill>
            <a:srgbClr val="2E7D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5"/>
          <p:cNvSpPr txBox="1"/>
          <p:nvPr/>
        </p:nvSpPr>
        <p:spPr>
          <a:xfrm>
            <a:off x="11640312" y="4507992"/>
            <a:ext cx="5486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1050"/>
              <a:buFont typeface="Calibri"/>
              <a:buNone/>
            </a:pPr>
            <a:r>
              <a:rPr b="1" i="0" lang="en-US" sz="1050" u="none" cap="none" strike="noStrike">
                <a:solidFill>
                  <a:srgbClr val="1B2A4A"/>
                </a:solidFill>
                <a:latin typeface="Calibri"/>
                <a:ea typeface="Calibri"/>
                <a:cs typeface="Calibri"/>
                <a:sym typeface="Calibri"/>
              </a:rPr>
              <a:t>0.425</a:t>
            </a:r>
            <a:endParaRPr b="0" i="0" sz="1050" u="none" cap="none" strike="noStrike">
              <a:solidFill>
                <a:schemeClr val="dk1"/>
              </a:solidFill>
              <a:latin typeface="Calibri"/>
              <a:ea typeface="Calibri"/>
              <a:cs typeface="Calibri"/>
              <a:sym typeface="Calibri"/>
            </a:endParaRPr>
          </a:p>
        </p:txBody>
      </p:sp>
      <p:sp>
        <p:nvSpPr>
          <p:cNvPr id="355" name="Google Shape;355;p15"/>
          <p:cNvSpPr txBox="1"/>
          <p:nvPr/>
        </p:nvSpPr>
        <p:spPr>
          <a:xfrm>
            <a:off x="457200" y="6199632"/>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5"/>
              </a:buClr>
              <a:buSzPts val="950"/>
              <a:buFont typeface="Calibri"/>
              <a:buNone/>
            </a:pPr>
            <a:r>
              <a:rPr b="0" i="1" lang="en-US" sz="950" u="none" cap="none" strike="noStrike">
                <a:solidFill>
                  <a:srgbClr val="5B6B85"/>
                </a:solidFill>
                <a:latin typeface="Calibri"/>
                <a:ea typeface="Calibri"/>
                <a:cs typeface="Calibri"/>
                <a:sym typeface="Calibri"/>
              </a:rPr>
              <a:t>* n = 187 — vì lý do sử dụng API key free nên kết quả với bộ data so sánh bị hạn chế.</a:t>
            </a:r>
            <a:endParaRPr b="0" i="0" sz="950" u="none" cap="none" strike="noStrike">
              <a:solidFill>
                <a:schemeClr val="dk1"/>
              </a:solidFill>
              <a:latin typeface="Calibri"/>
              <a:ea typeface="Calibri"/>
              <a:cs typeface="Calibri"/>
              <a:sym typeface="Calibri"/>
            </a:endParaRPr>
          </a:p>
        </p:txBody>
      </p:sp>
      <p:sp>
        <p:nvSpPr>
          <p:cNvPr id="356" name="Google Shape;356;p15"/>
          <p:cNvSpPr txBox="1"/>
          <p:nvPr/>
        </p:nvSpPr>
        <p:spPr>
          <a:xfrm>
            <a:off x="457200" y="6547104"/>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5"/>
              </a:buClr>
              <a:buSzPts val="900"/>
              <a:buFont typeface="Calibri"/>
              <a:buNone/>
            </a:pPr>
            <a:r>
              <a:rPr b="0" i="0" lang="en-US" sz="900" u="none" cap="none" strike="noStrike">
                <a:solidFill>
                  <a:srgbClr val="5B6B85"/>
                </a:solidFill>
                <a:latin typeface="Calibri"/>
                <a:ea typeface="Calibri"/>
                <a:cs typeface="Calibri"/>
                <a:sym typeface="Calibri"/>
              </a:rPr>
              <a:t>Self-RAG-Inspired Legal QA  ·  CS2308.CH203</a:t>
            </a:r>
            <a:endParaRPr b="0" i="0" sz="900" u="none" cap="none" strike="noStrike">
              <a:solidFill>
                <a:schemeClr val="dk1"/>
              </a:solidFill>
              <a:latin typeface="Calibri"/>
              <a:ea typeface="Calibri"/>
              <a:cs typeface="Calibri"/>
              <a:sym typeface="Calibri"/>
            </a:endParaRPr>
          </a:p>
        </p:txBody>
      </p:sp>
      <p:sp>
        <p:nvSpPr>
          <p:cNvPr id="357" name="Google Shape;357;p15"/>
          <p:cNvSpPr txBox="1"/>
          <p:nvPr/>
        </p:nvSpPr>
        <p:spPr>
          <a:xfrm>
            <a:off x="11274552" y="6547104"/>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B85"/>
              </a:buClr>
              <a:buSzPts val="900"/>
              <a:buFont typeface="Calibri"/>
              <a:buNone/>
            </a:pPr>
            <a:r>
              <a:rPr b="0" i="0" lang="en-US" sz="900" u="none" cap="none" strike="noStrike">
                <a:solidFill>
                  <a:srgbClr val="5B6B85"/>
                </a:solidFill>
                <a:latin typeface="Calibri"/>
                <a:ea typeface="Calibri"/>
                <a:cs typeface="Calibri"/>
                <a:sym typeface="Calibri"/>
              </a:rPr>
              <a:t>13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362" name="Shape 362"/>
        <p:cNvGrpSpPr/>
        <p:nvPr/>
      </p:nvGrpSpPr>
      <p:grpSpPr>
        <a:xfrm>
          <a:off x="0" y="0"/>
          <a:ext cx="0" cy="0"/>
          <a:chOff x="0" y="0"/>
          <a:chExt cx="0" cy="0"/>
        </a:xfrm>
      </p:grpSpPr>
      <p:sp>
        <p:nvSpPr>
          <p:cNvPr id="363" name="Google Shape;363;p16"/>
          <p:cNvSpPr txBox="1"/>
          <p:nvPr/>
        </p:nvSpPr>
        <p:spPr>
          <a:xfrm>
            <a:off x="457200" y="365760"/>
            <a:ext cx="105156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1200"/>
              <a:buFont typeface="Calibri"/>
              <a:buNone/>
            </a:pPr>
            <a:r>
              <a:rPr b="1" i="0" lang="en-US" sz="1200" u="none" cap="none" strike="noStrike">
                <a:solidFill>
                  <a:srgbClr val="C9A227"/>
                </a:solidFill>
                <a:latin typeface="Calibri"/>
                <a:ea typeface="Calibri"/>
                <a:cs typeface="Calibri"/>
                <a:sym typeface="Calibri"/>
              </a:rPr>
              <a:t>06 · KẾT QUẢ  ·  PHÁT HIỆN QUAN TRỌNG NHẤT</a:t>
            </a:r>
            <a:endParaRPr b="0" i="0" sz="1200" u="none" cap="none" strike="noStrike">
              <a:solidFill>
                <a:schemeClr val="dk1"/>
              </a:solidFill>
              <a:latin typeface="Calibri"/>
              <a:ea typeface="Calibri"/>
              <a:cs typeface="Calibri"/>
              <a:sym typeface="Calibri"/>
            </a:endParaRPr>
          </a:p>
        </p:txBody>
      </p:sp>
      <p:sp>
        <p:nvSpPr>
          <p:cNvPr id="364" name="Google Shape;364;p16"/>
          <p:cNvSpPr txBox="1"/>
          <p:nvPr/>
        </p:nvSpPr>
        <p:spPr>
          <a:xfrm>
            <a:off x="457200" y="621792"/>
            <a:ext cx="1078992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700"/>
              <a:buFont typeface="Times New Roman"/>
              <a:buNone/>
            </a:pPr>
            <a:r>
              <a:rPr b="1" i="0" lang="en-US" sz="2700" u="none" cap="none" strike="noStrike">
                <a:solidFill>
                  <a:srgbClr val="FFFFFF"/>
                </a:solidFill>
                <a:latin typeface="Times New Roman"/>
                <a:ea typeface="Times New Roman"/>
                <a:cs typeface="Times New Roman"/>
                <a:sym typeface="Times New Roman"/>
              </a:rPr>
              <a:t>Ablation: bộ lọc ISREL có cải thiện tính có-căn-cứ hay không?</a:t>
            </a:r>
            <a:endParaRPr b="0" i="0" sz="2700" u="none" cap="none" strike="noStrike">
              <a:solidFill>
                <a:schemeClr val="dk1"/>
              </a:solidFill>
              <a:latin typeface="Calibri"/>
              <a:ea typeface="Calibri"/>
              <a:cs typeface="Calibri"/>
              <a:sym typeface="Calibri"/>
            </a:endParaRPr>
          </a:p>
        </p:txBody>
      </p:sp>
      <p:pic>
        <p:nvPicPr>
          <p:cNvPr id="365" name="Google Shape;365;p16"/>
          <p:cNvPicPr preferRelativeResize="0"/>
          <p:nvPr/>
        </p:nvPicPr>
        <p:blipFill rotWithShape="1">
          <a:blip r:embed="rId3">
            <a:alphaModFix/>
          </a:blip>
          <a:srcRect b="0" l="0" r="0" t="0"/>
          <a:stretch/>
        </p:blipFill>
        <p:spPr>
          <a:xfrm>
            <a:off x="640080" y="1600200"/>
            <a:ext cx="6035040" cy="4572000"/>
          </a:xfrm>
          <a:prstGeom prst="rect">
            <a:avLst/>
          </a:prstGeom>
          <a:noFill/>
          <a:ln>
            <a:noFill/>
          </a:ln>
        </p:spPr>
      </p:pic>
      <p:sp>
        <p:nvSpPr>
          <p:cNvPr id="366" name="Google Shape;366;p16"/>
          <p:cNvSpPr/>
          <p:nvPr/>
        </p:nvSpPr>
        <p:spPr>
          <a:xfrm>
            <a:off x="6995160" y="1737360"/>
            <a:ext cx="4709160" cy="1965960"/>
          </a:xfrm>
          <a:prstGeom prst="roundRect">
            <a:avLst>
              <a:gd fmla="val 3721" name="adj"/>
            </a:avLst>
          </a:prstGeom>
          <a:solidFill>
            <a:srgbClr val="23345A"/>
          </a:solidFill>
          <a:ln>
            <a:noFill/>
          </a:ln>
          <a:effectLst>
            <a:outerShdw blurRad="76200" rotWithShape="0" algn="bl" dir="5400000" dist="25400">
              <a:srgbClr val="1B2A4A">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6"/>
          <p:cNvSpPr txBox="1"/>
          <p:nvPr/>
        </p:nvSpPr>
        <p:spPr>
          <a:xfrm>
            <a:off x="7223760" y="1874520"/>
            <a:ext cx="425196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4600"/>
              <a:buFont typeface="Times New Roman"/>
              <a:buNone/>
            </a:pPr>
            <a:r>
              <a:rPr b="1" i="0" lang="en-US" sz="4600" u="none" cap="none" strike="noStrike">
                <a:solidFill>
                  <a:srgbClr val="C9A227"/>
                </a:solidFill>
                <a:latin typeface="Times New Roman"/>
                <a:ea typeface="Times New Roman"/>
                <a:cs typeface="Times New Roman"/>
                <a:sym typeface="Times New Roman"/>
              </a:rPr>
              <a:t>2.3×</a:t>
            </a:r>
            <a:endParaRPr b="0" i="0" sz="4600" u="none" cap="none" strike="noStrike">
              <a:solidFill>
                <a:schemeClr val="dk1"/>
              </a:solidFill>
              <a:latin typeface="Calibri"/>
              <a:ea typeface="Calibri"/>
              <a:cs typeface="Calibri"/>
              <a:sym typeface="Calibri"/>
            </a:endParaRPr>
          </a:p>
        </p:txBody>
      </p:sp>
      <p:sp>
        <p:nvSpPr>
          <p:cNvPr id="368" name="Google Shape;368;p16"/>
          <p:cNvSpPr txBox="1"/>
          <p:nvPr/>
        </p:nvSpPr>
        <p:spPr>
          <a:xfrm>
            <a:off x="7223760" y="2606040"/>
            <a:ext cx="425196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7ECF5"/>
              </a:buClr>
              <a:buSzPts val="1250"/>
              <a:buFont typeface="Calibri"/>
              <a:buNone/>
            </a:pPr>
            <a:r>
              <a:rPr b="0" i="0" lang="en-US" sz="1250" u="none" cap="none" strike="noStrike">
                <a:solidFill>
                  <a:srgbClr val="E7ECF5"/>
                </a:solidFill>
                <a:latin typeface="Calibri"/>
                <a:ea typeface="Calibri"/>
                <a:cs typeface="Calibri"/>
                <a:sym typeface="Calibri"/>
              </a:rPr>
              <a:t>Tỉ lệ FULLY_SUPPORTED tăng hơn gấp đôi khi ISREL thực sự loại bỏ ≥1 đoạn nhiễu</a:t>
            </a:r>
            <a:endParaRPr b="0" i="0" sz="1250" u="none" cap="none" strike="noStrike">
              <a:solidFill>
                <a:schemeClr val="dk1"/>
              </a:solidFill>
              <a:latin typeface="Calibri"/>
              <a:ea typeface="Calibri"/>
              <a:cs typeface="Calibri"/>
              <a:sym typeface="Calibri"/>
            </a:endParaRPr>
          </a:p>
        </p:txBody>
      </p:sp>
      <p:sp>
        <p:nvSpPr>
          <p:cNvPr id="369" name="Google Shape;369;p16"/>
          <p:cNvSpPr/>
          <p:nvPr/>
        </p:nvSpPr>
        <p:spPr>
          <a:xfrm>
            <a:off x="6995160" y="3931920"/>
            <a:ext cx="4709160" cy="2286000"/>
          </a:xfrm>
          <a:prstGeom prst="roundRect">
            <a:avLst>
              <a:gd fmla="val 3200" name="adj"/>
            </a:avLst>
          </a:prstGeom>
          <a:solidFill>
            <a:srgbClr val="23345A"/>
          </a:solidFill>
          <a:ln>
            <a:noFill/>
          </a:ln>
          <a:effectLst>
            <a:outerShdw blurRad="76200" rotWithShape="0" algn="bl" dir="5400000" dist="25400">
              <a:srgbClr val="1B2A4A">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6"/>
          <p:cNvSpPr txBox="1"/>
          <p:nvPr/>
        </p:nvSpPr>
        <p:spPr>
          <a:xfrm>
            <a:off x="7223760" y="4114800"/>
            <a:ext cx="4251960" cy="1965960"/>
          </a:xfrm>
          <a:prstGeom prst="rect">
            <a:avLst/>
          </a:prstGeom>
          <a:noFill/>
          <a:ln>
            <a:noFill/>
          </a:ln>
        </p:spPr>
        <p:txBody>
          <a:bodyPr anchorCtr="0" anchor="t" bIns="0" lIns="0" spcFirstLastPara="1" rIns="0" wrap="square" tIns="0">
            <a:noAutofit/>
          </a:bodyPr>
          <a:lstStyle/>
          <a:p>
            <a:pPr indent="-342900" lvl="0" marL="342900" marR="0" rtl="0" algn="l">
              <a:lnSpc>
                <a:spcPct val="108000"/>
              </a:lnSpc>
              <a:spcBef>
                <a:spcPts val="0"/>
              </a:spcBef>
              <a:spcAft>
                <a:spcPts val="0"/>
              </a:spcAft>
              <a:buClr>
                <a:srgbClr val="E7ECF5"/>
              </a:buClr>
              <a:buSzPts val="1200"/>
              <a:buFont typeface="Calibri"/>
              <a:buChar char="•"/>
            </a:pPr>
            <a:r>
              <a:rPr b="0" i="0" lang="en-US" sz="1200" u="none" cap="none" strike="noStrike">
                <a:solidFill>
                  <a:srgbClr val="E7ECF5"/>
                </a:solidFill>
                <a:latin typeface="Calibri"/>
                <a:ea typeface="Calibri"/>
                <a:cs typeface="Calibri"/>
                <a:sym typeface="Calibri"/>
              </a:rPr>
              <a:t>Trung bình 5.00 điều luật retrieve → còn 2.39 sau lọc (~52% giữ lại)</a:t>
            </a:r>
            <a:endParaRPr b="0" i="0" sz="1200" u="none" cap="none" strike="noStrike">
              <a:solidFill>
                <a:schemeClr val="dk1"/>
              </a:solidFill>
              <a:latin typeface="Calibri"/>
              <a:ea typeface="Calibri"/>
              <a:cs typeface="Calibri"/>
              <a:sym typeface="Calibri"/>
            </a:endParaRPr>
          </a:p>
          <a:p>
            <a:pPr indent="-342900" lvl="0" marL="342900" marR="0" rtl="0" algn="l">
              <a:lnSpc>
                <a:spcPct val="108000"/>
              </a:lnSpc>
              <a:spcBef>
                <a:spcPts val="800"/>
              </a:spcBef>
              <a:spcAft>
                <a:spcPts val="0"/>
              </a:spcAft>
              <a:buClr>
                <a:srgbClr val="E7ECF5"/>
              </a:buClr>
              <a:buSzPts val="1200"/>
              <a:buFont typeface="Calibri"/>
              <a:buChar char="•"/>
            </a:pPr>
            <a:r>
              <a:rPr b="0" i="0" lang="en-US" sz="1200" u="none" cap="none" strike="noStrike">
                <a:solidFill>
                  <a:srgbClr val="E7ECF5"/>
                </a:solidFill>
                <a:latin typeface="Calibri"/>
                <a:ea typeface="Calibri"/>
                <a:cs typeface="Calibri"/>
                <a:sym typeface="Calibri"/>
              </a:rPr>
              <a:t>78.8% câu hỏi có RETRIEVE=Yes bị lọc bớt ≥1 đoạn</a:t>
            </a:r>
            <a:endParaRPr b="0" i="0" sz="1200" u="none" cap="none" strike="noStrike">
              <a:solidFill>
                <a:schemeClr val="dk1"/>
              </a:solidFill>
              <a:latin typeface="Calibri"/>
              <a:ea typeface="Calibri"/>
              <a:cs typeface="Calibri"/>
              <a:sym typeface="Calibri"/>
            </a:endParaRPr>
          </a:p>
          <a:p>
            <a:pPr indent="-342900" lvl="0" marL="342900" marR="0" rtl="0" algn="l">
              <a:lnSpc>
                <a:spcPct val="108000"/>
              </a:lnSpc>
              <a:spcBef>
                <a:spcPts val="800"/>
              </a:spcBef>
              <a:spcAft>
                <a:spcPts val="0"/>
              </a:spcAft>
              <a:buClr>
                <a:srgbClr val="E7ECF5"/>
              </a:buClr>
              <a:buSzPts val="1200"/>
              <a:buFont typeface="Calibri"/>
              <a:buChar char="•"/>
            </a:pPr>
            <a:r>
              <a:rPr b="0" i="0" lang="en-US" sz="1200" u="none" cap="none" strike="noStrike">
                <a:solidFill>
                  <a:srgbClr val="E7ECF5"/>
                </a:solidFill>
                <a:latin typeface="Calibri"/>
                <a:ea typeface="Calibri"/>
                <a:cs typeface="Calibri"/>
                <a:sym typeface="Calibri"/>
              </a:rPr>
              <a:t>Tái hiện qua 3 lần đánh giá độc lập: 15%→83.2%; 39.0%→90.3%; 39.0%→90.3%</a:t>
            </a:r>
            <a:endParaRPr b="0" i="0" sz="1200" u="none" cap="none" strike="noStrike">
              <a:solidFill>
                <a:schemeClr val="dk1"/>
              </a:solidFill>
              <a:latin typeface="Calibri"/>
              <a:ea typeface="Calibri"/>
              <a:cs typeface="Calibri"/>
              <a:sym typeface="Calibri"/>
            </a:endParaRPr>
          </a:p>
        </p:txBody>
      </p:sp>
      <p:sp>
        <p:nvSpPr>
          <p:cNvPr id="371" name="Google Shape;371;p16"/>
          <p:cNvSpPr txBox="1"/>
          <p:nvPr/>
        </p:nvSpPr>
        <p:spPr>
          <a:xfrm>
            <a:off x="640080" y="626364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9BB5"/>
              </a:buClr>
              <a:buSzPts val="950"/>
              <a:buFont typeface="Calibri"/>
              <a:buNone/>
            </a:pPr>
            <a:r>
              <a:rPr b="0" i="1" lang="en-US" sz="950" u="none" cap="none" strike="noStrike">
                <a:solidFill>
                  <a:srgbClr val="8C9BB5"/>
                </a:solidFill>
                <a:latin typeface="Calibri"/>
                <a:ea typeface="Calibri"/>
                <a:cs typeface="Calibri"/>
                <a:sym typeface="Calibri"/>
              </a:rPr>
              <a:t>* Vì lý do sử dụng API key free nên kết quả với bộ data so sánh bị hạn chế (n = 202/187).</a:t>
            </a:r>
            <a:endParaRPr b="0" i="0" sz="950" u="none" cap="none" strike="noStrike">
              <a:solidFill>
                <a:schemeClr val="dk1"/>
              </a:solidFill>
              <a:latin typeface="Calibri"/>
              <a:ea typeface="Calibri"/>
              <a:cs typeface="Calibri"/>
              <a:sym typeface="Calibri"/>
            </a:endParaRPr>
          </a:p>
        </p:txBody>
      </p:sp>
      <p:sp>
        <p:nvSpPr>
          <p:cNvPr id="372" name="Google Shape;372;p16"/>
          <p:cNvSpPr txBox="1"/>
          <p:nvPr/>
        </p:nvSpPr>
        <p:spPr>
          <a:xfrm>
            <a:off x="457200" y="6547104"/>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9BB5"/>
              </a:buClr>
              <a:buSzPts val="900"/>
              <a:buFont typeface="Calibri"/>
              <a:buNone/>
            </a:pPr>
            <a:r>
              <a:rPr b="0" i="0" lang="en-US" sz="900" u="none" cap="none" strike="noStrike">
                <a:solidFill>
                  <a:srgbClr val="8C9BB5"/>
                </a:solidFill>
                <a:latin typeface="Calibri"/>
                <a:ea typeface="Calibri"/>
                <a:cs typeface="Calibri"/>
                <a:sym typeface="Calibri"/>
              </a:rPr>
              <a:t>Self-RAG-Inspired Legal QA  ·  CS2308.CH203</a:t>
            </a:r>
            <a:endParaRPr b="0" i="0" sz="900" u="none" cap="none" strike="noStrike">
              <a:solidFill>
                <a:schemeClr val="dk1"/>
              </a:solidFill>
              <a:latin typeface="Calibri"/>
              <a:ea typeface="Calibri"/>
              <a:cs typeface="Calibri"/>
              <a:sym typeface="Calibri"/>
            </a:endParaRPr>
          </a:p>
        </p:txBody>
      </p:sp>
      <p:sp>
        <p:nvSpPr>
          <p:cNvPr id="373" name="Google Shape;373;p16"/>
          <p:cNvSpPr txBox="1"/>
          <p:nvPr/>
        </p:nvSpPr>
        <p:spPr>
          <a:xfrm>
            <a:off x="11274552" y="6547104"/>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C9BB5"/>
              </a:buClr>
              <a:buSzPts val="900"/>
              <a:buFont typeface="Calibri"/>
              <a:buNone/>
            </a:pPr>
            <a:r>
              <a:rPr b="0" i="0" lang="en-US" sz="900" u="none" cap="none" strike="noStrike">
                <a:solidFill>
                  <a:srgbClr val="8C9BB5"/>
                </a:solidFill>
                <a:latin typeface="Calibri"/>
                <a:ea typeface="Calibri"/>
                <a:cs typeface="Calibri"/>
                <a:sym typeface="Calibri"/>
              </a:rPr>
              <a:t>14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8" name="Shape 378"/>
        <p:cNvGrpSpPr/>
        <p:nvPr/>
      </p:nvGrpSpPr>
      <p:grpSpPr>
        <a:xfrm>
          <a:off x="0" y="0"/>
          <a:ext cx="0" cy="0"/>
          <a:chOff x="0" y="0"/>
          <a:chExt cx="0" cy="0"/>
        </a:xfrm>
      </p:grpSpPr>
      <p:sp>
        <p:nvSpPr>
          <p:cNvPr id="379" name="Google Shape;379;p17"/>
          <p:cNvSpPr txBox="1"/>
          <p:nvPr/>
        </p:nvSpPr>
        <p:spPr>
          <a:xfrm>
            <a:off x="457200" y="320040"/>
            <a:ext cx="105156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1200"/>
              <a:buFont typeface="Calibri"/>
              <a:buNone/>
            </a:pPr>
            <a:r>
              <a:rPr b="1" i="0" lang="en-US" sz="1200" u="none" cap="none" strike="noStrike">
                <a:solidFill>
                  <a:srgbClr val="C9A227"/>
                </a:solidFill>
                <a:latin typeface="Calibri"/>
                <a:ea typeface="Calibri"/>
                <a:cs typeface="Calibri"/>
                <a:sym typeface="Calibri"/>
              </a:rPr>
              <a:t>06 · KẾT QUẢ</a:t>
            </a:r>
            <a:endParaRPr b="0" i="0" sz="1200" u="none" cap="none" strike="noStrike">
              <a:solidFill>
                <a:schemeClr val="dk1"/>
              </a:solidFill>
              <a:latin typeface="Calibri"/>
              <a:ea typeface="Calibri"/>
              <a:cs typeface="Calibri"/>
              <a:sym typeface="Calibri"/>
            </a:endParaRPr>
          </a:p>
        </p:txBody>
      </p:sp>
      <p:sp>
        <p:nvSpPr>
          <p:cNvPr id="380" name="Google Shape;380;p17"/>
          <p:cNvSpPr txBox="1"/>
          <p:nvPr/>
        </p:nvSpPr>
        <p:spPr>
          <a:xfrm>
            <a:off x="457200" y="566928"/>
            <a:ext cx="1078992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A"/>
              </a:buClr>
              <a:buSzPts val="2800"/>
              <a:buFont typeface="Times New Roman"/>
              <a:buNone/>
            </a:pPr>
            <a:r>
              <a:rPr b="1" i="0" lang="en-US" sz="2800" u="none" cap="none" strike="noStrike">
                <a:solidFill>
                  <a:srgbClr val="1B2A4A"/>
                </a:solidFill>
                <a:latin typeface="Times New Roman"/>
                <a:ea typeface="Times New Roman"/>
                <a:cs typeface="Times New Roman"/>
                <a:sym typeface="Times New Roman"/>
              </a:rPr>
              <a:t>Phân bố các tín hiệu phản tư (n = 202)</a:t>
            </a:r>
            <a:endParaRPr b="0" i="0" sz="2800" u="none" cap="none" strike="noStrike">
              <a:solidFill>
                <a:schemeClr val="dk1"/>
              </a:solidFill>
              <a:latin typeface="Calibri"/>
              <a:ea typeface="Calibri"/>
              <a:cs typeface="Calibri"/>
              <a:sym typeface="Calibri"/>
            </a:endParaRPr>
          </a:p>
        </p:txBody>
      </p:sp>
      <p:sp>
        <p:nvSpPr>
          <p:cNvPr id="381" name="Google Shape;381;p17"/>
          <p:cNvSpPr txBox="1"/>
          <p:nvPr/>
        </p:nvSpPr>
        <p:spPr>
          <a:xfrm>
            <a:off x="457200" y="1691640"/>
            <a:ext cx="103327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1300"/>
              <a:buFont typeface="Calibri"/>
              <a:buNone/>
            </a:pPr>
            <a:r>
              <a:rPr b="1" i="0" lang="en-US" sz="1300" u="none" cap="none" strike="noStrike">
                <a:solidFill>
                  <a:srgbClr val="1B2A4A"/>
                </a:solidFill>
                <a:latin typeface="Calibri"/>
                <a:ea typeface="Calibri"/>
                <a:cs typeface="Calibri"/>
                <a:sym typeface="Calibri"/>
              </a:rPr>
              <a:t>[RETRIEVE]</a:t>
            </a:r>
            <a:endParaRPr b="0" i="0" sz="1300" u="none" cap="none" strike="noStrike">
              <a:solidFill>
                <a:schemeClr val="dk1"/>
              </a:solidFill>
              <a:latin typeface="Calibri"/>
              <a:ea typeface="Calibri"/>
              <a:cs typeface="Calibri"/>
              <a:sym typeface="Calibri"/>
            </a:endParaRPr>
          </a:p>
        </p:txBody>
      </p:sp>
      <p:sp>
        <p:nvSpPr>
          <p:cNvPr id="382" name="Google Shape;382;p17"/>
          <p:cNvSpPr/>
          <p:nvPr/>
        </p:nvSpPr>
        <p:spPr>
          <a:xfrm>
            <a:off x="457200" y="2057400"/>
            <a:ext cx="9867748" cy="457200"/>
          </a:xfrm>
          <a:prstGeom prst="rect">
            <a:avLst/>
          </a:prstGeom>
          <a:solidFill>
            <a:srgbClr val="2E7D5B"/>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7"/>
          <p:cNvSpPr txBox="1"/>
          <p:nvPr/>
        </p:nvSpPr>
        <p:spPr>
          <a:xfrm>
            <a:off x="457200" y="2057400"/>
            <a:ext cx="9867748"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95.5%</a:t>
            </a:r>
            <a:endParaRPr b="0" i="0" sz="1050" u="none" cap="none" strike="noStrike">
              <a:solidFill>
                <a:schemeClr val="dk1"/>
              </a:solidFill>
              <a:latin typeface="Calibri"/>
              <a:ea typeface="Calibri"/>
              <a:cs typeface="Calibri"/>
              <a:sym typeface="Calibri"/>
            </a:endParaRPr>
          </a:p>
        </p:txBody>
      </p:sp>
      <p:sp>
        <p:nvSpPr>
          <p:cNvPr id="384" name="Google Shape;384;p17"/>
          <p:cNvSpPr/>
          <p:nvPr/>
        </p:nvSpPr>
        <p:spPr>
          <a:xfrm>
            <a:off x="10324948" y="2057400"/>
            <a:ext cx="464972" cy="457200"/>
          </a:xfrm>
          <a:prstGeom prst="rect">
            <a:avLst/>
          </a:prstGeom>
          <a:solidFill>
            <a:srgbClr val="C7CEDC"/>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7"/>
          <p:cNvSpPr/>
          <p:nvPr/>
        </p:nvSpPr>
        <p:spPr>
          <a:xfrm>
            <a:off x="457200" y="2651760"/>
            <a:ext cx="128016" cy="128016"/>
          </a:xfrm>
          <a:prstGeom prst="ellipse">
            <a:avLst/>
          </a:prstGeom>
          <a:solidFill>
            <a:srgbClr val="2E7D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7"/>
          <p:cNvSpPr txBox="1"/>
          <p:nvPr/>
        </p:nvSpPr>
        <p:spPr>
          <a:xfrm>
            <a:off x="640080" y="2569464"/>
            <a:ext cx="2377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5"/>
              </a:buClr>
              <a:buSzPts val="950"/>
              <a:buFont typeface="Calibri"/>
              <a:buNone/>
            </a:pPr>
            <a:r>
              <a:rPr b="0" i="0" lang="en-US" sz="950" u="none" cap="none" strike="noStrike">
                <a:solidFill>
                  <a:srgbClr val="5B6B85"/>
                </a:solidFill>
                <a:latin typeface="Calibri"/>
                <a:ea typeface="Calibri"/>
                <a:cs typeface="Calibri"/>
                <a:sym typeface="Calibri"/>
              </a:rPr>
              <a:t>RETRIEVE (95.5%)</a:t>
            </a:r>
            <a:endParaRPr b="0" i="0" sz="950" u="none" cap="none" strike="noStrike">
              <a:solidFill>
                <a:schemeClr val="dk1"/>
              </a:solidFill>
              <a:latin typeface="Calibri"/>
              <a:ea typeface="Calibri"/>
              <a:cs typeface="Calibri"/>
              <a:sym typeface="Calibri"/>
            </a:endParaRPr>
          </a:p>
        </p:txBody>
      </p:sp>
      <p:sp>
        <p:nvSpPr>
          <p:cNvPr id="387" name="Google Shape;387;p17"/>
          <p:cNvSpPr/>
          <p:nvPr/>
        </p:nvSpPr>
        <p:spPr>
          <a:xfrm>
            <a:off x="3154680" y="2651760"/>
            <a:ext cx="128016" cy="128016"/>
          </a:xfrm>
          <a:prstGeom prst="ellipse">
            <a:avLst/>
          </a:prstGeom>
          <a:solidFill>
            <a:srgbClr val="C7CE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7"/>
          <p:cNvSpPr txBox="1"/>
          <p:nvPr/>
        </p:nvSpPr>
        <p:spPr>
          <a:xfrm>
            <a:off x="3337560" y="2569464"/>
            <a:ext cx="2377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5"/>
              </a:buClr>
              <a:buSzPts val="950"/>
              <a:buFont typeface="Calibri"/>
              <a:buNone/>
            </a:pPr>
            <a:r>
              <a:rPr b="0" i="0" lang="en-US" sz="950" u="none" cap="none" strike="noStrike">
                <a:solidFill>
                  <a:srgbClr val="5B6B85"/>
                </a:solidFill>
                <a:latin typeface="Calibri"/>
                <a:ea typeface="Calibri"/>
                <a:cs typeface="Calibri"/>
                <a:sym typeface="Calibri"/>
              </a:rPr>
              <a:t>NO_RETRIEVE (4.5%)</a:t>
            </a:r>
            <a:endParaRPr b="0" i="0" sz="950" u="none" cap="none" strike="noStrike">
              <a:solidFill>
                <a:schemeClr val="dk1"/>
              </a:solidFill>
              <a:latin typeface="Calibri"/>
              <a:ea typeface="Calibri"/>
              <a:cs typeface="Calibri"/>
              <a:sym typeface="Calibri"/>
            </a:endParaRPr>
          </a:p>
        </p:txBody>
      </p:sp>
      <p:sp>
        <p:nvSpPr>
          <p:cNvPr id="389" name="Google Shape;389;p17"/>
          <p:cNvSpPr txBox="1"/>
          <p:nvPr/>
        </p:nvSpPr>
        <p:spPr>
          <a:xfrm>
            <a:off x="457200" y="2880360"/>
            <a:ext cx="103327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1300"/>
              <a:buFont typeface="Calibri"/>
              <a:buNone/>
            </a:pPr>
            <a:r>
              <a:rPr b="1" i="0" lang="en-US" sz="1300" u="none" cap="none" strike="noStrike">
                <a:solidFill>
                  <a:srgbClr val="1B2A4A"/>
                </a:solidFill>
                <a:latin typeface="Calibri"/>
                <a:ea typeface="Calibri"/>
                <a:cs typeface="Calibri"/>
                <a:sym typeface="Calibri"/>
              </a:rPr>
              <a:t>[ISSUP]</a:t>
            </a:r>
            <a:endParaRPr b="0" i="0" sz="1300" u="none" cap="none" strike="noStrike">
              <a:solidFill>
                <a:schemeClr val="dk1"/>
              </a:solidFill>
              <a:latin typeface="Calibri"/>
              <a:ea typeface="Calibri"/>
              <a:cs typeface="Calibri"/>
              <a:sym typeface="Calibri"/>
            </a:endParaRPr>
          </a:p>
        </p:txBody>
      </p:sp>
      <p:sp>
        <p:nvSpPr>
          <p:cNvPr id="390" name="Google Shape;390;p17"/>
          <p:cNvSpPr/>
          <p:nvPr/>
        </p:nvSpPr>
        <p:spPr>
          <a:xfrm>
            <a:off x="457200" y="3246120"/>
            <a:ext cx="6550944" cy="457200"/>
          </a:xfrm>
          <a:prstGeom prst="rect">
            <a:avLst/>
          </a:prstGeom>
          <a:solidFill>
            <a:srgbClr val="2E7D5B"/>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7"/>
          <p:cNvSpPr txBox="1"/>
          <p:nvPr/>
        </p:nvSpPr>
        <p:spPr>
          <a:xfrm>
            <a:off x="457200" y="3246120"/>
            <a:ext cx="6550944"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63.4%</a:t>
            </a:r>
            <a:endParaRPr b="0" i="0" sz="1050" u="none" cap="none" strike="noStrike">
              <a:solidFill>
                <a:schemeClr val="dk1"/>
              </a:solidFill>
              <a:latin typeface="Calibri"/>
              <a:ea typeface="Calibri"/>
              <a:cs typeface="Calibri"/>
              <a:sym typeface="Calibri"/>
            </a:endParaRPr>
          </a:p>
        </p:txBody>
      </p:sp>
      <p:sp>
        <p:nvSpPr>
          <p:cNvPr id="392" name="Google Shape;392;p17"/>
          <p:cNvSpPr/>
          <p:nvPr/>
        </p:nvSpPr>
        <p:spPr>
          <a:xfrm>
            <a:off x="7008144" y="3246120"/>
            <a:ext cx="1787561" cy="457200"/>
          </a:xfrm>
          <a:prstGeom prst="rect">
            <a:avLst/>
          </a:prstGeom>
          <a:solidFill>
            <a:srgbClr val="C9A227"/>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7"/>
          <p:cNvSpPr txBox="1"/>
          <p:nvPr/>
        </p:nvSpPr>
        <p:spPr>
          <a:xfrm>
            <a:off x="7008144" y="3246120"/>
            <a:ext cx="1787561"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17.3%</a:t>
            </a:r>
            <a:endParaRPr b="0" i="0" sz="1050" u="none" cap="none" strike="noStrike">
              <a:solidFill>
                <a:schemeClr val="dk1"/>
              </a:solidFill>
              <a:latin typeface="Calibri"/>
              <a:ea typeface="Calibri"/>
              <a:cs typeface="Calibri"/>
              <a:sym typeface="Calibri"/>
            </a:endParaRPr>
          </a:p>
        </p:txBody>
      </p:sp>
      <p:sp>
        <p:nvSpPr>
          <p:cNvPr id="394" name="Google Shape;394;p17"/>
          <p:cNvSpPr/>
          <p:nvPr/>
        </p:nvSpPr>
        <p:spPr>
          <a:xfrm>
            <a:off x="8795705" y="3246120"/>
            <a:ext cx="103327" cy="457200"/>
          </a:xfrm>
          <a:prstGeom prst="rect">
            <a:avLst/>
          </a:prstGeom>
          <a:solidFill>
            <a:srgbClr val="B23A48"/>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7"/>
          <p:cNvSpPr/>
          <p:nvPr/>
        </p:nvSpPr>
        <p:spPr>
          <a:xfrm>
            <a:off x="8899032" y="3246120"/>
            <a:ext cx="1890888" cy="457200"/>
          </a:xfrm>
          <a:prstGeom prst="rect">
            <a:avLst/>
          </a:prstGeom>
          <a:solidFill>
            <a:srgbClr val="C7CEDC"/>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7"/>
          <p:cNvSpPr txBox="1"/>
          <p:nvPr/>
        </p:nvSpPr>
        <p:spPr>
          <a:xfrm>
            <a:off x="8899032" y="3246120"/>
            <a:ext cx="1890888"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18.3%</a:t>
            </a:r>
            <a:endParaRPr b="0" i="0" sz="1050" u="none" cap="none" strike="noStrike">
              <a:solidFill>
                <a:schemeClr val="dk1"/>
              </a:solidFill>
              <a:latin typeface="Calibri"/>
              <a:ea typeface="Calibri"/>
              <a:cs typeface="Calibri"/>
              <a:sym typeface="Calibri"/>
            </a:endParaRPr>
          </a:p>
        </p:txBody>
      </p:sp>
      <p:sp>
        <p:nvSpPr>
          <p:cNvPr id="397" name="Google Shape;397;p17"/>
          <p:cNvSpPr/>
          <p:nvPr/>
        </p:nvSpPr>
        <p:spPr>
          <a:xfrm>
            <a:off x="457200" y="3840480"/>
            <a:ext cx="128016" cy="128016"/>
          </a:xfrm>
          <a:prstGeom prst="ellipse">
            <a:avLst/>
          </a:prstGeom>
          <a:solidFill>
            <a:srgbClr val="2E7D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7"/>
          <p:cNvSpPr txBox="1"/>
          <p:nvPr/>
        </p:nvSpPr>
        <p:spPr>
          <a:xfrm>
            <a:off x="640080" y="3758184"/>
            <a:ext cx="2377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5"/>
              </a:buClr>
              <a:buSzPts val="950"/>
              <a:buFont typeface="Calibri"/>
              <a:buNone/>
            </a:pPr>
            <a:r>
              <a:rPr b="0" i="0" lang="en-US" sz="950" u="none" cap="none" strike="noStrike">
                <a:solidFill>
                  <a:srgbClr val="5B6B85"/>
                </a:solidFill>
                <a:latin typeface="Calibri"/>
                <a:ea typeface="Calibri"/>
                <a:cs typeface="Calibri"/>
                <a:sym typeface="Calibri"/>
              </a:rPr>
              <a:t>Fully (63.4%)</a:t>
            </a:r>
            <a:endParaRPr b="0" i="0" sz="950" u="none" cap="none" strike="noStrike">
              <a:solidFill>
                <a:schemeClr val="dk1"/>
              </a:solidFill>
              <a:latin typeface="Calibri"/>
              <a:ea typeface="Calibri"/>
              <a:cs typeface="Calibri"/>
              <a:sym typeface="Calibri"/>
            </a:endParaRPr>
          </a:p>
        </p:txBody>
      </p:sp>
      <p:sp>
        <p:nvSpPr>
          <p:cNvPr id="399" name="Google Shape;399;p17"/>
          <p:cNvSpPr/>
          <p:nvPr/>
        </p:nvSpPr>
        <p:spPr>
          <a:xfrm>
            <a:off x="2743200" y="3840480"/>
            <a:ext cx="128016" cy="128016"/>
          </a:xfrm>
          <a:prstGeom prst="ellipse">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7"/>
          <p:cNvSpPr txBox="1"/>
          <p:nvPr/>
        </p:nvSpPr>
        <p:spPr>
          <a:xfrm>
            <a:off x="2926080" y="3758184"/>
            <a:ext cx="2377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5"/>
              </a:buClr>
              <a:buSzPts val="950"/>
              <a:buFont typeface="Calibri"/>
              <a:buNone/>
            </a:pPr>
            <a:r>
              <a:rPr b="0" i="0" lang="en-US" sz="950" u="none" cap="none" strike="noStrike">
                <a:solidFill>
                  <a:srgbClr val="5B6B85"/>
                </a:solidFill>
                <a:latin typeface="Calibri"/>
                <a:ea typeface="Calibri"/>
                <a:cs typeface="Calibri"/>
                <a:sym typeface="Calibri"/>
              </a:rPr>
              <a:t>Partially (17.3%)</a:t>
            </a:r>
            <a:endParaRPr b="0" i="0" sz="950" u="none" cap="none" strike="noStrike">
              <a:solidFill>
                <a:schemeClr val="dk1"/>
              </a:solidFill>
              <a:latin typeface="Calibri"/>
              <a:ea typeface="Calibri"/>
              <a:cs typeface="Calibri"/>
              <a:sym typeface="Calibri"/>
            </a:endParaRPr>
          </a:p>
        </p:txBody>
      </p:sp>
      <p:sp>
        <p:nvSpPr>
          <p:cNvPr id="401" name="Google Shape;401;p17"/>
          <p:cNvSpPr/>
          <p:nvPr/>
        </p:nvSpPr>
        <p:spPr>
          <a:xfrm>
            <a:off x="5577840" y="3840480"/>
            <a:ext cx="128016" cy="128016"/>
          </a:xfrm>
          <a:prstGeom prst="ellipse">
            <a:avLst/>
          </a:prstGeom>
          <a:solidFill>
            <a:srgbClr val="B23A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7"/>
          <p:cNvSpPr txBox="1"/>
          <p:nvPr/>
        </p:nvSpPr>
        <p:spPr>
          <a:xfrm>
            <a:off x="5760720" y="3758184"/>
            <a:ext cx="2377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5"/>
              </a:buClr>
              <a:buSzPts val="950"/>
              <a:buFont typeface="Calibri"/>
              <a:buNone/>
            </a:pPr>
            <a:r>
              <a:rPr b="0" i="0" lang="en-US" sz="950" u="none" cap="none" strike="noStrike">
                <a:solidFill>
                  <a:srgbClr val="5B6B85"/>
                </a:solidFill>
                <a:latin typeface="Calibri"/>
                <a:ea typeface="Calibri"/>
                <a:cs typeface="Calibri"/>
                <a:sym typeface="Calibri"/>
              </a:rPr>
              <a:t>No support (1.0%)</a:t>
            </a:r>
            <a:endParaRPr b="0" i="0" sz="950" u="none" cap="none" strike="noStrike">
              <a:solidFill>
                <a:schemeClr val="dk1"/>
              </a:solidFill>
              <a:latin typeface="Calibri"/>
              <a:ea typeface="Calibri"/>
              <a:cs typeface="Calibri"/>
              <a:sym typeface="Calibri"/>
            </a:endParaRPr>
          </a:p>
        </p:txBody>
      </p:sp>
      <p:sp>
        <p:nvSpPr>
          <p:cNvPr id="403" name="Google Shape;403;p17"/>
          <p:cNvSpPr/>
          <p:nvPr/>
        </p:nvSpPr>
        <p:spPr>
          <a:xfrm>
            <a:off x="8412480" y="3840480"/>
            <a:ext cx="128016" cy="128016"/>
          </a:xfrm>
          <a:prstGeom prst="ellipse">
            <a:avLst/>
          </a:prstGeom>
          <a:solidFill>
            <a:srgbClr val="C7CED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7"/>
          <p:cNvSpPr txBox="1"/>
          <p:nvPr/>
        </p:nvSpPr>
        <p:spPr>
          <a:xfrm>
            <a:off x="8595360" y="3758184"/>
            <a:ext cx="2377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5"/>
              </a:buClr>
              <a:buSzPts val="950"/>
              <a:buFont typeface="Calibri"/>
              <a:buNone/>
            </a:pPr>
            <a:r>
              <a:rPr b="0" i="0" lang="en-US" sz="950" u="none" cap="none" strike="noStrike">
                <a:solidFill>
                  <a:srgbClr val="5B6B85"/>
                </a:solidFill>
                <a:latin typeface="Calibri"/>
                <a:ea typeface="Calibri"/>
                <a:cs typeface="Calibri"/>
                <a:sym typeface="Calibri"/>
              </a:rPr>
              <a:t>N/A (18.3%)</a:t>
            </a:r>
            <a:endParaRPr b="0" i="0" sz="950" u="none" cap="none" strike="noStrike">
              <a:solidFill>
                <a:schemeClr val="dk1"/>
              </a:solidFill>
              <a:latin typeface="Calibri"/>
              <a:ea typeface="Calibri"/>
              <a:cs typeface="Calibri"/>
              <a:sym typeface="Calibri"/>
            </a:endParaRPr>
          </a:p>
        </p:txBody>
      </p:sp>
      <p:sp>
        <p:nvSpPr>
          <p:cNvPr id="405" name="Google Shape;405;p17"/>
          <p:cNvSpPr txBox="1"/>
          <p:nvPr/>
        </p:nvSpPr>
        <p:spPr>
          <a:xfrm>
            <a:off x="457200" y="4069080"/>
            <a:ext cx="103327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1300"/>
              <a:buFont typeface="Calibri"/>
              <a:buNone/>
            </a:pPr>
            <a:r>
              <a:rPr b="1" i="0" lang="en-US" sz="1300" u="none" cap="none" strike="noStrike">
                <a:solidFill>
                  <a:srgbClr val="1B2A4A"/>
                </a:solidFill>
                <a:latin typeface="Calibri"/>
                <a:ea typeface="Calibri"/>
                <a:cs typeface="Calibri"/>
                <a:sym typeface="Calibri"/>
              </a:rPr>
              <a:t>[ISUSE]</a:t>
            </a:r>
            <a:endParaRPr b="0" i="0" sz="1300" u="none" cap="none" strike="noStrike">
              <a:solidFill>
                <a:schemeClr val="dk1"/>
              </a:solidFill>
              <a:latin typeface="Calibri"/>
              <a:ea typeface="Calibri"/>
              <a:cs typeface="Calibri"/>
              <a:sym typeface="Calibri"/>
            </a:endParaRPr>
          </a:p>
        </p:txBody>
      </p:sp>
      <p:sp>
        <p:nvSpPr>
          <p:cNvPr id="406" name="Google Shape;406;p17"/>
          <p:cNvSpPr/>
          <p:nvPr/>
        </p:nvSpPr>
        <p:spPr>
          <a:xfrm>
            <a:off x="457200" y="4434840"/>
            <a:ext cx="6395954" cy="457200"/>
          </a:xfrm>
          <a:prstGeom prst="rect">
            <a:avLst/>
          </a:prstGeom>
          <a:solidFill>
            <a:srgbClr val="2E7D5B"/>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7"/>
          <p:cNvSpPr txBox="1"/>
          <p:nvPr/>
        </p:nvSpPr>
        <p:spPr>
          <a:xfrm>
            <a:off x="457200" y="4434840"/>
            <a:ext cx="6395954"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61.9%</a:t>
            </a:r>
            <a:endParaRPr b="0" i="0" sz="1050" u="none" cap="none" strike="noStrike">
              <a:solidFill>
                <a:schemeClr val="dk1"/>
              </a:solidFill>
              <a:latin typeface="Calibri"/>
              <a:ea typeface="Calibri"/>
              <a:cs typeface="Calibri"/>
              <a:sym typeface="Calibri"/>
            </a:endParaRPr>
          </a:p>
        </p:txBody>
      </p:sp>
      <p:sp>
        <p:nvSpPr>
          <p:cNvPr id="408" name="Google Shape;408;p17"/>
          <p:cNvSpPr/>
          <p:nvPr/>
        </p:nvSpPr>
        <p:spPr>
          <a:xfrm>
            <a:off x="6853154" y="4434840"/>
            <a:ext cx="3533790" cy="457200"/>
          </a:xfrm>
          <a:prstGeom prst="rect">
            <a:avLst/>
          </a:prstGeom>
          <a:solidFill>
            <a:srgbClr val="C9A227"/>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7"/>
          <p:cNvSpPr txBox="1"/>
          <p:nvPr/>
        </p:nvSpPr>
        <p:spPr>
          <a:xfrm>
            <a:off x="6853154" y="4434840"/>
            <a:ext cx="3533790" cy="457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i="0" lang="en-US" sz="1050" u="none" cap="none" strike="noStrike">
                <a:solidFill>
                  <a:srgbClr val="FFFFFF"/>
                </a:solidFill>
                <a:latin typeface="Calibri"/>
                <a:ea typeface="Calibri"/>
                <a:cs typeface="Calibri"/>
                <a:sym typeface="Calibri"/>
              </a:rPr>
              <a:t>34.2%</a:t>
            </a:r>
            <a:endParaRPr b="0" i="0" sz="1050" u="none" cap="none" strike="noStrike">
              <a:solidFill>
                <a:schemeClr val="dk1"/>
              </a:solidFill>
              <a:latin typeface="Calibri"/>
              <a:ea typeface="Calibri"/>
              <a:cs typeface="Calibri"/>
              <a:sym typeface="Calibri"/>
            </a:endParaRPr>
          </a:p>
        </p:txBody>
      </p:sp>
      <p:sp>
        <p:nvSpPr>
          <p:cNvPr id="410" name="Google Shape;410;p17"/>
          <p:cNvSpPr/>
          <p:nvPr/>
        </p:nvSpPr>
        <p:spPr>
          <a:xfrm>
            <a:off x="10386944" y="4434840"/>
            <a:ext cx="413309" cy="457200"/>
          </a:xfrm>
          <a:prstGeom prst="rect">
            <a:avLst/>
          </a:prstGeom>
          <a:solidFill>
            <a:srgbClr val="B23A48"/>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7"/>
          <p:cNvSpPr/>
          <p:nvPr/>
        </p:nvSpPr>
        <p:spPr>
          <a:xfrm>
            <a:off x="457200" y="5029200"/>
            <a:ext cx="128016" cy="128016"/>
          </a:xfrm>
          <a:prstGeom prst="ellipse">
            <a:avLst/>
          </a:prstGeom>
          <a:solidFill>
            <a:srgbClr val="2E7D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7"/>
          <p:cNvSpPr txBox="1"/>
          <p:nvPr/>
        </p:nvSpPr>
        <p:spPr>
          <a:xfrm>
            <a:off x="640080" y="4946904"/>
            <a:ext cx="2377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5"/>
              </a:buClr>
              <a:buSzPts val="950"/>
              <a:buFont typeface="Calibri"/>
              <a:buNone/>
            </a:pPr>
            <a:r>
              <a:rPr b="0" i="0" lang="en-US" sz="950" u="none" cap="none" strike="noStrike">
                <a:solidFill>
                  <a:srgbClr val="5B6B85"/>
                </a:solidFill>
                <a:latin typeface="Calibri"/>
                <a:ea typeface="Calibri"/>
                <a:cs typeface="Calibri"/>
                <a:sym typeface="Calibri"/>
              </a:rPr>
              <a:t>Useful (61.9%)</a:t>
            </a:r>
            <a:endParaRPr b="0" i="0" sz="950" u="none" cap="none" strike="noStrike">
              <a:solidFill>
                <a:schemeClr val="dk1"/>
              </a:solidFill>
              <a:latin typeface="Calibri"/>
              <a:ea typeface="Calibri"/>
              <a:cs typeface="Calibri"/>
              <a:sym typeface="Calibri"/>
            </a:endParaRPr>
          </a:p>
        </p:txBody>
      </p:sp>
      <p:sp>
        <p:nvSpPr>
          <p:cNvPr id="413" name="Google Shape;413;p17"/>
          <p:cNvSpPr/>
          <p:nvPr/>
        </p:nvSpPr>
        <p:spPr>
          <a:xfrm>
            <a:off x="2880360" y="5029200"/>
            <a:ext cx="128016" cy="128016"/>
          </a:xfrm>
          <a:prstGeom prst="ellipse">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7"/>
          <p:cNvSpPr txBox="1"/>
          <p:nvPr/>
        </p:nvSpPr>
        <p:spPr>
          <a:xfrm>
            <a:off x="3063240" y="4946904"/>
            <a:ext cx="2377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5"/>
              </a:buClr>
              <a:buSzPts val="950"/>
              <a:buFont typeface="Calibri"/>
              <a:buNone/>
            </a:pPr>
            <a:r>
              <a:rPr b="0" i="0" lang="en-US" sz="950" u="none" cap="none" strike="noStrike">
                <a:solidFill>
                  <a:srgbClr val="5B6B85"/>
                </a:solidFill>
                <a:latin typeface="Calibri"/>
                <a:ea typeface="Calibri"/>
                <a:cs typeface="Calibri"/>
                <a:sym typeface="Calibri"/>
              </a:rPr>
              <a:t>Partially (34.2%)</a:t>
            </a:r>
            <a:endParaRPr b="0" i="0" sz="950" u="none" cap="none" strike="noStrike">
              <a:solidFill>
                <a:schemeClr val="dk1"/>
              </a:solidFill>
              <a:latin typeface="Calibri"/>
              <a:ea typeface="Calibri"/>
              <a:cs typeface="Calibri"/>
              <a:sym typeface="Calibri"/>
            </a:endParaRPr>
          </a:p>
        </p:txBody>
      </p:sp>
      <p:sp>
        <p:nvSpPr>
          <p:cNvPr id="415" name="Google Shape;415;p17"/>
          <p:cNvSpPr/>
          <p:nvPr/>
        </p:nvSpPr>
        <p:spPr>
          <a:xfrm>
            <a:off x="5715000" y="5029200"/>
            <a:ext cx="128016" cy="128016"/>
          </a:xfrm>
          <a:prstGeom prst="ellipse">
            <a:avLst/>
          </a:prstGeom>
          <a:solidFill>
            <a:srgbClr val="B23A4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7"/>
          <p:cNvSpPr txBox="1"/>
          <p:nvPr/>
        </p:nvSpPr>
        <p:spPr>
          <a:xfrm>
            <a:off x="5897880" y="4946904"/>
            <a:ext cx="2377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5"/>
              </a:buClr>
              <a:buSzPts val="950"/>
              <a:buFont typeface="Calibri"/>
              <a:buNone/>
            </a:pPr>
            <a:r>
              <a:rPr b="0" i="0" lang="en-US" sz="950" u="none" cap="none" strike="noStrike">
                <a:solidFill>
                  <a:srgbClr val="5B6B85"/>
                </a:solidFill>
                <a:latin typeface="Calibri"/>
                <a:ea typeface="Calibri"/>
                <a:cs typeface="Calibri"/>
                <a:sym typeface="Calibri"/>
              </a:rPr>
              <a:t>Not useful (4.0%)</a:t>
            </a:r>
            <a:endParaRPr b="0" i="0" sz="950" u="none" cap="none" strike="noStrike">
              <a:solidFill>
                <a:schemeClr val="dk1"/>
              </a:solidFill>
              <a:latin typeface="Calibri"/>
              <a:ea typeface="Calibri"/>
              <a:cs typeface="Calibri"/>
              <a:sym typeface="Calibri"/>
            </a:endParaRPr>
          </a:p>
        </p:txBody>
      </p:sp>
      <p:sp>
        <p:nvSpPr>
          <p:cNvPr id="417" name="Google Shape;417;p17"/>
          <p:cNvSpPr/>
          <p:nvPr/>
        </p:nvSpPr>
        <p:spPr>
          <a:xfrm>
            <a:off x="457200" y="5257800"/>
            <a:ext cx="10332720" cy="868680"/>
          </a:xfrm>
          <a:prstGeom prst="roundRect">
            <a:avLst>
              <a:gd fmla="val 8421" name="adj"/>
            </a:avLst>
          </a:prstGeom>
          <a:solidFill>
            <a:srgbClr val="EEF1F6"/>
          </a:solidFill>
          <a:ln>
            <a:noFill/>
          </a:ln>
          <a:effectLst>
            <a:outerShdw blurRad="76200" rotWithShape="0" algn="bl" dir="5400000" dist="25400">
              <a:srgbClr val="1B2A4A">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8" name="Google Shape;418;p17"/>
          <p:cNvSpPr txBox="1"/>
          <p:nvPr/>
        </p:nvSpPr>
        <p:spPr>
          <a:xfrm>
            <a:off x="731520" y="5394960"/>
            <a:ext cx="978408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5A80"/>
              </a:buClr>
              <a:buSzPts val="1150"/>
              <a:buFont typeface="Calibri"/>
              <a:buNone/>
            </a:pPr>
            <a:r>
              <a:rPr b="0" i="1" lang="en-US" sz="1150" u="none" cap="none" strike="noStrike">
                <a:solidFill>
                  <a:srgbClr val="3D5A80"/>
                </a:solidFill>
                <a:latin typeface="Calibri"/>
                <a:ea typeface="Calibri"/>
                <a:cs typeface="Calibri"/>
                <a:sym typeface="Calibri"/>
              </a:rPr>
              <a:t>9/202 câu NO_RETRIEVE hầu hết là câu hỏi chính sách/quy hoạch/kiến thức chung — không cần trích dẫn điều luật cụ thể.</a:t>
            </a:r>
            <a:endParaRPr b="0" i="0" sz="1150" u="none" cap="none" strike="noStrike">
              <a:solidFill>
                <a:schemeClr val="dk1"/>
              </a:solidFill>
              <a:latin typeface="Calibri"/>
              <a:ea typeface="Calibri"/>
              <a:cs typeface="Calibri"/>
              <a:sym typeface="Calibri"/>
            </a:endParaRPr>
          </a:p>
        </p:txBody>
      </p:sp>
      <p:sp>
        <p:nvSpPr>
          <p:cNvPr id="419" name="Google Shape;419;p17"/>
          <p:cNvSpPr txBox="1"/>
          <p:nvPr/>
        </p:nvSpPr>
        <p:spPr>
          <a:xfrm>
            <a:off x="457200" y="6547104"/>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5"/>
              </a:buClr>
              <a:buSzPts val="900"/>
              <a:buFont typeface="Calibri"/>
              <a:buNone/>
            </a:pPr>
            <a:r>
              <a:rPr b="0" i="0" lang="en-US" sz="900" u="none" cap="none" strike="noStrike">
                <a:solidFill>
                  <a:srgbClr val="5B6B85"/>
                </a:solidFill>
                <a:latin typeface="Calibri"/>
                <a:ea typeface="Calibri"/>
                <a:cs typeface="Calibri"/>
                <a:sym typeface="Calibri"/>
              </a:rPr>
              <a:t>Self-RAG-Inspired Legal QA  ·  CS2308.CH203</a:t>
            </a:r>
            <a:endParaRPr b="0" i="0" sz="900" u="none" cap="none" strike="noStrike">
              <a:solidFill>
                <a:schemeClr val="dk1"/>
              </a:solidFill>
              <a:latin typeface="Calibri"/>
              <a:ea typeface="Calibri"/>
              <a:cs typeface="Calibri"/>
              <a:sym typeface="Calibri"/>
            </a:endParaRPr>
          </a:p>
        </p:txBody>
      </p:sp>
      <p:sp>
        <p:nvSpPr>
          <p:cNvPr id="420" name="Google Shape;420;p17"/>
          <p:cNvSpPr txBox="1"/>
          <p:nvPr/>
        </p:nvSpPr>
        <p:spPr>
          <a:xfrm>
            <a:off x="11274552" y="6547104"/>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B85"/>
              </a:buClr>
              <a:buSzPts val="900"/>
              <a:buFont typeface="Calibri"/>
              <a:buNone/>
            </a:pPr>
            <a:r>
              <a:rPr b="0" i="0" lang="en-US" sz="900" u="none" cap="none" strike="noStrike">
                <a:solidFill>
                  <a:srgbClr val="5B6B85"/>
                </a:solidFill>
                <a:latin typeface="Calibri"/>
                <a:ea typeface="Calibri"/>
                <a:cs typeface="Calibri"/>
                <a:sym typeface="Calibri"/>
              </a:rPr>
              <a:t>15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5" name="Shape 425"/>
        <p:cNvGrpSpPr/>
        <p:nvPr/>
      </p:nvGrpSpPr>
      <p:grpSpPr>
        <a:xfrm>
          <a:off x="0" y="0"/>
          <a:ext cx="0" cy="0"/>
          <a:chOff x="0" y="0"/>
          <a:chExt cx="0" cy="0"/>
        </a:xfrm>
      </p:grpSpPr>
      <p:sp>
        <p:nvSpPr>
          <p:cNvPr id="426" name="Google Shape;426;p18"/>
          <p:cNvSpPr txBox="1"/>
          <p:nvPr/>
        </p:nvSpPr>
        <p:spPr>
          <a:xfrm>
            <a:off x="457200" y="320040"/>
            <a:ext cx="105156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1200"/>
              <a:buFont typeface="Calibri"/>
              <a:buNone/>
            </a:pPr>
            <a:r>
              <a:rPr b="1" i="0" lang="en-US" sz="1200" u="none" cap="none" strike="noStrike">
                <a:solidFill>
                  <a:srgbClr val="C9A227"/>
                </a:solidFill>
                <a:latin typeface="Calibri"/>
                <a:ea typeface="Calibri"/>
                <a:cs typeface="Calibri"/>
                <a:sym typeface="Calibri"/>
              </a:rPr>
              <a:t>07 · CASE STUDY</a:t>
            </a:r>
            <a:endParaRPr b="0" i="0" sz="1200" u="none" cap="none" strike="noStrike">
              <a:solidFill>
                <a:schemeClr val="dk1"/>
              </a:solidFill>
              <a:latin typeface="Calibri"/>
              <a:ea typeface="Calibri"/>
              <a:cs typeface="Calibri"/>
              <a:sym typeface="Calibri"/>
            </a:endParaRPr>
          </a:p>
        </p:txBody>
      </p:sp>
      <p:sp>
        <p:nvSpPr>
          <p:cNvPr id="427" name="Google Shape;427;p18"/>
          <p:cNvSpPr txBox="1"/>
          <p:nvPr/>
        </p:nvSpPr>
        <p:spPr>
          <a:xfrm>
            <a:off x="457200" y="566928"/>
            <a:ext cx="1078992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A"/>
              </a:buClr>
              <a:buSzPts val="2800"/>
              <a:buFont typeface="Times New Roman"/>
              <a:buNone/>
            </a:pPr>
            <a:r>
              <a:rPr b="1" i="0" lang="en-US" sz="2800" u="none" cap="none" strike="noStrike">
                <a:solidFill>
                  <a:srgbClr val="1B2A4A"/>
                </a:solidFill>
                <a:latin typeface="Times New Roman"/>
                <a:ea typeface="Times New Roman"/>
                <a:cs typeface="Times New Roman"/>
                <a:sym typeface="Times New Roman"/>
              </a:rPr>
              <a:t>Minh chứng thành công: ISREL loại bỏ nhiễu giúp trả lời đúng</a:t>
            </a:r>
            <a:endParaRPr b="0" i="0" sz="2800" u="none" cap="none" strike="noStrike">
              <a:solidFill>
                <a:schemeClr val="dk1"/>
              </a:solidFill>
              <a:latin typeface="Calibri"/>
              <a:ea typeface="Calibri"/>
              <a:cs typeface="Calibri"/>
              <a:sym typeface="Calibri"/>
            </a:endParaRPr>
          </a:p>
        </p:txBody>
      </p:sp>
      <p:sp>
        <p:nvSpPr>
          <p:cNvPr id="428" name="Google Shape;428;p18"/>
          <p:cNvSpPr/>
          <p:nvPr/>
        </p:nvSpPr>
        <p:spPr>
          <a:xfrm>
            <a:off x="457200" y="1554480"/>
            <a:ext cx="11274552" cy="2148840"/>
          </a:xfrm>
          <a:prstGeom prst="roundRect">
            <a:avLst>
              <a:gd fmla="val 3404" name="adj"/>
            </a:avLst>
          </a:prstGeom>
          <a:solidFill>
            <a:srgbClr val="EEF1F6"/>
          </a:solidFill>
          <a:ln>
            <a:noFill/>
          </a:ln>
          <a:effectLst>
            <a:outerShdw blurRad="76200" rotWithShape="0" algn="bl" dir="5400000" dist="25400">
              <a:srgbClr val="1B2A4A">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8"/>
          <p:cNvSpPr txBox="1"/>
          <p:nvPr/>
        </p:nvSpPr>
        <p:spPr>
          <a:xfrm>
            <a:off x="731520" y="1691640"/>
            <a:ext cx="1828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1050"/>
              <a:buFont typeface="Calibri"/>
              <a:buNone/>
            </a:pPr>
            <a:r>
              <a:rPr b="1" i="0" lang="en-US" sz="1050" u="none" cap="none" strike="noStrike">
                <a:solidFill>
                  <a:srgbClr val="C9A227"/>
                </a:solidFill>
                <a:latin typeface="Calibri"/>
                <a:ea typeface="Calibri"/>
                <a:cs typeface="Calibri"/>
                <a:sym typeface="Calibri"/>
              </a:rPr>
              <a:t>qid 885</a:t>
            </a:r>
            <a:endParaRPr b="0" i="0" sz="1050" u="none" cap="none" strike="noStrike">
              <a:solidFill>
                <a:schemeClr val="dk1"/>
              </a:solidFill>
              <a:latin typeface="Calibri"/>
              <a:ea typeface="Calibri"/>
              <a:cs typeface="Calibri"/>
              <a:sym typeface="Calibri"/>
            </a:endParaRPr>
          </a:p>
        </p:txBody>
      </p:sp>
      <p:sp>
        <p:nvSpPr>
          <p:cNvPr id="430" name="Google Shape;430;p18"/>
          <p:cNvSpPr txBox="1"/>
          <p:nvPr/>
        </p:nvSpPr>
        <p:spPr>
          <a:xfrm>
            <a:off x="731520" y="1938528"/>
            <a:ext cx="996696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A"/>
              </a:buClr>
              <a:buSzPts val="1200"/>
              <a:buFont typeface="Calibri"/>
              <a:buNone/>
            </a:pPr>
            <a:r>
              <a:rPr b="0" i="1" lang="en-US" sz="1200" u="none" cap="none" strike="noStrike">
                <a:solidFill>
                  <a:srgbClr val="1B2A4A"/>
                </a:solidFill>
                <a:latin typeface="Calibri"/>
                <a:ea typeface="Calibri"/>
                <a:cs typeface="Calibri"/>
                <a:sym typeface="Calibri"/>
              </a:rPr>
              <a:t>“Bố mẹ chồng tôi mất do tai nạn, không để lại di chúc. Tôi là con dâu... tôi có được thừa kế không?”</a:t>
            </a:r>
            <a:endParaRPr b="0" i="0" sz="1200" u="none" cap="none" strike="noStrike">
              <a:solidFill>
                <a:schemeClr val="dk1"/>
              </a:solidFill>
              <a:latin typeface="Calibri"/>
              <a:ea typeface="Calibri"/>
              <a:cs typeface="Calibri"/>
              <a:sym typeface="Calibri"/>
            </a:endParaRPr>
          </a:p>
        </p:txBody>
      </p:sp>
      <p:cxnSp>
        <p:nvCxnSpPr>
          <p:cNvPr id="431" name="Google Shape;431;p18"/>
          <p:cNvCxnSpPr/>
          <p:nvPr/>
        </p:nvCxnSpPr>
        <p:spPr>
          <a:xfrm>
            <a:off x="5806440" y="2423160"/>
            <a:ext cx="0" cy="1143000"/>
          </a:xfrm>
          <a:prstGeom prst="straightConnector1">
            <a:avLst/>
          </a:prstGeom>
          <a:noFill/>
          <a:ln cap="flat" cmpd="sng" w="12700">
            <a:solidFill>
              <a:srgbClr val="C7CEDC"/>
            </a:solidFill>
            <a:prstDash val="solid"/>
            <a:round/>
            <a:headEnd len="sm" w="sm" type="none"/>
            <a:tailEnd len="sm" w="sm" type="none"/>
          </a:ln>
        </p:spPr>
      </p:cxnSp>
      <p:sp>
        <p:nvSpPr>
          <p:cNvPr id="432" name="Google Shape;432;p18"/>
          <p:cNvSpPr txBox="1"/>
          <p:nvPr/>
        </p:nvSpPr>
        <p:spPr>
          <a:xfrm>
            <a:off x="731520" y="2423160"/>
            <a:ext cx="4937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23A48"/>
              </a:buClr>
              <a:buSzPts val="1150"/>
              <a:buFont typeface="Calibri"/>
              <a:buNone/>
            </a:pPr>
            <a:r>
              <a:rPr b="1" i="0" lang="en-US" sz="1150" u="none" cap="none" strike="noStrike">
                <a:solidFill>
                  <a:srgbClr val="B23A48"/>
                </a:solidFill>
                <a:latin typeface="Calibri"/>
                <a:ea typeface="Calibri"/>
                <a:cs typeface="Calibri"/>
                <a:sym typeface="Calibri"/>
              </a:rPr>
              <a:t>Standard RAG  </a:t>
            </a:r>
            <a:r>
              <a:rPr b="1" i="0" lang="en-US" sz="1000" u="none" cap="none" strike="noStrike">
                <a:solidFill>
                  <a:srgbClr val="B23A48"/>
                </a:solidFill>
                <a:latin typeface="Calibri"/>
                <a:ea typeface="Calibri"/>
                <a:cs typeface="Calibri"/>
                <a:sym typeface="Calibri"/>
              </a:rPr>
              <a:t>(INCORRECT)</a:t>
            </a:r>
            <a:endParaRPr b="0" i="0" sz="1150" u="none" cap="none" strike="noStrike">
              <a:solidFill>
                <a:schemeClr val="dk1"/>
              </a:solidFill>
              <a:latin typeface="Calibri"/>
              <a:ea typeface="Calibri"/>
              <a:cs typeface="Calibri"/>
              <a:sym typeface="Calibri"/>
            </a:endParaRPr>
          </a:p>
        </p:txBody>
      </p:sp>
      <p:sp>
        <p:nvSpPr>
          <p:cNvPr id="433" name="Google Shape;433;p18"/>
          <p:cNvSpPr txBox="1"/>
          <p:nvPr/>
        </p:nvSpPr>
        <p:spPr>
          <a:xfrm>
            <a:off x="731520" y="2724912"/>
            <a:ext cx="4937760"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A"/>
              </a:buClr>
              <a:buSzPts val="1050"/>
              <a:buFont typeface="Calibri"/>
              <a:buNone/>
            </a:pPr>
            <a:r>
              <a:rPr b="0" i="0" lang="en-US" sz="1050" u="none" cap="none" strike="noStrike">
                <a:solidFill>
                  <a:srgbClr val="1B2A4A"/>
                </a:solidFill>
                <a:latin typeface="Calibri"/>
                <a:ea typeface="Calibri"/>
                <a:cs typeface="Calibri"/>
                <a:sym typeface="Calibri"/>
              </a:rPr>
              <a:t>“Không đủ căn cứ để trả lời câu hỏi của bạn...” — bị judge chấm sai vì Bộ luật Dân sự có quy định rõ con dâu không thuộc hàng thừa kế.</a:t>
            </a:r>
            <a:endParaRPr b="0" i="0" sz="1050" u="none" cap="none" strike="noStrike">
              <a:solidFill>
                <a:schemeClr val="dk1"/>
              </a:solidFill>
              <a:latin typeface="Calibri"/>
              <a:ea typeface="Calibri"/>
              <a:cs typeface="Calibri"/>
              <a:sym typeface="Calibri"/>
            </a:endParaRPr>
          </a:p>
        </p:txBody>
      </p:sp>
      <p:sp>
        <p:nvSpPr>
          <p:cNvPr id="434" name="Google Shape;434;p18"/>
          <p:cNvSpPr txBox="1"/>
          <p:nvPr/>
        </p:nvSpPr>
        <p:spPr>
          <a:xfrm>
            <a:off x="6035040" y="242316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7D5B"/>
              </a:buClr>
              <a:buSzPts val="1150"/>
              <a:buFont typeface="Calibri"/>
              <a:buNone/>
            </a:pPr>
            <a:r>
              <a:rPr b="1" i="0" lang="en-US" sz="1150" u="none" cap="none" strike="noStrike">
                <a:solidFill>
                  <a:srgbClr val="2E7D5B"/>
                </a:solidFill>
                <a:latin typeface="Calibri"/>
                <a:ea typeface="Calibri"/>
                <a:cs typeface="Calibri"/>
                <a:sym typeface="Calibri"/>
              </a:rPr>
              <a:t>Self-RAG-inspired  </a:t>
            </a:r>
            <a:r>
              <a:rPr b="1" i="0" lang="en-US" sz="1000" u="none" cap="none" strike="noStrike">
                <a:solidFill>
                  <a:srgbClr val="2E7D5B"/>
                </a:solidFill>
                <a:latin typeface="Calibri"/>
                <a:ea typeface="Calibri"/>
                <a:cs typeface="Calibri"/>
                <a:sym typeface="Calibri"/>
              </a:rPr>
              <a:t>(CORRECT · FULLY_SUPPORTED)</a:t>
            </a:r>
            <a:endParaRPr b="0" i="0" sz="1150" u="none" cap="none" strike="noStrike">
              <a:solidFill>
                <a:schemeClr val="dk1"/>
              </a:solidFill>
              <a:latin typeface="Calibri"/>
              <a:ea typeface="Calibri"/>
              <a:cs typeface="Calibri"/>
              <a:sym typeface="Calibri"/>
            </a:endParaRPr>
          </a:p>
        </p:txBody>
      </p:sp>
      <p:sp>
        <p:nvSpPr>
          <p:cNvPr id="435" name="Google Shape;435;p18"/>
          <p:cNvSpPr txBox="1"/>
          <p:nvPr/>
        </p:nvSpPr>
        <p:spPr>
          <a:xfrm>
            <a:off x="6035040" y="2724912"/>
            <a:ext cx="5486400"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A"/>
              </a:buClr>
              <a:buSzPts val="1050"/>
              <a:buFont typeface="Calibri"/>
              <a:buNone/>
            </a:pPr>
            <a:r>
              <a:rPr b="0" i="0" lang="en-US" sz="1050" u="none" cap="none" strike="noStrike">
                <a:solidFill>
                  <a:srgbClr val="1B2A4A"/>
                </a:solidFill>
                <a:latin typeface="Calibri"/>
                <a:ea typeface="Calibri"/>
                <a:cs typeface="Calibri"/>
                <a:sym typeface="Calibri"/>
              </a:rPr>
              <a:t>“Bạn không phải là người thừa kế trực tiếp... quyền thừa kế thuộc về vợ/chồng, con cái, cha mẹ...” — đúng và có trích dẫn cụ thể.</a:t>
            </a:r>
            <a:endParaRPr b="0" i="0" sz="1050" u="none" cap="none" strike="noStrike">
              <a:solidFill>
                <a:schemeClr val="dk1"/>
              </a:solidFill>
              <a:latin typeface="Calibri"/>
              <a:ea typeface="Calibri"/>
              <a:cs typeface="Calibri"/>
              <a:sym typeface="Calibri"/>
            </a:endParaRPr>
          </a:p>
        </p:txBody>
      </p:sp>
      <p:sp>
        <p:nvSpPr>
          <p:cNvPr id="436" name="Google Shape;436;p18"/>
          <p:cNvSpPr/>
          <p:nvPr/>
        </p:nvSpPr>
        <p:spPr>
          <a:xfrm>
            <a:off x="457200" y="3886200"/>
            <a:ext cx="11274552" cy="2148840"/>
          </a:xfrm>
          <a:prstGeom prst="roundRect">
            <a:avLst>
              <a:gd fmla="val 3404" name="adj"/>
            </a:avLst>
          </a:prstGeom>
          <a:solidFill>
            <a:srgbClr val="EEF1F6"/>
          </a:solidFill>
          <a:ln>
            <a:noFill/>
          </a:ln>
          <a:effectLst>
            <a:outerShdw blurRad="76200" rotWithShape="0" algn="bl" dir="5400000" dist="25400">
              <a:srgbClr val="1B2A4A">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8"/>
          <p:cNvSpPr txBox="1"/>
          <p:nvPr/>
        </p:nvSpPr>
        <p:spPr>
          <a:xfrm>
            <a:off x="731520" y="4023360"/>
            <a:ext cx="1828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1050"/>
              <a:buFont typeface="Calibri"/>
              <a:buNone/>
            </a:pPr>
            <a:r>
              <a:rPr b="1" i="0" lang="en-US" sz="1050" u="none" cap="none" strike="noStrike">
                <a:solidFill>
                  <a:srgbClr val="C9A227"/>
                </a:solidFill>
                <a:latin typeface="Calibri"/>
                <a:ea typeface="Calibri"/>
                <a:cs typeface="Calibri"/>
                <a:sym typeface="Calibri"/>
              </a:rPr>
              <a:t>qid 1027</a:t>
            </a:r>
            <a:endParaRPr b="0" i="0" sz="1050" u="none" cap="none" strike="noStrike">
              <a:solidFill>
                <a:schemeClr val="dk1"/>
              </a:solidFill>
              <a:latin typeface="Calibri"/>
              <a:ea typeface="Calibri"/>
              <a:cs typeface="Calibri"/>
              <a:sym typeface="Calibri"/>
            </a:endParaRPr>
          </a:p>
        </p:txBody>
      </p:sp>
      <p:sp>
        <p:nvSpPr>
          <p:cNvPr id="438" name="Google Shape;438;p18"/>
          <p:cNvSpPr txBox="1"/>
          <p:nvPr/>
        </p:nvSpPr>
        <p:spPr>
          <a:xfrm>
            <a:off x="731520" y="4270248"/>
            <a:ext cx="996696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A"/>
              </a:buClr>
              <a:buSzPts val="1200"/>
              <a:buFont typeface="Calibri"/>
              <a:buNone/>
            </a:pPr>
            <a:r>
              <a:rPr b="0" i="1" lang="en-US" sz="1200" u="none" cap="none" strike="noStrike">
                <a:solidFill>
                  <a:srgbClr val="1B2A4A"/>
                </a:solidFill>
                <a:latin typeface="Calibri"/>
                <a:ea typeface="Calibri"/>
                <a:cs typeface="Calibri"/>
                <a:sym typeface="Calibri"/>
              </a:rPr>
              <a:t>“Công ty quản lý quỹ nước ngoài tại Việt Nam được mở bao nhiêu tài khoản chứng khoán?” (5 điều truy xuất, ISREL giữ đúng 1 điều liên quan)</a:t>
            </a:r>
            <a:endParaRPr b="0" i="0" sz="1200" u="none" cap="none" strike="noStrike">
              <a:solidFill>
                <a:schemeClr val="dk1"/>
              </a:solidFill>
              <a:latin typeface="Calibri"/>
              <a:ea typeface="Calibri"/>
              <a:cs typeface="Calibri"/>
              <a:sym typeface="Calibri"/>
            </a:endParaRPr>
          </a:p>
        </p:txBody>
      </p:sp>
      <p:cxnSp>
        <p:nvCxnSpPr>
          <p:cNvPr id="439" name="Google Shape;439;p18"/>
          <p:cNvCxnSpPr/>
          <p:nvPr/>
        </p:nvCxnSpPr>
        <p:spPr>
          <a:xfrm>
            <a:off x="5806440" y="4754880"/>
            <a:ext cx="0" cy="1143000"/>
          </a:xfrm>
          <a:prstGeom prst="straightConnector1">
            <a:avLst/>
          </a:prstGeom>
          <a:noFill/>
          <a:ln cap="flat" cmpd="sng" w="12700">
            <a:solidFill>
              <a:srgbClr val="C7CEDC"/>
            </a:solidFill>
            <a:prstDash val="solid"/>
            <a:round/>
            <a:headEnd len="sm" w="sm" type="none"/>
            <a:tailEnd len="sm" w="sm" type="none"/>
          </a:ln>
        </p:spPr>
      </p:cxnSp>
      <p:sp>
        <p:nvSpPr>
          <p:cNvPr id="440" name="Google Shape;440;p18"/>
          <p:cNvSpPr txBox="1"/>
          <p:nvPr/>
        </p:nvSpPr>
        <p:spPr>
          <a:xfrm>
            <a:off x="731520" y="4754880"/>
            <a:ext cx="49377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23A48"/>
              </a:buClr>
              <a:buSzPts val="1150"/>
              <a:buFont typeface="Calibri"/>
              <a:buNone/>
            </a:pPr>
            <a:r>
              <a:rPr b="1" i="0" lang="en-US" sz="1150" u="none" cap="none" strike="noStrike">
                <a:solidFill>
                  <a:srgbClr val="B23A48"/>
                </a:solidFill>
                <a:latin typeface="Calibri"/>
                <a:ea typeface="Calibri"/>
                <a:cs typeface="Calibri"/>
                <a:sym typeface="Calibri"/>
              </a:rPr>
              <a:t>Standard RAG  </a:t>
            </a:r>
            <a:r>
              <a:rPr b="1" i="0" lang="en-US" sz="1000" u="none" cap="none" strike="noStrike">
                <a:solidFill>
                  <a:srgbClr val="B23A48"/>
                </a:solidFill>
                <a:latin typeface="Calibri"/>
                <a:ea typeface="Calibri"/>
                <a:cs typeface="Calibri"/>
                <a:sym typeface="Calibri"/>
              </a:rPr>
              <a:t>(INCORRECT)</a:t>
            </a:r>
            <a:endParaRPr b="0" i="0" sz="1150" u="none" cap="none" strike="noStrike">
              <a:solidFill>
                <a:schemeClr val="dk1"/>
              </a:solidFill>
              <a:latin typeface="Calibri"/>
              <a:ea typeface="Calibri"/>
              <a:cs typeface="Calibri"/>
              <a:sym typeface="Calibri"/>
            </a:endParaRPr>
          </a:p>
        </p:txBody>
      </p:sp>
      <p:sp>
        <p:nvSpPr>
          <p:cNvPr id="441" name="Google Shape;441;p18"/>
          <p:cNvSpPr txBox="1"/>
          <p:nvPr/>
        </p:nvSpPr>
        <p:spPr>
          <a:xfrm>
            <a:off x="731520" y="5056632"/>
            <a:ext cx="4937760"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A"/>
              </a:buClr>
              <a:buSzPts val="1050"/>
              <a:buFont typeface="Calibri"/>
              <a:buNone/>
            </a:pPr>
            <a:r>
              <a:rPr b="0" i="0" lang="en-US" sz="1050" u="none" cap="none" strike="noStrike">
                <a:solidFill>
                  <a:srgbClr val="1B2A4A"/>
                </a:solidFill>
                <a:latin typeface="Calibri"/>
                <a:ea typeface="Calibri"/>
                <a:cs typeface="Calibri"/>
                <a:sym typeface="Calibri"/>
              </a:rPr>
              <a:t>“...không có thông tin về số lượng tài khoản chứng khoán...” — dùng cả 5 điều thô, điều đúng bị 4 điều nhiễu che khuất.</a:t>
            </a:r>
            <a:endParaRPr b="0" i="0" sz="1050" u="none" cap="none" strike="noStrike">
              <a:solidFill>
                <a:schemeClr val="dk1"/>
              </a:solidFill>
              <a:latin typeface="Calibri"/>
              <a:ea typeface="Calibri"/>
              <a:cs typeface="Calibri"/>
              <a:sym typeface="Calibri"/>
            </a:endParaRPr>
          </a:p>
        </p:txBody>
      </p:sp>
      <p:sp>
        <p:nvSpPr>
          <p:cNvPr id="442" name="Google Shape;442;p18"/>
          <p:cNvSpPr txBox="1"/>
          <p:nvPr/>
        </p:nvSpPr>
        <p:spPr>
          <a:xfrm>
            <a:off x="6035040" y="475488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7D5B"/>
              </a:buClr>
              <a:buSzPts val="1150"/>
              <a:buFont typeface="Calibri"/>
              <a:buNone/>
            </a:pPr>
            <a:r>
              <a:rPr b="1" i="0" lang="en-US" sz="1150" u="none" cap="none" strike="noStrike">
                <a:solidFill>
                  <a:srgbClr val="2E7D5B"/>
                </a:solidFill>
                <a:latin typeface="Calibri"/>
                <a:ea typeface="Calibri"/>
                <a:cs typeface="Calibri"/>
                <a:sym typeface="Calibri"/>
              </a:rPr>
              <a:t>Self-RAG-inspired  </a:t>
            </a:r>
            <a:r>
              <a:rPr b="1" i="0" lang="en-US" sz="1000" u="none" cap="none" strike="noStrike">
                <a:solidFill>
                  <a:srgbClr val="2E7D5B"/>
                </a:solidFill>
                <a:latin typeface="Calibri"/>
                <a:ea typeface="Calibri"/>
                <a:cs typeface="Calibri"/>
                <a:sym typeface="Calibri"/>
              </a:rPr>
              <a:t>(CORRECT · FULLY_SUPPORTED)</a:t>
            </a:r>
            <a:endParaRPr b="0" i="0" sz="1150" u="none" cap="none" strike="noStrike">
              <a:solidFill>
                <a:schemeClr val="dk1"/>
              </a:solidFill>
              <a:latin typeface="Calibri"/>
              <a:ea typeface="Calibri"/>
              <a:cs typeface="Calibri"/>
              <a:sym typeface="Calibri"/>
            </a:endParaRPr>
          </a:p>
        </p:txBody>
      </p:sp>
      <p:sp>
        <p:nvSpPr>
          <p:cNvPr id="443" name="Google Shape;443;p18"/>
          <p:cNvSpPr txBox="1"/>
          <p:nvPr/>
        </p:nvSpPr>
        <p:spPr>
          <a:xfrm>
            <a:off x="6035040" y="5056632"/>
            <a:ext cx="5486400"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A"/>
              </a:buClr>
              <a:buSzPts val="1050"/>
              <a:buFont typeface="Calibri"/>
              <a:buNone/>
            </a:pPr>
            <a:r>
              <a:rPr b="0" i="0" lang="en-US" sz="1050" u="none" cap="none" strike="noStrike">
                <a:solidFill>
                  <a:srgbClr val="1B2A4A"/>
                </a:solidFill>
                <a:latin typeface="Calibri"/>
                <a:ea typeface="Calibri"/>
                <a:cs typeface="Calibri"/>
                <a:sym typeface="Calibri"/>
              </a:rPr>
              <a:t>“Công ty quản lý quỹ nước ngoài được phép mở 02 tài khoản giao dịch chứng khoán... [1]” — dùng đúng 1 điều đã lọc.</a:t>
            </a:r>
            <a:endParaRPr b="0" i="0" sz="1050" u="none" cap="none" strike="noStrike">
              <a:solidFill>
                <a:schemeClr val="dk1"/>
              </a:solidFill>
              <a:latin typeface="Calibri"/>
              <a:ea typeface="Calibri"/>
              <a:cs typeface="Calibri"/>
              <a:sym typeface="Calibri"/>
            </a:endParaRPr>
          </a:p>
        </p:txBody>
      </p:sp>
      <p:sp>
        <p:nvSpPr>
          <p:cNvPr id="444" name="Google Shape;444;p18"/>
          <p:cNvSpPr txBox="1"/>
          <p:nvPr/>
        </p:nvSpPr>
        <p:spPr>
          <a:xfrm>
            <a:off x="457200" y="6547104"/>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5"/>
              </a:buClr>
              <a:buSzPts val="900"/>
              <a:buFont typeface="Calibri"/>
              <a:buNone/>
            </a:pPr>
            <a:r>
              <a:rPr b="0" i="0" lang="en-US" sz="900" u="none" cap="none" strike="noStrike">
                <a:solidFill>
                  <a:srgbClr val="5B6B85"/>
                </a:solidFill>
                <a:latin typeface="Calibri"/>
                <a:ea typeface="Calibri"/>
                <a:cs typeface="Calibri"/>
                <a:sym typeface="Calibri"/>
              </a:rPr>
              <a:t>Self-RAG-Inspired Legal QA  ·  CS2308.CH203</a:t>
            </a:r>
            <a:endParaRPr b="0" i="0" sz="900" u="none" cap="none" strike="noStrike">
              <a:solidFill>
                <a:schemeClr val="dk1"/>
              </a:solidFill>
              <a:latin typeface="Calibri"/>
              <a:ea typeface="Calibri"/>
              <a:cs typeface="Calibri"/>
              <a:sym typeface="Calibri"/>
            </a:endParaRPr>
          </a:p>
        </p:txBody>
      </p:sp>
      <p:sp>
        <p:nvSpPr>
          <p:cNvPr id="445" name="Google Shape;445;p18"/>
          <p:cNvSpPr txBox="1"/>
          <p:nvPr/>
        </p:nvSpPr>
        <p:spPr>
          <a:xfrm>
            <a:off x="11274552" y="6547104"/>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B85"/>
              </a:buClr>
              <a:buSzPts val="900"/>
              <a:buFont typeface="Calibri"/>
              <a:buNone/>
            </a:pPr>
            <a:r>
              <a:rPr b="0" i="0" lang="en-US" sz="900" u="none" cap="none" strike="noStrike">
                <a:solidFill>
                  <a:srgbClr val="5B6B85"/>
                </a:solidFill>
                <a:latin typeface="Calibri"/>
                <a:ea typeface="Calibri"/>
                <a:cs typeface="Calibri"/>
                <a:sym typeface="Calibri"/>
              </a:rPr>
              <a:t>16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0" name="Shape 450"/>
        <p:cNvGrpSpPr/>
        <p:nvPr/>
      </p:nvGrpSpPr>
      <p:grpSpPr>
        <a:xfrm>
          <a:off x="0" y="0"/>
          <a:ext cx="0" cy="0"/>
          <a:chOff x="0" y="0"/>
          <a:chExt cx="0" cy="0"/>
        </a:xfrm>
      </p:grpSpPr>
      <p:sp>
        <p:nvSpPr>
          <p:cNvPr id="451" name="Google Shape;451;p19"/>
          <p:cNvSpPr txBox="1"/>
          <p:nvPr/>
        </p:nvSpPr>
        <p:spPr>
          <a:xfrm>
            <a:off x="457200" y="320040"/>
            <a:ext cx="105156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1200"/>
              <a:buFont typeface="Calibri"/>
              <a:buNone/>
            </a:pPr>
            <a:r>
              <a:rPr b="1" i="0" lang="en-US" sz="1200" u="none" cap="none" strike="noStrike">
                <a:solidFill>
                  <a:srgbClr val="C9A227"/>
                </a:solidFill>
                <a:latin typeface="Calibri"/>
                <a:ea typeface="Calibri"/>
                <a:cs typeface="Calibri"/>
                <a:sym typeface="Calibri"/>
              </a:rPr>
              <a:t>07 · CASE STUDY</a:t>
            </a:r>
            <a:endParaRPr b="0" i="0" sz="1200" u="none" cap="none" strike="noStrike">
              <a:solidFill>
                <a:schemeClr val="dk1"/>
              </a:solidFill>
              <a:latin typeface="Calibri"/>
              <a:ea typeface="Calibri"/>
              <a:cs typeface="Calibri"/>
              <a:sym typeface="Calibri"/>
            </a:endParaRPr>
          </a:p>
        </p:txBody>
      </p:sp>
      <p:sp>
        <p:nvSpPr>
          <p:cNvPr id="452" name="Google Shape;452;p19"/>
          <p:cNvSpPr txBox="1"/>
          <p:nvPr/>
        </p:nvSpPr>
        <p:spPr>
          <a:xfrm>
            <a:off x="457200" y="566928"/>
            <a:ext cx="1078992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A"/>
              </a:buClr>
              <a:buSzPts val="2800"/>
              <a:buFont typeface="Times New Roman"/>
              <a:buNone/>
            </a:pPr>
            <a:r>
              <a:rPr b="1" i="0" lang="en-US" sz="2800" u="none" cap="none" strike="noStrike">
                <a:solidFill>
                  <a:srgbClr val="1B2A4A"/>
                </a:solidFill>
                <a:latin typeface="Times New Roman"/>
                <a:ea typeface="Times New Roman"/>
                <a:cs typeface="Times New Roman"/>
                <a:sym typeface="Times New Roman"/>
              </a:rPr>
              <a:t>Hạn chế thực tế: hai kiểu thất bại còn tồn tại</a:t>
            </a:r>
            <a:endParaRPr b="0" i="0" sz="2800" u="none" cap="none" strike="noStrike">
              <a:solidFill>
                <a:schemeClr val="dk1"/>
              </a:solidFill>
              <a:latin typeface="Calibri"/>
              <a:ea typeface="Calibri"/>
              <a:cs typeface="Calibri"/>
              <a:sym typeface="Calibri"/>
            </a:endParaRPr>
          </a:p>
        </p:txBody>
      </p:sp>
      <p:sp>
        <p:nvSpPr>
          <p:cNvPr id="453" name="Google Shape;453;p19"/>
          <p:cNvSpPr/>
          <p:nvPr/>
        </p:nvSpPr>
        <p:spPr>
          <a:xfrm>
            <a:off x="457200" y="1554480"/>
            <a:ext cx="5440680" cy="4526280"/>
          </a:xfrm>
          <a:prstGeom prst="roundRect">
            <a:avLst>
              <a:gd fmla="val 1616" name="adj"/>
            </a:avLst>
          </a:prstGeom>
          <a:solidFill>
            <a:srgbClr val="FBEAEA"/>
          </a:solidFill>
          <a:ln>
            <a:noFill/>
          </a:ln>
          <a:effectLst>
            <a:outerShdw blurRad="76200" rotWithShape="0" algn="bl" dir="5400000" dist="25400">
              <a:srgbClr val="1B2A4A">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9"/>
          <p:cNvSpPr txBox="1"/>
          <p:nvPr/>
        </p:nvSpPr>
        <p:spPr>
          <a:xfrm>
            <a:off x="731520" y="1755648"/>
            <a:ext cx="49377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23A48"/>
              </a:buClr>
              <a:buSzPts val="1500"/>
              <a:buFont typeface="Times New Roman"/>
              <a:buNone/>
            </a:pPr>
            <a:r>
              <a:rPr b="1" i="0" lang="en-US" sz="1500" u="none" cap="none" strike="noStrike">
                <a:solidFill>
                  <a:srgbClr val="B23A48"/>
                </a:solidFill>
                <a:latin typeface="Times New Roman"/>
                <a:ea typeface="Times New Roman"/>
                <a:cs typeface="Times New Roman"/>
                <a:sym typeface="Times New Roman"/>
              </a:rPr>
              <a:t>Hallucination dù trích dẫn đúng định dạng</a:t>
            </a:r>
            <a:endParaRPr b="0" i="0" sz="1500" u="none" cap="none" strike="noStrike">
              <a:solidFill>
                <a:schemeClr val="dk1"/>
              </a:solidFill>
              <a:latin typeface="Calibri"/>
              <a:ea typeface="Calibri"/>
              <a:cs typeface="Calibri"/>
              <a:sym typeface="Calibri"/>
            </a:endParaRPr>
          </a:p>
        </p:txBody>
      </p:sp>
      <p:sp>
        <p:nvSpPr>
          <p:cNvPr id="455" name="Google Shape;455;p19"/>
          <p:cNvSpPr txBox="1"/>
          <p:nvPr/>
        </p:nvSpPr>
        <p:spPr>
          <a:xfrm>
            <a:off x="731520" y="2286000"/>
            <a:ext cx="1828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23A48"/>
              </a:buClr>
              <a:buSzPts val="1050"/>
              <a:buFont typeface="Calibri"/>
              <a:buNone/>
            </a:pPr>
            <a:r>
              <a:rPr b="1" i="0" lang="en-US" sz="1050" u="none" cap="none" strike="noStrike">
                <a:solidFill>
                  <a:srgbClr val="B23A48"/>
                </a:solidFill>
                <a:latin typeface="Calibri"/>
                <a:ea typeface="Calibri"/>
                <a:cs typeface="Calibri"/>
                <a:sym typeface="Calibri"/>
              </a:rPr>
              <a:t>qid 1179</a:t>
            </a:r>
            <a:endParaRPr b="0" i="0" sz="1050" u="none" cap="none" strike="noStrike">
              <a:solidFill>
                <a:schemeClr val="dk1"/>
              </a:solidFill>
              <a:latin typeface="Calibri"/>
              <a:ea typeface="Calibri"/>
              <a:cs typeface="Calibri"/>
              <a:sym typeface="Calibri"/>
            </a:endParaRPr>
          </a:p>
        </p:txBody>
      </p:sp>
      <p:sp>
        <p:nvSpPr>
          <p:cNvPr id="456" name="Google Shape;456;p19"/>
          <p:cNvSpPr txBox="1"/>
          <p:nvPr/>
        </p:nvSpPr>
        <p:spPr>
          <a:xfrm>
            <a:off x="731520" y="2542032"/>
            <a:ext cx="49377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1150"/>
              <a:buFont typeface="Calibri"/>
              <a:buNone/>
            </a:pPr>
            <a:r>
              <a:rPr b="0" i="1" lang="en-US" sz="1150" u="none" cap="none" strike="noStrike">
                <a:solidFill>
                  <a:srgbClr val="1B2A4A"/>
                </a:solidFill>
                <a:latin typeface="Calibri"/>
                <a:ea typeface="Calibri"/>
                <a:cs typeface="Calibri"/>
                <a:sym typeface="Calibri"/>
              </a:rPr>
              <a:t>“Cơ quan nào có thẩm quyền cho thuê đất xây trụ sở đại sứ quán nước ngoài?”</a:t>
            </a:r>
            <a:endParaRPr b="0" i="0" sz="1150" u="none" cap="none" strike="noStrike">
              <a:solidFill>
                <a:schemeClr val="dk1"/>
              </a:solidFill>
              <a:latin typeface="Calibri"/>
              <a:ea typeface="Calibri"/>
              <a:cs typeface="Calibri"/>
              <a:sym typeface="Calibri"/>
            </a:endParaRPr>
          </a:p>
        </p:txBody>
      </p:sp>
      <p:sp>
        <p:nvSpPr>
          <p:cNvPr id="457" name="Google Shape;457;p19"/>
          <p:cNvSpPr txBox="1"/>
          <p:nvPr/>
        </p:nvSpPr>
        <p:spPr>
          <a:xfrm>
            <a:off x="731520" y="3108960"/>
            <a:ext cx="4937760" cy="2834640"/>
          </a:xfrm>
          <a:prstGeom prst="rect">
            <a:avLst/>
          </a:prstGeom>
          <a:noFill/>
          <a:ln>
            <a:noFill/>
          </a:ln>
        </p:spPr>
        <p:txBody>
          <a:bodyPr anchorCtr="0" anchor="t" bIns="0" lIns="0" spcFirstLastPara="1" rIns="0" wrap="square" tIns="0">
            <a:noAutofit/>
          </a:bodyPr>
          <a:lstStyle/>
          <a:p>
            <a:pPr indent="-342900" lvl="0" marL="342900" marR="0" rtl="0" algn="l">
              <a:lnSpc>
                <a:spcPct val="108000"/>
              </a:lnSpc>
              <a:spcBef>
                <a:spcPts val="0"/>
              </a:spcBef>
              <a:spcAft>
                <a:spcPts val="0"/>
              </a:spcAft>
              <a:buClr>
                <a:srgbClr val="1B2A4A"/>
              </a:buClr>
              <a:buSzPts val="1150"/>
              <a:buFont typeface="Calibri"/>
              <a:buChar char="•"/>
            </a:pPr>
            <a:r>
              <a:rPr b="0" i="0" lang="en-US" sz="1150" u="none" cap="none" strike="noStrike">
                <a:solidFill>
                  <a:srgbClr val="1B2A4A"/>
                </a:solidFill>
                <a:latin typeface="Calibri"/>
                <a:ea typeface="Calibri"/>
                <a:cs typeface="Calibri"/>
                <a:sym typeface="Calibri"/>
              </a:rPr>
              <a:t>Self-RAG trả lời “Bộ Xây dựng”, trích dẫn đúng định dạng (điều, số văn bản) nhưng SAI cơ quan — đúng ra là UBND cấp tỉnh</a:t>
            </a:r>
            <a:endParaRPr b="0" i="0" sz="1150" u="none" cap="none" strike="noStrike">
              <a:solidFill>
                <a:schemeClr val="dk1"/>
              </a:solidFill>
              <a:latin typeface="Calibri"/>
              <a:ea typeface="Calibri"/>
              <a:cs typeface="Calibri"/>
              <a:sym typeface="Calibri"/>
            </a:endParaRPr>
          </a:p>
          <a:p>
            <a:pPr indent="-342900" lvl="0" marL="342900" marR="0" rtl="0" algn="l">
              <a:lnSpc>
                <a:spcPct val="108000"/>
              </a:lnSpc>
              <a:spcBef>
                <a:spcPts val="900"/>
              </a:spcBef>
              <a:spcAft>
                <a:spcPts val="0"/>
              </a:spcAft>
              <a:buClr>
                <a:srgbClr val="1B2A4A"/>
              </a:buClr>
              <a:buSzPts val="1150"/>
              <a:buFont typeface="Calibri"/>
              <a:buChar char="•"/>
            </a:pPr>
            <a:r>
              <a:rPr b="0" i="0" lang="en-US" sz="1150" u="none" cap="none" strike="noStrike">
                <a:solidFill>
                  <a:srgbClr val="1B2A4A"/>
                </a:solidFill>
                <a:latin typeface="Calibri"/>
                <a:ea typeface="Calibri"/>
                <a:cs typeface="Calibri"/>
                <a:sym typeface="Calibri"/>
              </a:rPr>
              <a:t>Bị chấm INCORRECT dù format trích dẫn hoàn toàn hợp lệ</a:t>
            </a:r>
            <a:endParaRPr b="0" i="0" sz="1150" u="none" cap="none" strike="noStrike">
              <a:solidFill>
                <a:schemeClr val="dk1"/>
              </a:solidFill>
              <a:latin typeface="Calibri"/>
              <a:ea typeface="Calibri"/>
              <a:cs typeface="Calibri"/>
              <a:sym typeface="Calibri"/>
            </a:endParaRPr>
          </a:p>
          <a:p>
            <a:pPr indent="-342900" lvl="0" marL="342900" marR="0" rtl="0" algn="l">
              <a:lnSpc>
                <a:spcPct val="108000"/>
              </a:lnSpc>
              <a:spcBef>
                <a:spcPts val="900"/>
              </a:spcBef>
              <a:spcAft>
                <a:spcPts val="0"/>
              </a:spcAft>
              <a:buClr>
                <a:srgbClr val="1B2A4A"/>
              </a:buClr>
              <a:buSzPts val="1150"/>
              <a:buFont typeface="Calibri"/>
              <a:buChar char="•"/>
            </a:pPr>
            <a:r>
              <a:rPr b="0" i="0" lang="en-US" sz="1150" u="none" cap="none" strike="noStrike">
                <a:solidFill>
                  <a:srgbClr val="1B2A4A"/>
                </a:solidFill>
                <a:latin typeface="Calibri"/>
                <a:ea typeface="Calibri"/>
                <a:cs typeface="Calibri"/>
                <a:sym typeface="Calibri"/>
              </a:rPr>
              <a:t>Bài học: ISSUP kiểm tra “có trích dẫn” không đảm bảo generator hiểu đúng nội dung trích dẫn đó</a:t>
            </a:r>
            <a:endParaRPr b="0" i="0" sz="1150" u="none" cap="none" strike="noStrike">
              <a:solidFill>
                <a:schemeClr val="dk1"/>
              </a:solidFill>
              <a:latin typeface="Calibri"/>
              <a:ea typeface="Calibri"/>
              <a:cs typeface="Calibri"/>
              <a:sym typeface="Calibri"/>
            </a:endParaRPr>
          </a:p>
        </p:txBody>
      </p:sp>
      <p:sp>
        <p:nvSpPr>
          <p:cNvPr id="458" name="Google Shape;458;p19"/>
          <p:cNvSpPr/>
          <p:nvPr/>
        </p:nvSpPr>
        <p:spPr>
          <a:xfrm>
            <a:off x="6263640" y="1554480"/>
            <a:ext cx="5468112" cy="4526280"/>
          </a:xfrm>
          <a:prstGeom prst="roundRect">
            <a:avLst>
              <a:gd fmla="val 1616" name="adj"/>
            </a:avLst>
          </a:prstGeom>
          <a:solidFill>
            <a:srgbClr val="FBEAEA"/>
          </a:solidFill>
          <a:ln>
            <a:noFill/>
          </a:ln>
          <a:effectLst>
            <a:outerShdw blurRad="76200" rotWithShape="0" algn="bl" dir="5400000" dist="25400">
              <a:srgbClr val="1B2A4A">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19"/>
          <p:cNvSpPr txBox="1"/>
          <p:nvPr/>
        </p:nvSpPr>
        <p:spPr>
          <a:xfrm>
            <a:off x="6537960" y="1755648"/>
            <a:ext cx="493776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23A48"/>
              </a:buClr>
              <a:buSzPts val="1500"/>
              <a:buFont typeface="Times New Roman"/>
              <a:buNone/>
            </a:pPr>
            <a:r>
              <a:rPr b="1" i="0" lang="en-US" sz="1500" u="none" cap="none" strike="noStrike">
                <a:solidFill>
                  <a:srgbClr val="B23A48"/>
                </a:solidFill>
                <a:latin typeface="Times New Roman"/>
                <a:ea typeface="Times New Roman"/>
                <a:cs typeface="Times New Roman"/>
                <a:sym typeface="Times New Roman"/>
              </a:rPr>
              <a:t>Lỗi ở tầng truy xuất — phản tư không cứu được</a:t>
            </a:r>
            <a:endParaRPr b="0" i="0" sz="1500" u="none" cap="none" strike="noStrike">
              <a:solidFill>
                <a:schemeClr val="dk1"/>
              </a:solidFill>
              <a:latin typeface="Calibri"/>
              <a:ea typeface="Calibri"/>
              <a:cs typeface="Calibri"/>
              <a:sym typeface="Calibri"/>
            </a:endParaRPr>
          </a:p>
        </p:txBody>
      </p:sp>
      <p:sp>
        <p:nvSpPr>
          <p:cNvPr id="460" name="Google Shape;460;p19"/>
          <p:cNvSpPr txBox="1"/>
          <p:nvPr/>
        </p:nvSpPr>
        <p:spPr>
          <a:xfrm>
            <a:off x="6537960" y="2286000"/>
            <a:ext cx="1828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23A48"/>
              </a:buClr>
              <a:buSzPts val="1050"/>
              <a:buFont typeface="Calibri"/>
              <a:buNone/>
            </a:pPr>
            <a:r>
              <a:rPr b="1" i="0" lang="en-US" sz="1050" u="none" cap="none" strike="noStrike">
                <a:solidFill>
                  <a:srgbClr val="B23A48"/>
                </a:solidFill>
                <a:latin typeface="Calibri"/>
                <a:ea typeface="Calibri"/>
                <a:cs typeface="Calibri"/>
                <a:sym typeface="Calibri"/>
              </a:rPr>
              <a:t>qid 15</a:t>
            </a:r>
            <a:endParaRPr b="0" i="0" sz="1050" u="none" cap="none" strike="noStrike">
              <a:solidFill>
                <a:schemeClr val="dk1"/>
              </a:solidFill>
              <a:latin typeface="Calibri"/>
              <a:ea typeface="Calibri"/>
              <a:cs typeface="Calibri"/>
              <a:sym typeface="Calibri"/>
            </a:endParaRPr>
          </a:p>
        </p:txBody>
      </p:sp>
      <p:sp>
        <p:nvSpPr>
          <p:cNvPr id="461" name="Google Shape;461;p19"/>
          <p:cNvSpPr txBox="1"/>
          <p:nvPr/>
        </p:nvSpPr>
        <p:spPr>
          <a:xfrm>
            <a:off x="6537960" y="2542032"/>
            <a:ext cx="493776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1150"/>
              <a:buFont typeface="Calibri"/>
              <a:buNone/>
            </a:pPr>
            <a:r>
              <a:rPr b="0" i="1" lang="en-US" sz="1150" u="none" cap="none" strike="noStrike">
                <a:solidFill>
                  <a:srgbClr val="1B2A4A"/>
                </a:solidFill>
                <a:latin typeface="Calibri"/>
                <a:ea typeface="Calibri"/>
                <a:cs typeface="Calibri"/>
                <a:sym typeface="Calibri"/>
              </a:rPr>
              <a:t>“Mua bán, cho thuê tài khoản ngân hàng có bị truy cứu trách nhiệm hình sự không?”</a:t>
            </a:r>
            <a:endParaRPr b="0" i="0" sz="1150" u="none" cap="none" strike="noStrike">
              <a:solidFill>
                <a:schemeClr val="dk1"/>
              </a:solidFill>
              <a:latin typeface="Calibri"/>
              <a:ea typeface="Calibri"/>
              <a:cs typeface="Calibri"/>
              <a:sym typeface="Calibri"/>
            </a:endParaRPr>
          </a:p>
        </p:txBody>
      </p:sp>
      <p:sp>
        <p:nvSpPr>
          <p:cNvPr id="462" name="Google Shape;462;p19"/>
          <p:cNvSpPr txBox="1"/>
          <p:nvPr/>
        </p:nvSpPr>
        <p:spPr>
          <a:xfrm>
            <a:off x="6537960" y="3108960"/>
            <a:ext cx="4937760" cy="2834640"/>
          </a:xfrm>
          <a:prstGeom prst="rect">
            <a:avLst/>
          </a:prstGeom>
          <a:noFill/>
          <a:ln>
            <a:noFill/>
          </a:ln>
        </p:spPr>
        <p:txBody>
          <a:bodyPr anchorCtr="0" anchor="t" bIns="0" lIns="0" spcFirstLastPara="1" rIns="0" wrap="square" tIns="0">
            <a:noAutofit/>
          </a:bodyPr>
          <a:lstStyle/>
          <a:p>
            <a:pPr indent="-342900" lvl="0" marL="342900" marR="0" rtl="0" algn="l">
              <a:lnSpc>
                <a:spcPct val="108000"/>
              </a:lnSpc>
              <a:spcBef>
                <a:spcPts val="0"/>
              </a:spcBef>
              <a:spcAft>
                <a:spcPts val="0"/>
              </a:spcAft>
              <a:buClr>
                <a:srgbClr val="1B2A4A"/>
              </a:buClr>
              <a:buSzPts val="1150"/>
              <a:buFont typeface="Calibri"/>
              <a:buChar char="•"/>
            </a:pPr>
            <a:r>
              <a:rPr b="0" i="0" lang="en-US" sz="1150" u="none" cap="none" strike="noStrike">
                <a:solidFill>
                  <a:srgbClr val="1B2A4A"/>
                </a:solidFill>
                <a:latin typeface="Calibri"/>
                <a:ea typeface="Calibri"/>
                <a:cs typeface="Calibri"/>
                <a:sym typeface="Calibri"/>
              </a:rPr>
              <a:t>Self-RAG trả lời “không có quy định nào... không đủ căn cứ”, trong khi gold answer có mức phạt cụ thể</a:t>
            </a:r>
            <a:endParaRPr b="0" i="0" sz="1150" u="none" cap="none" strike="noStrike">
              <a:solidFill>
                <a:schemeClr val="dk1"/>
              </a:solidFill>
              <a:latin typeface="Calibri"/>
              <a:ea typeface="Calibri"/>
              <a:cs typeface="Calibri"/>
              <a:sym typeface="Calibri"/>
            </a:endParaRPr>
          </a:p>
          <a:p>
            <a:pPr indent="-342900" lvl="0" marL="342900" marR="0" rtl="0" algn="l">
              <a:lnSpc>
                <a:spcPct val="108000"/>
              </a:lnSpc>
              <a:spcBef>
                <a:spcPts val="900"/>
              </a:spcBef>
              <a:spcAft>
                <a:spcPts val="0"/>
              </a:spcAft>
              <a:buClr>
                <a:srgbClr val="1B2A4A"/>
              </a:buClr>
              <a:buSzPts val="1150"/>
              <a:buFont typeface="Calibri"/>
              <a:buChar char="•"/>
            </a:pPr>
            <a:r>
              <a:rPr b="0" i="0" lang="en-US" sz="1150" u="none" cap="none" strike="noStrike">
                <a:solidFill>
                  <a:srgbClr val="1B2A4A"/>
                </a:solidFill>
                <a:latin typeface="Calibri"/>
                <a:ea typeface="Calibri"/>
                <a:cs typeface="Calibri"/>
                <a:sym typeface="Calibri"/>
              </a:rPr>
              <a:t>Điều luật đúng chưa từng nằm trong top-5 kết quả truy xuất ngay từ đầu</a:t>
            </a:r>
            <a:endParaRPr b="0" i="0" sz="1150" u="none" cap="none" strike="noStrike">
              <a:solidFill>
                <a:schemeClr val="dk1"/>
              </a:solidFill>
              <a:latin typeface="Calibri"/>
              <a:ea typeface="Calibri"/>
              <a:cs typeface="Calibri"/>
              <a:sym typeface="Calibri"/>
            </a:endParaRPr>
          </a:p>
          <a:p>
            <a:pPr indent="-342900" lvl="0" marL="342900" marR="0" rtl="0" algn="l">
              <a:lnSpc>
                <a:spcPct val="108000"/>
              </a:lnSpc>
              <a:spcBef>
                <a:spcPts val="900"/>
              </a:spcBef>
              <a:spcAft>
                <a:spcPts val="0"/>
              </a:spcAft>
              <a:buClr>
                <a:srgbClr val="1B2A4A"/>
              </a:buClr>
              <a:buSzPts val="1150"/>
              <a:buFont typeface="Calibri"/>
              <a:buChar char="•"/>
            </a:pPr>
            <a:r>
              <a:rPr b="0" i="0" lang="en-US" sz="1150" u="none" cap="none" strike="noStrike">
                <a:solidFill>
                  <a:srgbClr val="1B2A4A"/>
                </a:solidFill>
                <a:latin typeface="Calibri"/>
                <a:ea typeface="Calibri"/>
                <a:cs typeface="Calibri"/>
                <a:sym typeface="Calibri"/>
              </a:rPr>
              <a:t>Bài học: tự phê bình chỉ đánh giá được evidence đã có — không thể khôi phục evidence chưa từng được truy xuất</a:t>
            </a:r>
            <a:endParaRPr b="0" i="0" sz="1150" u="none" cap="none" strike="noStrike">
              <a:solidFill>
                <a:schemeClr val="dk1"/>
              </a:solidFill>
              <a:latin typeface="Calibri"/>
              <a:ea typeface="Calibri"/>
              <a:cs typeface="Calibri"/>
              <a:sym typeface="Calibri"/>
            </a:endParaRPr>
          </a:p>
        </p:txBody>
      </p:sp>
      <p:sp>
        <p:nvSpPr>
          <p:cNvPr id="463" name="Google Shape;463;p19"/>
          <p:cNvSpPr txBox="1"/>
          <p:nvPr/>
        </p:nvSpPr>
        <p:spPr>
          <a:xfrm>
            <a:off x="457200" y="6547104"/>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5"/>
              </a:buClr>
              <a:buSzPts val="900"/>
              <a:buFont typeface="Calibri"/>
              <a:buNone/>
            </a:pPr>
            <a:r>
              <a:rPr b="0" i="0" lang="en-US" sz="900" u="none" cap="none" strike="noStrike">
                <a:solidFill>
                  <a:srgbClr val="5B6B85"/>
                </a:solidFill>
                <a:latin typeface="Calibri"/>
                <a:ea typeface="Calibri"/>
                <a:cs typeface="Calibri"/>
                <a:sym typeface="Calibri"/>
              </a:rPr>
              <a:t>Self-RAG-Inspired Legal QA  ·  CS2308.CH203</a:t>
            </a:r>
            <a:endParaRPr b="0" i="0" sz="900" u="none" cap="none" strike="noStrike">
              <a:solidFill>
                <a:schemeClr val="dk1"/>
              </a:solidFill>
              <a:latin typeface="Calibri"/>
              <a:ea typeface="Calibri"/>
              <a:cs typeface="Calibri"/>
              <a:sym typeface="Calibri"/>
            </a:endParaRPr>
          </a:p>
        </p:txBody>
      </p:sp>
      <p:sp>
        <p:nvSpPr>
          <p:cNvPr id="464" name="Google Shape;464;p19"/>
          <p:cNvSpPr txBox="1"/>
          <p:nvPr/>
        </p:nvSpPr>
        <p:spPr>
          <a:xfrm>
            <a:off x="11274552" y="6547104"/>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B85"/>
              </a:buClr>
              <a:buSzPts val="900"/>
              <a:buFont typeface="Calibri"/>
              <a:buNone/>
            </a:pPr>
            <a:r>
              <a:rPr b="0" i="0" lang="en-US" sz="900" u="none" cap="none" strike="noStrike">
                <a:solidFill>
                  <a:srgbClr val="5B6B85"/>
                </a:solidFill>
                <a:latin typeface="Calibri"/>
                <a:ea typeface="Calibri"/>
                <a:cs typeface="Calibri"/>
                <a:sym typeface="Calibri"/>
              </a:rPr>
              <a:t>17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9" name="Shape 469"/>
        <p:cNvGrpSpPr/>
        <p:nvPr/>
      </p:nvGrpSpPr>
      <p:grpSpPr>
        <a:xfrm>
          <a:off x="0" y="0"/>
          <a:ext cx="0" cy="0"/>
          <a:chOff x="0" y="0"/>
          <a:chExt cx="0" cy="0"/>
        </a:xfrm>
      </p:grpSpPr>
      <p:sp>
        <p:nvSpPr>
          <p:cNvPr id="470" name="Google Shape;470;p20"/>
          <p:cNvSpPr txBox="1"/>
          <p:nvPr/>
        </p:nvSpPr>
        <p:spPr>
          <a:xfrm>
            <a:off x="457200" y="320040"/>
            <a:ext cx="105156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1200"/>
              <a:buFont typeface="Calibri"/>
              <a:buNone/>
            </a:pPr>
            <a:r>
              <a:rPr b="1" i="0" lang="en-US" sz="1200" u="none" cap="none" strike="noStrike">
                <a:solidFill>
                  <a:srgbClr val="C9A227"/>
                </a:solidFill>
                <a:latin typeface="Calibri"/>
                <a:ea typeface="Calibri"/>
                <a:cs typeface="Calibri"/>
                <a:sym typeface="Calibri"/>
              </a:rPr>
              <a:t>08 · THẢO LUẬN</a:t>
            </a:r>
            <a:endParaRPr b="0" i="0" sz="1200" u="none" cap="none" strike="noStrike">
              <a:solidFill>
                <a:schemeClr val="dk1"/>
              </a:solidFill>
              <a:latin typeface="Calibri"/>
              <a:ea typeface="Calibri"/>
              <a:cs typeface="Calibri"/>
              <a:sym typeface="Calibri"/>
            </a:endParaRPr>
          </a:p>
        </p:txBody>
      </p:sp>
      <p:sp>
        <p:nvSpPr>
          <p:cNvPr id="471" name="Google Shape;471;p20"/>
          <p:cNvSpPr txBox="1"/>
          <p:nvPr/>
        </p:nvSpPr>
        <p:spPr>
          <a:xfrm>
            <a:off x="457200" y="566928"/>
            <a:ext cx="1078992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A"/>
              </a:buClr>
              <a:buSzPts val="2800"/>
              <a:buFont typeface="Times New Roman"/>
              <a:buNone/>
            </a:pPr>
            <a:r>
              <a:rPr b="1" i="0" lang="en-US" sz="2800" u="none" cap="none" strike="noStrike">
                <a:solidFill>
                  <a:srgbClr val="1B2A4A"/>
                </a:solidFill>
                <a:latin typeface="Times New Roman"/>
                <a:ea typeface="Times New Roman"/>
                <a:cs typeface="Times New Roman"/>
                <a:sym typeface="Times New Roman"/>
              </a:rPr>
              <a:t>Nghịch lý Usefulness của Standard RAG</a:t>
            </a:r>
            <a:endParaRPr b="0" i="0" sz="2800" u="none" cap="none" strike="noStrike">
              <a:solidFill>
                <a:schemeClr val="dk1"/>
              </a:solidFill>
              <a:latin typeface="Calibri"/>
              <a:ea typeface="Calibri"/>
              <a:cs typeface="Calibri"/>
              <a:sym typeface="Calibri"/>
            </a:endParaRPr>
          </a:p>
        </p:txBody>
      </p:sp>
      <p:pic>
        <p:nvPicPr>
          <p:cNvPr id="472" name="Google Shape;472;p20"/>
          <p:cNvPicPr preferRelativeResize="0"/>
          <p:nvPr/>
        </p:nvPicPr>
        <p:blipFill rotWithShape="1">
          <a:blip r:embed="rId3">
            <a:alphaModFix/>
          </a:blip>
          <a:srcRect b="0" l="0" r="0" t="0"/>
          <a:stretch/>
        </p:blipFill>
        <p:spPr>
          <a:xfrm>
            <a:off x="457200" y="1508760"/>
            <a:ext cx="5394960" cy="4389120"/>
          </a:xfrm>
          <a:prstGeom prst="rect">
            <a:avLst/>
          </a:prstGeom>
          <a:noFill/>
          <a:ln>
            <a:noFill/>
          </a:ln>
        </p:spPr>
      </p:pic>
      <p:sp>
        <p:nvSpPr>
          <p:cNvPr id="473" name="Google Shape;473;p20"/>
          <p:cNvSpPr/>
          <p:nvPr/>
        </p:nvSpPr>
        <p:spPr>
          <a:xfrm>
            <a:off x="6080760" y="1508760"/>
            <a:ext cx="5650992" cy="2057400"/>
          </a:xfrm>
          <a:prstGeom prst="roundRect">
            <a:avLst>
              <a:gd fmla="val 3556" name="adj"/>
            </a:avLst>
          </a:prstGeom>
          <a:solidFill>
            <a:srgbClr val="FBEAEA"/>
          </a:solidFill>
          <a:ln>
            <a:noFill/>
          </a:ln>
          <a:effectLst>
            <a:outerShdw blurRad="76200" rotWithShape="0" algn="bl" dir="5400000" dist="25400">
              <a:srgbClr val="1B2A4A">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20"/>
          <p:cNvSpPr txBox="1"/>
          <p:nvPr/>
        </p:nvSpPr>
        <p:spPr>
          <a:xfrm>
            <a:off x="6355080" y="1673352"/>
            <a:ext cx="51206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23A48"/>
              </a:buClr>
              <a:buSzPts val="1350"/>
              <a:buFont typeface="Calibri"/>
              <a:buNone/>
            </a:pPr>
            <a:r>
              <a:rPr b="1" i="0" lang="en-US" sz="1350" u="none" cap="none" strike="noStrike">
                <a:solidFill>
                  <a:srgbClr val="B23A48"/>
                </a:solidFill>
                <a:latin typeface="Calibri"/>
                <a:ea typeface="Calibri"/>
                <a:cs typeface="Calibri"/>
                <a:sym typeface="Calibri"/>
              </a:rPr>
              <a:t>Standard RAG: trung thực nhưng vô ích</a:t>
            </a:r>
            <a:endParaRPr b="0" i="0" sz="1350" u="none" cap="none" strike="noStrike">
              <a:solidFill>
                <a:schemeClr val="dk1"/>
              </a:solidFill>
              <a:latin typeface="Calibri"/>
              <a:ea typeface="Calibri"/>
              <a:cs typeface="Calibri"/>
              <a:sym typeface="Calibri"/>
            </a:endParaRPr>
          </a:p>
        </p:txBody>
      </p:sp>
      <p:sp>
        <p:nvSpPr>
          <p:cNvPr id="475" name="Google Shape;475;p20"/>
          <p:cNvSpPr txBox="1"/>
          <p:nvPr/>
        </p:nvSpPr>
        <p:spPr>
          <a:xfrm>
            <a:off x="6355080" y="2011680"/>
            <a:ext cx="5120640" cy="1417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A"/>
              </a:buClr>
              <a:buSzPts val="1200"/>
              <a:buFont typeface="Calibri"/>
              <a:buNone/>
            </a:pPr>
            <a:r>
              <a:rPr b="0" i="0" lang="en-US" sz="1200" u="none" cap="none" strike="noStrike">
                <a:solidFill>
                  <a:srgbClr val="1B2A4A"/>
                </a:solidFill>
                <a:latin typeface="Calibri"/>
                <a:ea typeface="Calibri"/>
                <a:cs typeface="Calibri"/>
                <a:sym typeface="Calibri"/>
              </a:rPr>
              <a:t>Nhận đúng 5 điều luật cố định dù liên quan hay không → khi không đủ liên quan, từ chối trả lời (“không đủ căn cứ”) — đúng nguyên tắc nhưng bị chấm không hữu ích.</a:t>
            </a:r>
            <a:endParaRPr b="0" i="0" sz="1200" u="none" cap="none" strike="noStrike">
              <a:solidFill>
                <a:schemeClr val="dk1"/>
              </a:solidFill>
              <a:latin typeface="Calibri"/>
              <a:ea typeface="Calibri"/>
              <a:cs typeface="Calibri"/>
              <a:sym typeface="Calibri"/>
            </a:endParaRPr>
          </a:p>
        </p:txBody>
      </p:sp>
      <p:sp>
        <p:nvSpPr>
          <p:cNvPr id="476" name="Google Shape;476;p20"/>
          <p:cNvSpPr/>
          <p:nvPr/>
        </p:nvSpPr>
        <p:spPr>
          <a:xfrm>
            <a:off x="6080760" y="3703320"/>
            <a:ext cx="5650992" cy="2377440"/>
          </a:xfrm>
          <a:prstGeom prst="roundRect">
            <a:avLst>
              <a:gd fmla="val 3077" name="adj"/>
            </a:avLst>
          </a:prstGeom>
          <a:solidFill>
            <a:srgbClr val="E3F0E9"/>
          </a:solidFill>
          <a:ln>
            <a:noFill/>
          </a:ln>
          <a:effectLst>
            <a:outerShdw blurRad="76200" rotWithShape="0" algn="bl" dir="5400000" dist="25400">
              <a:srgbClr val="1B2A4A">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20"/>
          <p:cNvSpPr txBox="1"/>
          <p:nvPr/>
        </p:nvSpPr>
        <p:spPr>
          <a:xfrm>
            <a:off x="6355080" y="3867912"/>
            <a:ext cx="512064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2E7D5B"/>
              </a:buClr>
              <a:buSzPts val="1350"/>
              <a:buFont typeface="Calibri"/>
              <a:buNone/>
            </a:pPr>
            <a:r>
              <a:rPr b="1" i="0" lang="en-US" sz="1350" u="none" cap="none" strike="noStrike">
                <a:solidFill>
                  <a:srgbClr val="2E7D5B"/>
                </a:solidFill>
                <a:latin typeface="Calibri"/>
                <a:ea typeface="Calibri"/>
                <a:cs typeface="Calibri"/>
                <a:sym typeface="Calibri"/>
              </a:rPr>
              <a:t>Self-RAG: giải quyết được đánh đổi</a:t>
            </a:r>
            <a:endParaRPr b="0" i="0" sz="1350" u="none" cap="none" strike="noStrike">
              <a:solidFill>
                <a:schemeClr val="dk1"/>
              </a:solidFill>
              <a:latin typeface="Calibri"/>
              <a:ea typeface="Calibri"/>
              <a:cs typeface="Calibri"/>
              <a:sym typeface="Calibri"/>
            </a:endParaRPr>
          </a:p>
        </p:txBody>
      </p:sp>
      <p:sp>
        <p:nvSpPr>
          <p:cNvPr id="478" name="Google Shape;478;p20"/>
          <p:cNvSpPr txBox="1"/>
          <p:nvPr/>
        </p:nvSpPr>
        <p:spPr>
          <a:xfrm>
            <a:off x="6355080" y="4206240"/>
            <a:ext cx="5120640" cy="1737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A"/>
              </a:buClr>
              <a:buSzPts val="1200"/>
              <a:buFont typeface="Calibri"/>
              <a:buNone/>
            </a:pPr>
            <a:r>
              <a:rPr b="0" i="0" lang="en-US" sz="1200" u="none" cap="none" strike="noStrike">
                <a:solidFill>
                  <a:srgbClr val="1B2A4A"/>
                </a:solidFill>
                <a:latin typeface="Calibri"/>
                <a:ea typeface="Calibri"/>
                <a:cs typeface="Calibri"/>
                <a:sym typeface="Calibri"/>
              </a:rPr>
              <a:t>ISREL lọc nhiễu trước khi generate → khi hệ thống trả lời, nó tự tin và trúng đích hơn: vừa đúng hơn (33.2% &gt; 25.7%) vừa hữu ích hơn (62.6% &gt; 25.7%) đồng thời — bằng chứng định lượng trực tiếp cho giá trị của self-reflection.</a:t>
            </a:r>
            <a:endParaRPr b="0" i="0" sz="1200" u="none" cap="none" strike="noStrike">
              <a:solidFill>
                <a:schemeClr val="dk1"/>
              </a:solidFill>
              <a:latin typeface="Calibri"/>
              <a:ea typeface="Calibri"/>
              <a:cs typeface="Calibri"/>
              <a:sym typeface="Calibri"/>
            </a:endParaRPr>
          </a:p>
        </p:txBody>
      </p:sp>
      <p:sp>
        <p:nvSpPr>
          <p:cNvPr id="479" name="Google Shape;479;p20"/>
          <p:cNvSpPr txBox="1"/>
          <p:nvPr/>
        </p:nvSpPr>
        <p:spPr>
          <a:xfrm>
            <a:off x="457200" y="6547104"/>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5"/>
              </a:buClr>
              <a:buSzPts val="900"/>
              <a:buFont typeface="Calibri"/>
              <a:buNone/>
            </a:pPr>
            <a:r>
              <a:rPr b="0" i="0" lang="en-US" sz="900" u="none" cap="none" strike="noStrike">
                <a:solidFill>
                  <a:srgbClr val="5B6B85"/>
                </a:solidFill>
                <a:latin typeface="Calibri"/>
                <a:ea typeface="Calibri"/>
                <a:cs typeface="Calibri"/>
                <a:sym typeface="Calibri"/>
              </a:rPr>
              <a:t>Self-RAG-Inspired Legal QA  ·  CS2308.CH203</a:t>
            </a:r>
            <a:endParaRPr b="0" i="0" sz="900" u="none" cap="none" strike="noStrike">
              <a:solidFill>
                <a:schemeClr val="dk1"/>
              </a:solidFill>
              <a:latin typeface="Calibri"/>
              <a:ea typeface="Calibri"/>
              <a:cs typeface="Calibri"/>
              <a:sym typeface="Calibri"/>
            </a:endParaRPr>
          </a:p>
        </p:txBody>
      </p:sp>
      <p:sp>
        <p:nvSpPr>
          <p:cNvPr id="480" name="Google Shape;480;p20"/>
          <p:cNvSpPr txBox="1"/>
          <p:nvPr/>
        </p:nvSpPr>
        <p:spPr>
          <a:xfrm>
            <a:off x="11274552" y="6547104"/>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B85"/>
              </a:buClr>
              <a:buSzPts val="900"/>
              <a:buFont typeface="Calibri"/>
              <a:buNone/>
            </a:pPr>
            <a:r>
              <a:rPr b="0" i="0" lang="en-US" sz="900" u="none" cap="none" strike="noStrike">
                <a:solidFill>
                  <a:srgbClr val="5B6B85"/>
                </a:solidFill>
                <a:latin typeface="Calibri"/>
                <a:ea typeface="Calibri"/>
                <a:cs typeface="Calibri"/>
                <a:sym typeface="Calibri"/>
              </a:rPr>
              <a:t>18</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5" name="Shape 485"/>
        <p:cNvGrpSpPr/>
        <p:nvPr/>
      </p:nvGrpSpPr>
      <p:grpSpPr>
        <a:xfrm>
          <a:off x="0" y="0"/>
          <a:ext cx="0" cy="0"/>
          <a:chOff x="0" y="0"/>
          <a:chExt cx="0" cy="0"/>
        </a:xfrm>
      </p:grpSpPr>
      <p:sp>
        <p:nvSpPr>
          <p:cNvPr id="486" name="Google Shape;486;p21"/>
          <p:cNvSpPr txBox="1"/>
          <p:nvPr/>
        </p:nvSpPr>
        <p:spPr>
          <a:xfrm>
            <a:off x="457200" y="320040"/>
            <a:ext cx="105156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1200"/>
              <a:buFont typeface="Calibri"/>
              <a:buNone/>
            </a:pPr>
            <a:r>
              <a:rPr b="1" i="0" lang="en-US" sz="1200" u="none" cap="none" strike="noStrike">
                <a:solidFill>
                  <a:srgbClr val="C9A227"/>
                </a:solidFill>
                <a:latin typeface="Calibri"/>
                <a:ea typeface="Calibri"/>
                <a:cs typeface="Calibri"/>
                <a:sym typeface="Calibri"/>
              </a:rPr>
              <a:t>09 · DEMO</a:t>
            </a:r>
            <a:endParaRPr b="0" i="0" sz="1200" u="none" cap="none" strike="noStrike">
              <a:solidFill>
                <a:schemeClr val="dk1"/>
              </a:solidFill>
              <a:latin typeface="Calibri"/>
              <a:ea typeface="Calibri"/>
              <a:cs typeface="Calibri"/>
              <a:sym typeface="Calibri"/>
            </a:endParaRPr>
          </a:p>
        </p:txBody>
      </p:sp>
      <p:sp>
        <p:nvSpPr>
          <p:cNvPr id="487" name="Google Shape;487;p21"/>
          <p:cNvSpPr txBox="1"/>
          <p:nvPr/>
        </p:nvSpPr>
        <p:spPr>
          <a:xfrm>
            <a:off x="457200" y="566928"/>
            <a:ext cx="1078992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A"/>
              </a:buClr>
              <a:buSzPts val="2800"/>
              <a:buFont typeface="Times New Roman"/>
              <a:buNone/>
            </a:pPr>
            <a:r>
              <a:rPr b="1" i="0" lang="en-US" sz="2800" u="none" cap="none" strike="noStrike">
                <a:solidFill>
                  <a:srgbClr val="1B2A4A"/>
                </a:solidFill>
                <a:latin typeface="Times New Roman"/>
                <a:ea typeface="Times New Roman"/>
                <a:cs typeface="Times New Roman"/>
                <a:sym typeface="Times New Roman"/>
              </a:rPr>
              <a:t>Demo hệ thống Self-RAG-inspired</a:t>
            </a:r>
            <a:endParaRPr b="0" i="0" sz="2800" u="none" cap="none" strike="noStrike">
              <a:solidFill>
                <a:schemeClr val="dk1"/>
              </a:solidFill>
              <a:latin typeface="Calibri"/>
              <a:ea typeface="Calibri"/>
              <a:cs typeface="Calibri"/>
              <a:sym typeface="Calibri"/>
            </a:endParaRPr>
          </a:p>
        </p:txBody>
      </p:sp>
      <p:sp>
        <p:nvSpPr>
          <p:cNvPr id="488" name="Google Shape;488;p21"/>
          <p:cNvSpPr txBox="1"/>
          <p:nvPr/>
        </p:nvSpPr>
        <p:spPr>
          <a:xfrm>
            <a:off x="457200" y="1298448"/>
            <a:ext cx="1078992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5"/>
              </a:buClr>
              <a:buSzPts val="1250"/>
              <a:buFont typeface="Calibri"/>
              <a:buNone/>
            </a:pPr>
            <a:r>
              <a:rPr b="0" i="1" lang="en-US" sz="1250" u="none" cap="none" strike="noStrike">
                <a:solidFill>
                  <a:srgbClr val="5B6B85"/>
                </a:solidFill>
                <a:latin typeface="Calibri"/>
                <a:ea typeface="Calibri"/>
                <a:cs typeface="Calibri"/>
                <a:sym typeface="Calibri"/>
              </a:rPr>
              <a:t>Notebook 03 (mục 11) — chạy trực tiếp trên Colab, nhập câu hỏi và xem toàn bộ reflection report.</a:t>
            </a:r>
            <a:endParaRPr b="0" i="0" sz="1250" u="none" cap="none" strike="noStrike">
              <a:solidFill>
                <a:schemeClr val="dk1"/>
              </a:solidFill>
              <a:latin typeface="Calibri"/>
              <a:ea typeface="Calibri"/>
              <a:cs typeface="Calibri"/>
              <a:sym typeface="Calibri"/>
            </a:endParaRPr>
          </a:p>
        </p:txBody>
      </p:sp>
      <p:sp>
        <p:nvSpPr>
          <p:cNvPr id="489" name="Google Shape;489;p21"/>
          <p:cNvSpPr/>
          <p:nvPr/>
        </p:nvSpPr>
        <p:spPr>
          <a:xfrm>
            <a:off x="512064" y="1783080"/>
            <a:ext cx="1586484" cy="1005840"/>
          </a:xfrm>
          <a:prstGeom prst="roundRect">
            <a:avLst>
              <a:gd fmla="val 6364" name="adj"/>
            </a:avLst>
          </a:prstGeom>
          <a:solidFill>
            <a:srgbClr val="EEF1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0" name="Google Shape;490;p21"/>
          <p:cNvSpPr txBox="1"/>
          <p:nvPr/>
        </p:nvSpPr>
        <p:spPr>
          <a:xfrm>
            <a:off x="603504" y="1847088"/>
            <a:ext cx="457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1500"/>
              <a:buFont typeface="Times New Roman"/>
              <a:buNone/>
            </a:pPr>
            <a:r>
              <a:rPr b="1" i="0" lang="en-US" sz="1500" u="none" cap="none" strike="noStrike">
                <a:solidFill>
                  <a:srgbClr val="C9A227"/>
                </a:solidFill>
                <a:latin typeface="Times New Roman"/>
                <a:ea typeface="Times New Roman"/>
                <a:cs typeface="Times New Roman"/>
                <a:sym typeface="Times New Roman"/>
              </a:rPr>
              <a:t>1</a:t>
            </a:r>
            <a:endParaRPr b="0" i="0" sz="1500" u="none" cap="none" strike="noStrike">
              <a:solidFill>
                <a:schemeClr val="dk1"/>
              </a:solidFill>
              <a:latin typeface="Calibri"/>
              <a:ea typeface="Calibri"/>
              <a:cs typeface="Calibri"/>
              <a:sym typeface="Calibri"/>
            </a:endParaRPr>
          </a:p>
        </p:txBody>
      </p:sp>
      <p:sp>
        <p:nvSpPr>
          <p:cNvPr id="491" name="Google Shape;491;p21"/>
          <p:cNvSpPr txBox="1"/>
          <p:nvPr/>
        </p:nvSpPr>
        <p:spPr>
          <a:xfrm>
            <a:off x="585216" y="2148840"/>
            <a:ext cx="1421892" cy="62179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A"/>
              </a:buClr>
              <a:buSzPts val="950"/>
              <a:buFont typeface="Calibri"/>
              <a:buNone/>
            </a:pPr>
            <a:r>
              <a:rPr b="0" i="0" lang="en-US" sz="950" u="none" cap="none" strike="noStrike">
                <a:solidFill>
                  <a:srgbClr val="1B2A4A"/>
                </a:solidFill>
                <a:latin typeface="Calibri"/>
                <a:ea typeface="Calibri"/>
                <a:cs typeface="Calibri"/>
                <a:sym typeface="Calibri"/>
              </a:rPr>
              <a:t>Nhập câu hỏi pháp luật</a:t>
            </a:r>
            <a:endParaRPr b="0" i="0" sz="950" u="none" cap="none" strike="noStrike">
              <a:solidFill>
                <a:schemeClr val="dk1"/>
              </a:solidFill>
              <a:latin typeface="Calibri"/>
              <a:ea typeface="Calibri"/>
              <a:cs typeface="Calibri"/>
              <a:sym typeface="Calibri"/>
            </a:endParaRPr>
          </a:p>
        </p:txBody>
      </p:sp>
      <p:sp>
        <p:nvSpPr>
          <p:cNvPr id="492" name="Google Shape;492;p21"/>
          <p:cNvSpPr txBox="1"/>
          <p:nvPr/>
        </p:nvSpPr>
        <p:spPr>
          <a:xfrm>
            <a:off x="2080260" y="2103120"/>
            <a:ext cx="274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1300"/>
              <a:buFont typeface="Calibri"/>
              <a:buNone/>
            </a:pPr>
            <a:r>
              <a:rPr b="1" i="0" lang="en-US" sz="1300" u="none" cap="none" strike="noStrike">
                <a:solidFill>
                  <a:srgbClr val="C9A227"/>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sp>
        <p:nvSpPr>
          <p:cNvPr id="493" name="Google Shape;493;p21"/>
          <p:cNvSpPr/>
          <p:nvPr/>
        </p:nvSpPr>
        <p:spPr>
          <a:xfrm>
            <a:off x="2391156" y="1783080"/>
            <a:ext cx="1586484" cy="1005840"/>
          </a:xfrm>
          <a:prstGeom prst="roundRect">
            <a:avLst>
              <a:gd fmla="val 6364" name="adj"/>
            </a:avLst>
          </a:prstGeom>
          <a:solidFill>
            <a:srgbClr val="EEF1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21"/>
          <p:cNvSpPr txBox="1"/>
          <p:nvPr/>
        </p:nvSpPr>
        <p:spPr>
          <a:xfrm>
            <a:off x="2482596" y="1847088"/>
            <a:ext cx="457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1500"/>
              <a:buFont typeface="Times New Roman"/>
              <a:buNone/>
            </a:pPr>
            <a:r>
              <a:rPr b="1" i="0" lang="en-US" sz="1500" u="none" cap="none" strike="noStrike">
                <a:solidFill>
                  <a:srgbClr val="C9A227"/>
                </a:solidFill>
                <a:latin typeface="Times New Roman"/>
                <a:ea typeface="Times New Roman"/>
                <a:cs typeface="Times New Roman"/>
                <a:sym typeface="Times New Roman"/>
              </a:rPr>
              <a:t>2</a:t>
            </a:r>
            <a:endParaRPr b="0" i="0" sz="1500" u="none" cap="none" strike="noStrike">
              <a:solidFill>
                <a:schemeClr val="dk1"/>
              </a:solidFill>
              <a:latin typeface="Calibri"/>
              <a:ea typeface="Calibri"/>
              <a:cs typeface="Calibri"/>
              <a:sym typeface="Calibri"/>
            </a:endParaRPr>
          </a:p>
        </p:txBody>
      </p:sp>
      <p:sp>
        <p:nvSpPr>
          <p:cNvPr id="495" name="Google Shape;495;p21"/>
          <p:cNvSpPr txBox="1"/>
          <p:nvPr/>
        </p:nvSpPr>
        <p:spPr>
          <a:xfrm>
            <a:off x="2464308" y="2148840"/>
            <a:ext cx="1421892" cy="62179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A"/>
              </a:buClr>
              <a:buSzPts val="950"/>
              <a:buFont typeface="Calibri"/>
              <a:buNone/>
            </a:pPr>
            <a:r>
              <a:rPr b="0" i="0" lang="en-US" sz="950" u="none" cap="none" strike="noStrike">
                <a:solidFill>
                  <a:srgbClr val="1B2A4A"/>
                </a:solidFill>
                <a:latin typeface="Calibri"/>
                <a:ea typeface="Calibri"/>
                <a:cs typeface="Calibri"/>
                <a:sym typeface="Calibri"/>
              </a:rPr>
              <a:t>[RETRIEVE?] quyết định truy xuất</a:t>
            </a:r>
            <a:endParaRPr b="0" i="0" sz="950" u="none" cap="none" strike="noStrike">
              <a:solidFill>
                <a:schemeClr val="dk1"/>
              </a:solidFill>
              <a:latin typeface="Calibri"/>
              <a:ea typeface="Calibri"/>
              <a:cs typeface="Calibri"/>
              <a:sym typeface="Calibri"/>
            </a:endParaRPr>
          </a:p>
        </p:txBody>
      </p:sp>
      <p:sp>
        <p:nvSpPr>
          <p:cNvPr id="496" name="Google Shape;496;p21"/>
          <p:cNvSpPr txBox="1"/>
          <p:nvPr/>
        </p:nvSpPr>
        <p:spPr>
          <a:xfrm>
            <a:off x="3959352" y="2103120"/>
            <a:ext cx="274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1300"/>
              <a:buFont typeface="Calibri"/>
              <a:buNone/>
            </a:pPr>
            <a:r>
              <a:rPr b="1" i="0" lang="en-US" sz="1300" u="none" cap="none" strike="noStrike">
                <a:solidFill>
                  <a:srgbClr val="C9A227"/>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sp>
        <p:nvSpPr>
          <p:cNvPr id="497" name="Google Shape;497;p21"/>
          <p:cNvSpPr/>
          <p:nvPr/>
        </p:nvSpPr>
        <p:spPr>
          <a:xfrm>
            <a:off x="4270248" y="1783080"/>
            <a:ext cx="1586484" cy="1005840"/>
          </a:xfrm>
          <a:prstGeom prst="roundRect">
            <a:avLst>
              <a:gd fmla="val 6364" name="adj"/>
            </a:avLst>
          </a:prstGeom>
          <a:solidFill>
            <a:srgbClr val="EEF1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21"/>
          <p:cNvSpPr txBox="1"/>
          <p:nvPr/>
        </p:nvSpPr>
        <p:spPr>
          <a:xfrm>
            <a:off x="4361688" y="1847088"/>
            <a:ext cx="457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1500"/>
              <a:buFont typeface="Times New Roman"/>
              <a:buNone/>
            </a:pPr>
            <a:r>
              <a:rPr b="1" i="0" lang="en-US" sz="1500" u="none" cap="none" strike="noStrike">
                <a:solidFill>
                  <a:srgbClr val="C9A227"/>
                </a:solidFill>
                <a:latin typeface="Times New Roman"/>
                <a:ea typeface="Times New Roman"/>
                <a:cs typeface="Times New Roman"/>
                <a:sym typeface="Times New Roman"/>
              </a:rPr>
              <a:t>3</a:t>
            </a:r>
            <a:endParaRPr b="0" i="0" sz="1500" u="none" cap="none" strike="noStrike">
              <a:solidFill>
                <a:schemeClr val="dk1"/>
              </a:solidFill>
              <a:latin typeface="Calibri"/>
              <a:ea typeface="Calibri"/>
              <a:cs typeface="Calibri"/>
              <a:sym typeface="Calibri"/>
            </a:endParaRPr>
          </a:p>
        </p:txBody>
      </p:sp>
      <p:sp>
        <p:nvSpPr>
          <p:cNvPr id="499" name="Google Shape;499;p21"/>
          <p:cNvSpPr txBox="1"/>
          <p:nvPr/>
        </p:nvSpPr>
        <p:spPr>
          <a:xfrm>
            <a:off x="4343400" y="2148840"/>
            <a:ext cx="1421892" cy="62179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A"/>
              </a:buClr>
              <a:buSzPts val="950"/>
              <a:buFont typeface="Calibri"/>
              <a:buNone/>
            </a:pPr>
            <a:r>
              <a:rPr b="0" i="0" lang="en-US" sz="950" u="none" cap="none" strike="noStrike">
                <a:solidFill>
                  <a:srgbClr val="1B2A4A"/>
                </a:solidFill>
                <a:latin typeface="Calibri"/>
                <a:ea typeface="Calibri"/>
                <a:cs typeface="Calibri"/>
                <a:sym typeface="Calibri"/>
              </a:rPr>
              <a:t>Retrieve top-k + [ISREL] lọc đoạn liên quan</a:t>
            </a:r>
            <a:endParaRPr b="0" i="0" sz="950" u="none" cap="none" strike="noStrike">
              <a:solidFill>
                <a:schemeClr val="dk1"/>
              </a:solidFill>
              <a:latin typeface="Calibri"/>
              <a:ea typeface="Calibri"/>
              <a:cs typeface="Calibri"/>
              <a:sym typeface="Calibri"/>
            </a:endParaRPr>
          </a:p>
        </p:txBody>
      </p:sp>
      <p:sp>
        <p:nvSpPr>
          <p:cNvPr id="500" name="Google Shape;500;p21"/>
          <p:cNvSpPr txBox="1"/>
          <p:nvPr/>
        </p:nvSpPr>
        <p:spPr>
          <a:xfrm>
            <a:off x="5838444" y="2103120"/>
            <a:ext cx="274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1300"/>
              <a:buFont typeface="Calibri"/>
              <a:buNone/>
            </a:pPr>
            <a:r>
              <a:rPr b="1" i="0" lang="en-US" sz="1300" u="none" cap="none" strike="noStrike">
                <a:solidFill>
                  <a:srgbClr val="C9A227"/>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sp>
        <p:nvSpPr>
          <p:cNvPr id="501" name="Google Shape;501;p21"/>
          <p:cNvSpPr/>
          <p:nvPr/>
        </p:nvSpPr>
        <p:spPr>
          <a:xfrm>
            <a:off x="6149340" y="1783080"/>
            <a:ext cx="1586484" cy="1005840"/>
          </a:xfrm>
          <a:prstGeom prst="roundRect">
            <a:avLst>
              <a:gd fmla="val 6364" name="adj"/>
            </a:avLst>
          </a:prstGeom>
          <a:solidFill>
            <a:srgbClr val="EEF1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21"/>
          <p:cNvSpPr txBox="1"/>
          <p:nvPr/>
        </p:nvSpPr>
        <p:spPr>
          <a:xfrm>
            <a:off x="6240780" y="1847088"/>
            <a:ext cx="457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1500"/>
              <a:buFont typeface="Times New Roman"/>
              <a:buNone/>
            </a:pPr>
            <a:r>
              <a:rPr b="1" i="0" lang="en-US" sz="1500" u="none" cap="none" strike="noStrike">
                <a:solidFill>
                  <a:srgbClr val="C9A227"/>
                </a:solidFill>
                <a:latin typeface="Times New Roman"/>
                <a:ea typeface="Times New Roman"/>
                <a:cs typeface="Times New Roman"/>
                <a:sym typeface="Times New Roman"/>
              </a:rPr>
              <a:t>4</a:t>
            </a:r>
            <a:endParaRPr b="0" i="0" sz="1500" u="none" cap="none" strike="noStrike">
              <a:solidFill>
                <a:schemeClr val="dk1"/>
              </a:solidFill>
              <a:latin typeface="Calibri"/>
              <a:ea typeface="Calibri"/>
              <a:cs typeface="Calibri"/>
              <a:sym typeface="Calibri"/>
            </a:endParaRPr>
          </a:p>
        </p:txBody>
      </p:sp>
      <p:sp>
        <p:nvSpPr>
          <p:cNvPr id="503" name="Google Shape;503;p21"/>
          <p:cNvSpPr txBox="1"/>
          <p:nvPr/>
        </p:nvSpPr>
        <p:spPr>
          <a:xfrm>
            <a:off x="6222492" y="2148840"/>
            <a:ext cx="1421892" cy="62179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A"/>
              </a:buClr>
              <a:buSzPts val="950"/>
              <a:buFont typeface="Calibri"/>
              <a:buNone/>
            </a:pPr>
            <a:r>
              <a:rPr b="0" i="0" lang="en-US" sz="950" u="none" cap="none" strike="noStrike">
                <a:solidFill>
                  <a:srgbClr val="1B2A4A"/>
                </a:solidFill>
                <a:latin typeface="Calibri"/>
                <a:ea typeface="Calibri"/>
                <a:cs typeface="Calibri"/>
                <a:sym typeface="Calibri"/>
              </a:rPr>
              <a:t>Generate câu trả lời kèm trích dẫn</a:t>
            </a:r>
            <a:endParaRPr b="0" i="0" sz="950" u="none" cap="none" strike="noStrike">
              <a:solidFill>
                <a:schemeClr val="dk1"/>
              </a:solidFill>
              <a:latin typeface="Calibri"/>
              <a:ea typeface="Calibri"/>
              <a:cs typeface="Calibri"/>
              <a:sym typeface="Calibri"/>
            </a:endParaRPr>
          </a:p>
        </p:txBody>
      </p:sp>
      <p:sp>
        <p:nvSpPr>
          <p:cNvPr id="504" name="Google Shape;504;p21"/>
          <p:cNvSpPr txBox="1"/>
          <p:nvPr/>
        </p:nvSpPr>
        <p:spPr>
          <a:xfrm>
            <a:off x="7717536" y="2103120"/>
            <a:ext cx="274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1300"/>
              <a:buFont typeface="Calibri"/>
              <a:buNone/>
            </a:pPr>
            <a:r>
              <a:rPr b="1" i="0" lang="en-US" sz="1300" u="none" cap="none" strike="noStrike">
                <a:solidFill>
                  <a:srgbClr val="C9A227"/>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sp>
        <p:nvSpPr>
          <p:cNvPr id="505" name="Google Shape;505;p21"/>
          <p:cNvSpPr/>
          <p:nvPr/>
        </p:nvSpPr>
        <p:spPr>
          <a:xfrm>
            <a:off x="8028432" y="1783080"/>
            <a:ext cx="1586484" cy="1005840"/>
          </a:xfrm>
          <a:prstGeom prst="roundRect">
            <a:avLst>
              <a:gd fmla="val 6364" name="adj"/>
            </a:avLst>
          </a:prstGeom>
          <a:solidFill>
            <a:srgbClr val="EEF1F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21"/>
          <p:cNvSpPr txBox="1"/>
          <p:nvPr/>
        </p:nvSpPr>
        <p:spPr>
          <a:xfrm>
            <a:off x="8119872" y="1847088"/>
            <a:ext cx="457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1500"/>
              <a:buFont typeface="Times New Roman"/>
              <a:buNone/>
            </a:pPr>
            <a:r>
              <a:rPr b="1" i="0" lang="en-US" sz="1500" u="none" cap="none" strike="noStrike">
                <a:solidFill>
                  <a:srgbClr val="C9A227"/>
                </a:solidFill>
                <a:latin typeface="Times New Roman"/>
                <a:ea typeface="Times New Roman"/>
                <a:cs typeface="Times New Roman"/>
                <a:sym typeface="Times New Roman"/>
              </a:rPr>
              <a:t>5</a:t>
            </a:r>
            <a:endParaRPr b="0" i="0" sz="1500" u="none" cap="none" strike="noStrike">
              <a:solidFill>
                <a:schemeClr val="dk1"/>
              </a:solidFill>
              <a:latin typeface="Calibri"/>
              <a:ea typeface="Calibri"/>
              <a:cs typeface="Calibri"/>
              <a:sym typeface="Calibri"/>
            </a:endParaRPr>
          </a:p>
        </p:txBody>
      </p:sp>
      <p:sp>
        <p:nvSpPr>
          <p:cNvPr id="507" name="Google Shape;507;p21"/>
          <p:cNvSpPr txBox="1"/>
          <p:nvPr/>
        </p:nvSpPr>
        <p:spPr>
          <a:xfrm>
            <a:off x="8101584" y="2148840"/>
            <a:ext cx="1421892" cy="62179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A"/>
              </a:buClr>
              <a:buSzPts val="950"/>
              <a:buFont typeface="Calibri"/>
              <a:buNone/>
            </a:pPr>
            <a:r>
              <a:rPr b="0" i="0" lang="en-US" sz="950" u="none" cap="none" strike="noStrike">
                <a:solidFill>
                  <a:srgbClr val="1B2A4A"/>
                </a:solidFill>
                <a:latin typeface="Calibri"/>
                <a:ea typeface="Calibri"/>
                <a:cs typeface="Calibri"/>
                <a:sym typeface="Calibri"/>
              </a:rPr>
              <a:t>[ISSUP] · [ISUSE] tự đánh giá</a:t>
            </a:r>
            <a:endParaRPr b="0" i="0" sz="950" u="none" cap="none" strike="noStrike">
              <a:solidFill>
                <a:schemeClr val="dk1"/>
              </a:solidFill>
              <a:latin typeface="Calibri"/>
              <a:ea typeface="Calibri"/>
              <a:cs typeface="Calibri"/>
              <a:sym typeface="Calibri"/>
            </a:endParaRPr>
          </a:p>
        </p:txBody>
      </p:sp>
      <p:sp>
        <p:nvSpPr>
          <p:cNvPr id="508" name="Google Shape;508;p21"/>
          <p:cNvSpPr txBox="1"/>
          <p:nvPr/>
        </p:nvSpPr>
        <p:spPr>
          <a:xfrm>
            <a:off x="9596628" y="2103120"/>
            <a:ext cx="2743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1300"/>
              <a:buFont typeface="Calibri"/>
              <a:buNone/>
            </a:pPr>
            <a:r>
              <a:rPr b="1" i="0" lang="en-US" sz="1300" u="none" cap="none" strike="noStrike">
                <a:solidFill>
                  <a:srgbClr val="C9A227"/>
                </a:solidFill>
                <a:latin typeface="Calibri"/>
                <a:ea typeface="Calibri"/>
                <a:cs typeface="Calibri"/>
                <a:sym typeface="Calibri"/>
              </a:rPr>
              <a:t>→</a:t>
            </a:r>
            <a:endParaRPr b="0" i="0" sz="1300" u="none" cap="none" strike="noStrike">
              <a:solidFill>
                <a:schemeClr val="dk1"/>
              </a:solidFill>
              <a:latin typeface="Calibri"/>
              <a:ea typeface="Calibri"/>
              <a:cs typeface="Calibri"/>
              <a:sym typeface="Calibri"/>
            </a:endParaRPr>
          </a:p>
        </p:txBody>
      </p:sp>
      <p:sp>
        <p:nvSpPr>
          <p:cNvPr id="509" name="Google Shape;509;p21"/>
          <p:cNvSpPr/>
          <p:nvPr/>
        </p:nvSpPr>
        <p:spPr>
          <a:xfrm>
            <a:off x="9907524" y="1783080"/>
            <a:ext cx="1586484" cy="1005840"/>
          </a:xfrm>
          <a:prstGeom prst="roundRect">
            <a:avLst>
              <a:gd fmla="val 6364" name="adj"/>
            </a:avLst>
          </a:prstGeom>
          <a:solidFill>
            <a:srgbClr val="E3F0E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21"/>
          <p:cNvSpPr txBox="1"/>
          <p:nvPr/>
        </p:nvSpPr>
        <p:spPr>
          <a:xfrm>
            <a:off x="9998964" y="1847088"/>
            <a:ext cx="457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1500"/>
              <a:buFont typeface="Times New Roman"/>
              <a:buNone/>
            </a:pPr>
            <a:r>
              <a:rPr b="1" i="0" lang="en-US" sz="1500" u="none" cap="none" strike="noStrike">
                <a:solidFill>
                  <a:srgbClr val="C9A227"/>
                </a:solidFill>
                <a:latin typeface="Times New Roman"/>
                <a:ea typeface="Times New Roman"/>
                <a:cs typeface="Times New Roman"/>
                <a:sym typeface="Times New Roman"/>
              </a:rPr>
              <a:t>6</a:t>
            </a:r>
            <a:endParaRPr b="0" i="0" sz="1500" u="none" cap="none" strike="noStrike">
              <a:solidFill>
                <a:schemeClr val="dk1"/>
              </a:solidFill>
              <a:latin typeface="Calibri"/>
              <a:ea typeface="Calibri"/>
              <a:cs typeface="Calibri"/>
              <a:sym typeface="Calibri"/>
            </a:endParaRPr>
          </a:p>
        </p:txBody>
      </p:sp>
      <p:sp>
        <p:nvSpPr>
          <p:cNvPr id="511" name="Google Shape;511;p21"/>
          <p:cNvSpPr txBox="1"/>
          <p:nvPr/>
        </p:nvSpPr>
        <p:spPr>
          <a:xfrm>
            <a:off x="9980676" y="2148840"/>
            <a:ext cx="1421892" cy="62179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A"/>
              </a:buClr>
              <a:buSzPts val="950"/>
              <a:buFont typeface="Calibri"/>
              <a:buNone/>
            </a:pPr>
            <a:r>
              <a:rPr b="0" i="0" lang="en-US" sz="950" u="none" cap="none" strike="noStrike">
                <a:solidFill>
                  <a:srgbClr val="1B2A4A"/>
                </a:solidFill>
                <a:latin typeface="Calibri"/>
                <a:ea typeface="Calibri"/>
                <a:cs typeface="Calibri"/>
                <a:sym typeface="Calibri"/>
              </a:rPr>
              <a:t>Trả lời + reflection report</a:t>
            </a:r>
            <a:endParaRPr b="0" i="0" sz="950" u="none" cap="none" strike="noStrike">
              <a:solidFill>
                <a:schemeClr val="dk1"/>
              </a:solidFill>
              <a:latin typeface="Calibri"/>
              <a:ea typeface="Calibri"/>
              <a:cs typeface="Calibri"/>
              <a:sym typeface="Calibri"/>
            </a:endParaRPr>
          </a:p>
        </p:txBody>
      </p:sp>
      <p:sp>
        <p:nvSpPr>
          <p:cNvPr id="512" name="Google Shape;512;p21"/>
          <p:cNvSpPr/>
          <p:nvPr/>
        </p:nvSpPr>
        <p:spPr>
          <a:xfrm>
            <a:off x="457200" y="3063240"/>
            <a:ext cx="11274552" cy="3017520"/>
          </a:xfrm>
          <a:prstGeom prst="roundRect">
            <a:avLst>
              <a:gd fmla="val 2424" name="adj"/>
            </a:avLst>
          </a:prstGeom>
          <a:solidFill>
            <a:srgbClr val="F5EFD9"/>
          </a:solidFill>
          <a:ln>
            <a:noFill/>
          </a:ln>
          <a:effectLst>
            <a:outerShdw blurRad="76200" rotWithShape="0" algn="bl" dir="5400000" dist="25400">
              <a:srgbClr val="1B2A4A">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21"/>
          <p:cNvSpPr txBox="1"/>
          <p:nvPr/>
        </p:nvSpPr>
        <p:spPr>
          <a:xfrm>
            <a:off x="731520" y="3246120"/>
            <a:ext cx="5486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4A"/>
              </a:buClr>
              <a:buSzPts val="1300"/>
              <a:buFont typeface="Calibri"/>
              <a:buNone/>
            </a:pPr>
            <a:r>
              <a:rPr b="1" i="0" lang="en-US" sz="1300" u="none" cap="none" strike="noStrike">
                <a:solidFill>
                  <a:srgbClr val="1B2A4A"/>
                </a:solidFill>
                <a:latin typeface="Calibri"/>
                <a:ea typeface="Calibri"/>
                <a:cs typeface="Calibri"/>
                <a:sym typeface="Calibri"/>
              </a:rPr>
              <a:t>Minh hoạ đầu ra thật — qid 1027</a:t>
            </a:r>
            <a:endParaRPr b="0" i="0" sz="1300" u="none" cap="none" strike="noStrike">
              <a:solidFill>
                <a:schemeClr val="dk1"/>
              </a:solidFill>
              <a:latin typeface="Calibri"/>
              <a:ea typeface="Calibri"/>
              <a:cs typeface="Calibri"/>
              <a:sym typeface="Calibri"/>
            </a:endParaRPr>
          </a:p>
        </p:txBody>
      </p:sp>
      <p:sp>
        <p:nvSpPr>
          <p:cNvPr id="514" name="Google Shape;514;p21"/>
          <p:cNvSpPr txBox="1"/>
          <p:nvPr/>
        </p:nvSpPr>
        <p:spPr>
          <a:xfrm>
            <a:off x="731520" y="3566160"/>
            <a:ext cx="106984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D5A80"/>
              </a:buClr>
              <a:buSzPts val="1250"/>
              <a:buFont typeface="Calibri"/>
              <a:buNone/>
            </a:pPr>
            <a:r>
              <a:rPr b="0" i="1" lang="en-US" sz="1250" u="none" cap="none" strike="noStrike">
                <a:solidFill>
                  <a:srgbClr val="3D5A80"/>
                </a:solidFill>
                <a:latin typeface="Calibri"/>
                <a:ea typeface="Calibri"/>
                <a:cs typeface="Calibri"/>
                <a:sym typeface="Calibri"/>
              </a:rPr>
              <a:t>“Công ty quản lý quỹ nước ngoài tại Việt Nam được mở bao nhiêu tài khoản chứng khoán?”</a:t>
            </a:r>
            <a:endParaRPr b="0" i="0" sz="1250" u="none" cap="none" strike="noStrike">
              <a:solidFill>
                <a:schemeClr val="dk1"/>
              </a:solidFill>
              <a:latin typeface="Calibri"/>
              <a:ea typeface="Calibri"/>
              <a:cs typeface="Calibri"/>
              <a:sym typeface="Calibri"/>
            </a:endParaRPr>
          </a:p>
        </p:txBody>
      </p:sp>
      <p:graphicFrame>
        <p:nvGraphicFramePr>
          <p:cNvPr id="515" name="Google Shape;515;p21"/>
          <p:cNvGraphicFramePr/>
          <p:nvPr/>
        </p:nvGraphicFramePr>
        <p:xfrm>
          <a:off x="731520" y="4023360"/>
          <a:ext cx="3000000" cy="3000000"/>
        </p:xfrm>
        <a:graphic>
          <a:graphicData uri="http://schemas.openxmlformats.org/drawingml/2006/table">
            <a:tbl>
              <a:tblPr>
                <a:noFill/>
                <a:tableStyleId>{CF771489-7EA7-439F-9CA7-88DC3161A82E}</a:tableStyleId>
              </a:tblPr>
              <a:tblGrid>
                <a:gridCol w="2103125"/>
                <a:gridCol w="8595350"/>
              </a:tblGrid>
              <a:tr h="457200">
                <a:tc>
                  <a:txBody>
                    <a:bodyPr/>
                    <a:lstStyle/>
                    <a:p>
                      <a:pPr indent="0" lvl="0" marL="0" marR="0" rtl="0" algn="l">
                        <a:spcBef>
                          <a:spcPts val="0"/>
                        </a:spcBef>
                        <a:spcAft>
                          <a:spcPts val="0"/>
                        </a:spcAft>
                        <a:buClr>
                          <a:srgbClr val="3D5A80"/>
                        </a:buClr>
                        <a:buSzPts val="1200"/>
                        <a:buFont typeface="Calibri"/>
                        <a:buNone/>
                      </a:pPr>
                      <a:r>
                        <a:rPr b="1" lang="en-US" sz="1200" u="none" cap="none" strike="noStrike">
                          <a:solidFill>
                            <a:srgbClr val="3D5A80"/>
                          </a:solidFill>
                          <a:latin typeface="Calibri"/>
                          <a:ea typeface="Calibri"/>
                          <a:cs typeface="Calibri"/>
                          <a:sym typeface="Calibri"/>
                        </a:rPr>
                        <a:t>[RETRIEVE]</a:t>
                      </a:r>
                      <a:endParaRPr sz="1200" u="none" cap="none" strike="noStrike">
                        <a:latin typeface="Calibri"/>
                        <a:ea typeface="Calibri"/>
                        <a:cs typeface="Calibri"/>
                        <a:sym typeface="Calibri"/>
                      </a:endParaRPr>
                    </a:p>
                  </a:txBody>
                  <a:tcPr marT="45725" marB="45725" marR="91450" marL="91450" anchor="ctr">
                    <a:lnL cap="flat" cmpd="sng" w="9525">
                      <a:solidFill>
                        <a:srgbClr val="D8D0AE"/>
                      </a:solidFill>
                      <a:prstDash val="solid"/>
                      <a:round/>
                      <a:headEnd len="sm" w="sm" type="none"/>
                      <a:tailEnd len="sm" w="sm" type="none"/>
                    </a:lnL>
                    <a:lnR cap="flat" cmpd="sng" w="9525">
                      <a:solidFill>
                        <a:srgbClr val="D8D0AE"/>
                      </a:solidFill>
                      <a:prstDash val="solid"/>
                      <a:round/>
                      <a:headEnd len="sm" w="sm" type="none"/>
                      <a:tailEnd len="sm" w="sm" type="none"/>
                    </a:lnR>
                    <a:lnT cap="flat" cmpd="sng" w="9525">
                      <a:solidFill>
                        <a:srgbClr val="D8D0AE"/>
                      </a:solidFill>
                      <a:prstDash val="solid"/>
                      <a:round/>
                      <a:headEnd len="sm" w="sm" type="none"/>
                      <a:tailEnd len="sm" w="sm" type="none"/>
                    </a:lnT>
                    <a:lnB cap="flat" cmpd="sng" w="9525">
                      <a:solidFill>
                        <a:srgbClr val="D8D0AE"/>
                      </a:solidFill>
                      <a:prstDash val="solid"/>
                      <a:round/>
                      <a:headEnd len="sm" w="sm" type="none"/>
                      <a:tailEnd len="sm" w="sm" type="none"/>
                    </a:lnB>
                  </a:tcPr>
                </a:tc>
                <a:tc>
                  <a:txBody>
                    <a:bodyPr/>
                    <a:lstStyle/>
                    <a:p>
                      <a:pPr indent="0" lvl="0" marL="0" marR="0" rtl="0" algn="l">
                        <a:spcBef>
                          <a:spcPts val="0"/>
                        </a:spcBef>
                        <a:spcAft>
                          <a:spcPts val="0"/>
                        </a:spcAft>
                        <a:buClr>
                          <a:srgbClr val="1B2A4A"/>
                        </a:buClr>
                        <a:buSzPts val="1200"/>
                        <a:buFont typeface="Calibri"/>
                        <a:buNone/>
                      </a:pPr>
                      <a:r>
                        <a:rPr lang="en-US" sz="1200" u="none" cap="none" strike="noStrike">
                          <a:solidFill>
                            <a:srgbClr val="1B2A4A"/>
                          </a:solidFill>
                          <a:latin typeface="Calibri"/>
                          <a:ea typeface="Calibri"/>
                          <a:cs typeface="Calibri"/>
                          <a:sym typeface="Calibri"/>
                        </a:rPr>
                        <a:t>Yes  →  truy xuất top-5: aid 8149, 56180, 8311, 54667, 8314</a:t>
                      </a:r>
                      <a:endParaRPr sz="1200" u="none" cap="none" strike="noStrike">
                        <a:latin typeface="Calibri"/>
                        <a:ea typeface="Calibri"/>
                        <a:cs typeface="Calibri"/>
                        <a:sym typeface="Calibri"/>
                      </a:endParaRPr>
                    </a:p>
                  </a:txBody>
                  <a:tcPr marT="45725" marB="45725" marR="91450" marL="91450" anchor="ctr">
                    <a:lnL cap="flat" cmpd="sng" w="9525">
                      <a:solidFill>
                        <a:srgbClr val="D8D0AE"/>
                      </a:solidFill>
                      <a:prstDash val="solid"/>
                      <a:round/>
                      <a:headEnd len="sm" w="sm" type="none"/>
                      <a:tailEnd len="sm" w="sm" type="none"/>
                    </a:lnL>
                    <a:lnR cap="flat" cmpd="sng" w="9525">
                      <a:solidFill>
                        <a:srgbClr val="D8D0AE"/>
                      </a:solidFill>
                      <a:prstDash val="solid"/>
                      <a:round/>
                      <a:headEnd len="sm" w="sm" type="none"/>
                      <a:tailEnd len="sm" w="sm" type="none"/>
                    </a:lnR>
                    <a:lnT cap="flat" cmpd="sng" w="9525">
                      <a:solidFill>
                        <a:srgbClr val="D8D0AE"/>
                      </a:solidFill>
                      <a:prstDash val="solid"/>
                      <a:round/>
                      <a:headEnd len="sm" w="sm" type="none"/>
                      <a:tailEnd len="sm" w="sm" type="none"/>
                    </a:lnT>
                    <a:lnB cap="flat" cmpd="sng" w="9525">
                      <a:solidFill>
                        <a:srgbClr val="D8D0AE"/>
                      </a:solidFill>
                      <a:prstDash val="solid"/>
                      <a:round/>
                      <a:headEnd len="sm" w="sm" type="none"/>
                      <a:tailEnd len="sm" w="sm" type="none"/>
                    </a:lnB>
                  </a:tcPr>
                </a:tc>
              </a:tr>
              <a:tr h="457200">
                <a:tc>
                  <a:txBody>
                    <a:bodyPr/>
                    <a:lstStyle/>
                    <a:p>
                      <a:pPr indent="0" lvl="0" marL="0" marR="0" rtl="0" algn="l">
                        <a:spcBef>
                          <a:spcPts val="0"/>
                        </a:spcBef>
                        <a:spcAft>
                          <a:spcPts val="0"/>
                        </a:spcAft>
                        <a:buClr>
                          <a:srgbClr val="3D5A80"/>
                        </a:buClr>
                        <a:buSzPts val="1200"/>
                        <a:buFont typeface="Calibri"/>
                        <a:buNone/>
                      </a:pPr>
                      <a:r>
                        <a:rPr b="1" lang="en-US" sz="1200" u="none" cap="none" strike="noStrike">
                          <a:solidFill>
                            <a:srgbClr val="3D5A80"/>
                          </a:solidFill>
                          <a:latin typeface="Calibri"/>
                          <a:ea typeface="Calibri"/>
                          <a:cs typeface="Calibri"/>
                          <a:sym typeface="Calibri"/>
                        </a:rPr>
                        <a:t>[ISREL]</a:t>
                      </a:r>
                      <a:endParaRPr sz="1200" u="none" cap="none" strike="noStrike">
                        <a:latin typeface="Calibri"/>
                        <a:ea typeface="Calibri"/>
                        <a:cs typeface="Calibri"/>
                        <a:sym typeface="Calibri"/>
                      </a:endParaRPr>
                    </a:p>
                  </a:txBody>
                  <a:tcPr marT="45725" marB="45725" marR="91450" marL="91450" anchor="ctr">
                    <a:lnL cap="flat" cmpd="sng" w="9525">
                      <a:solidFill>
                        <a:srgbClr val="D8D0AE"/>
                      </a:solidFill>
                      <a:prstDash val="solid"/>
                      <a:round/>
                      <a:headEnd len="sm" w="sm" type="none"/>
                      <a:tailEnd len="sm" w="sm" type="none"/>
                    </a:lnL>
                    <a:lnR cap="flat" cmpd="sng" w="9525">
                      <a:solidFill>
                        <a:srgbClr val="D8D0AE"/>
                      </a:solidFill>
                      <a:prstDash val="solid"/>
                      <a:round/>
                      <a:headEnd len="sm" w="sm" type="none"/>
                      <a:tailEnd len="sm" w="sm" type="none"/>
                    </a:lnR>
                    <a:lnT cap="flat" cmpd="sng" w="9525">
                      <a:solidFill>
                        <a:srgbClr val="D8D0AE"/>
                      </a:solidFill>
                      <a:prstDash val="solid"/>
                      <a:round/>
                      <a:headEnd len="sm" w="sm" type="none"/>
                      <a:tailEnd len="sm" w="sm" type="none"/>
                    </a:lnT>
                    <a:lnB cap="flat" cmpd="sng" w="9525">
                      <a:solidFill>
                        <a:srgbClr val="D8D0AE"/>
                      </a:solidFill>
                      <a:prstDash val="solid"/>
                      <a:round/>
                      <a:headEnd len="sm" w="sm" type="none"/>
                      <a:tailEnd len="sm" w="sm" type="none"/>
                    </a:lnB>
                  </a:tcPr>
                </a:tc>
                <a:tc>
                  <a:txBody>
                    <a:bodyPr/>
                    <a:lstStyle/>
                    <a:p>
                      <a:pPr indent="0" lvl="0" marL="0" marR="0" rtl="0" algn="l">
                        <a:spcBef>
                          <a:spcPts val="0"/>
                        </a:spcBef>
                        <a:spcAft>
                          <a:spcPts val="0"/>
                        </a:spcAft>
                        <a:buClr>
                          <a:srgbClr val="1B2A4A"/>
                        </a:buClr>
                        <a:buSzPts val="1200"/>
                        <a:buFont typeface="Calibri"/>
                        <a:buNone/>
                      </a:pPr>
                      <a:r>
                        <a:rPr lang="en-US" sz="1200" u="none" cap="none" strike="noStrike">
                          <a:solidFill>
                            <a:srgbClr val="1B2A4A"/>
                          </a:solidFill>
                          <a:latin typeface="Calibri"/>
                          <a:ea typeface="Calibri"/>
                          <a:cs typeface="Calibri"/>
                          <a:sym typeface="Calibri"/>
                        </a:rPr>
                        <a:t>Giữ lại đúng 1 đoạn liên quan: aid 8149</a:t>
                      </a:r>
                      <a:endParaRPr sz="1200" u="none" cap="none" strike="noStrike">
                        <a:latin typeface="Calibri"/>
                        <a:ea typeface="Calibri"/>
                        <a:cs typeface="Calibri"/>
                        <a:sym typeface="Calibri"/>
                      </a:endParaRPr>
                    </a:p>
                  </a:txBody>
                  <a:tcPr marT="45725" marB="45725" marR="91450" marL="91450" anchor="ctr">
                    <a:lnL cap="flat" cmpd="sng" w="9525">
                      <a:solidFill>
                        <a:srgbClr val="D8D0AE"/>
                      </a:solidFill>
                      <a:prstDash val="solid"/>
                      <a:round/>
                      <a:headEnd len="sm" w="sm" type="none"/>
                      <a:tailEnd len="sm" w="sm" type="none"/>
                    </a:lnL>
                    <a:lnR cap="flat" cmpd="sng" w="9525">
                      <a:solidFill>
                        <a:srgbClr val="D8D0AE"/>
                      </a:solidFill>
                      <a:prstDash val="solid"/>
                      <a:round/>
                      <a:headEnd len="sm" w="sm" type="none"/>
                      <a:tailEnd len="sm" w="sm" type="none"/>
                    </a:lnR>
                    <a:lnT cap="flat" cmpd="sng" w="9525">
                      <a:solidFill>
                        <a:srgbClr val="D8D0AE"/>
                      </a:solidFill>
                      <a:prstDash val="solid"/>
                      <a:round/>
                      <a:headEnd len="sm" w="sm" type="none"/>
                      <a:tailEnd len="sm" w="sm" type="none"/>
                    </a:lnT>
                    <a:lnB cap="flat" cmpd="sng" w="9525">
                      <a:solidFill>
                        <a:srgbClr val="D8D0AE"/>
                      </a:solidFill>
                      <a:prstDash val="solid"/>
                      <a:round/>
                      <a:headEnd len="sm" w="sm" type="none"/>
                      <a:tailEnd len="sm" w="sm" type="none"/>
                    </a:lnB>
                  </a:tcPr>
                </a:tc>
              </a:tr>
              <a:tr h="548650">
                <a:tc>
                  <a:txBody>
                    <a:bodyPr/>
                    <a:lstStyle/>
                    <a:p>
                      <a:pPr indent="0" lvl="0" marL="0" marR="0" rtl="0" algn="l">
                        <a:spcBef>
                          <a:spcPts val="0"/>
                        </a:spcBef>
                        <a:spcAft>
                          <a:spcPts val="0"/>
                        </a:spcAft>
                        <a:buClr>
                          <a:srgbClr val="3D5A80"/>
                        </a:buClr>
                        <a:buSzPts val="1200"/>
                        <a:buFont typeface="Calibri"/>
                        <a:buNone/>
                      </a:pPr>
                      <a:r>
                        <a:rPr b="1" lang="en-US" sz="1200" u="none" cap="none" strike="noStrike">
                          <a:solidFill>
                            <a:srgbClr val="3D5A80"/>
                          </a:solidFill>
                          <a:latin typeface="Calibri"/>
                          <a:ea typeface="Calibri"/>
                          <a:cs typeface="Calibri"/>
                          <a:sym typeface="Calibri"/>
                        </a:rPr>
                        <a:t>Câu trả lời</a:t>
                      </a:r>
                      <a:endParaRPr sz="1200" u="none" cap="none" strike="noStrike">
                        <a:latin typeface="Calibri"/>
                        <a:ea typeface="Calibri"/>
                        <a:cs typeface="Calibri"/>
                        <a:sym typeface="Calibri"/>
                      </a:endParaRPr>
                    </a:p>
                  </a:txBody>
                  <a:tcPr marT="45725" marB="45725" marR="91450" marL="91450" anchor="ctr">
                    <a:lnL cap="flat" cmpd="sng" w="9525">
                      <a:solidFill>
                        <a:srgbClr val="D8D0AE"/>
                      </a:solidFill>
                      <a:prstDash val="solid"/>
                      <a:round/>
                      <a:headEnd len="sm" w="sm" type="none"/>
                      <a:tailEnd len="sm" w="sm" type="none"/>
                    </a:lnL>
                    <a:lnR cap="flat" cmpd="sng" w="9525">
                      <a:solidFill>
                        <a:srgbClr val="D8D0AE"/>
                      </a:solidFill>
                      <a:prstDash val="solid"/>
                      <a:round/>
                      <a:headEnd len="sm" w="sm" type="none"/>
                      <a:tailEnd len="sm" w="sm" type="none"/>
                    </a:lnR>
                    <a:lnT cap="flat" cmpd="sng" w="9525">
                      <a:solidFill>
                        <a:srgbClr val="D8D0AE"/>
                      </a:solidFill>
                      <a:prstDash val="solid"/>
                      <a:round/>
                      <a:headEnd len="sm" w="sm" type="none"/>
                      <a:tailEnd len="sm" w="sm" type="none"/>
                    </a:lnT>
                    <a:lnB cap="flat" cmpd="sng" w="9525">
                      <a:solidFill>
                        <a:srgbClr val="D8D0AE"/>
                      </a:solidFill>
                      <a:prstDash val="solid"/>
                      <a:round/>
                      <a:headEnd len="sm" w="sm" type="none"/>
                      <a:tailEnd len="sm" w="sm" type="none"/>
                    </a:lnB>
                  </a:tcPr>
                </a:tc>
                <a:tc>
                  <a:txBody>
                    <a:bodyPr/>
                    <a:lstStyle/>
                    <a:p>
                      <a:pPr indent="0" lvl="0" marL="0" marR="0" rtl="0" algn="l">
                        <a:spcBef>
                          <a:spcPts val="0"/>
                        </a:spcBef>
                        <a:spcAft>
                          <a:spcPts val="0"/>
                        </a:spcAft>
                        <a:buClr>
                          <a:srgbClr val="1B2A4A"/>
                        </a:buClr>
                        <a:buSzPts val="1200"/>
                        <a:buFont typeface="Calibri"/>
                        <a:buNone/>
                      </a:pPr>
                      <a:r>
                        <a:rPr lang="en-US" sz="1200" u="none" cap="none" strike="noStrike">
                          <a:solidFill>
                            <a:srgbClr val="1B2A4A"/>
                          </a:solidFill>
                          <a:latin typeface="Calibri"/>
                          <a:ea typeface="Calibri"/>
                          <a:cs typeface="Calibri"/>
                          <a:sym typeface="Calibri"/>
                        </a:rPr>
                        <a:t>“Công ty quản lý quỹ nước ngoài được phép mở 02 tài khoản giao dịch chứng khoán... [1]”</a:t>
                      </a:r>
                      <a:endParaRPr sz="1200" u="none" cap="none" strike="noStrike">
                        <a:latin typeface="Calibri"/>
                        <a:ea typeface="Calibri"/>
                        <a:cs typeface="Calibri"/>
                        <a:sym typeface="Calibri"/>
                      </a:endParaRPr>
                    </a:p>
                  </a:txBody>
                  <a:tcPr marT="45725" marB="45725" marR="91450" marL="91450" anchor="ctr">
                    <a:lnL cap="flat" cmpd="sng" w="9525">
                      <a:solidFill>
                        <a:srgbClr val="D8D0AE"/>
                      </a:solidFill>
                      <a:prstDash val="solid"/>
                      <a:round/>
                      <a:headEnd len="sm" w="sm" type="none"/>
                      <a:tailEnd len="sm" w="sm" type="none"/>
                    </a:lnL>
                    <a:lnR cap="flat" cmpd="sng" w="9525">
                      <a:solidFill>
                        <a:srgbClr val="D8D0AE"/>
                      </a:solidFill>
                      <a:prstDash val="solid"/>
                      <a:round/>
                      <a:headEnd len="sm" w="sm" type="none"/>
                      <a:tailEnd len="sm" w="sm" type="none"/>
                    </a:lnR>
                    <a:lnT cap="flat" cmpd="sng" w="9525">
                      <a:solidFill>
                        <a:srgbClr val="D8D0AE"/>
                      </a:solidFill>
                      <a:prstDash val="solid"/>
                      <a:round/>
                      <a:headEnd len="sm" w="sm" type="none"/>
                      <a:tailEnd len="sm" w="sm" type="none"/>
                    </a:lnT>
                    <a:lnB cap="flat" cmpd="sng" w="9525">
                      <a:solidFill>
                        <a:srgbClr val="D8D0AE"/>
                      </a:solidFill>
                      <a:prstDash val="solid"/>
                      <a:round/>
                      <a:headEnd len="sm" w="sm" type="none"/>
                      <a:tailEnd len="sm" w="sm" type="none"/>
                    </a:lnB>
                  </a:tcPr>
                </a:tc>
              </a:tr>
              <a:tr h="457200">
                <a:tc>
                  <a:txBody>
                    <a:bodyPr/>
                    <a:lstStyle/>
                    <a:p>
                      <a:pPr indent="0" lvl="0" marL="0" marR="0" rtl="0" algn="l">
                        <a:spcBef>
                          <a:spcPts val="0"/>
                        </a:spcBef>
                        <a:spcAft>
                          <a:spcPts val="0"/>
                        </a:spcAft>
                        <a:buClr>
                          <a:srgbClr val="3D5A80"/>
                        </a:buClr>
                        <a:buSzPts val="1200"/>
                        <a:buFont typeface="Calibri"/>
                        <a:buNone/>
                      </a:pPr>
                      <a:r>
                        <a:rPr b="1" lang="en-US" sz="1200" u="none" cap="none" strike="noStrike">
                          <a:solidFill>
                            <a:srgbClr val="3D5A80"/>
                          </a:solidFill>
                          <a:latin typeface="Calibri"/>
                          <a:ea typeface="Calibri"/>
                          <a:cs typeface="Calibri"/>
                          <a:sym typeface="Calibri"/>
                        </a:rPr>
                        <a:t>[ISSUP] · [ISUSE]</a:t>
                      </a:r>
                      <a:endParaRPr sz="1200" u="none" cap="none" strike="noStrike">
                        <a:latin typeface="Calibri"/>
                        <a:ea typeface="Calibri"/>
                        <a:cs typeface="Calibri"/>
                        <a:sym typeface="Calibri"/>
                      </a:endParaRPr>
                    </a:p>
                  </a:txBody>
                  <a:tcPr marT="45725" marB="45725" marR="91450" marL="91450" anchor="ctr">
                    <a:lnL cap="flat" cmpd="sng" w="9525">
                      <a:solidFill>
                        <a:srgbClr val="D8D0AE"/>
                      </a:solidFill>
                      <a:prstDash val="solid"/>
                      <a:round/>
                      <a:headEnd len="sm" w="sm" type="none"/>
                      <a:tailEnd len="sm" w="sm" type="none"/>
                    </a:lnL>
                    <a:lnR cap="flat" cmpd="sng" w="9525">
                      <a:solidFill>
                        <a:srgbClr val="D8D0AE"/>
                      </a:solidFill>
                      <a:prstDash val="solid"/>
                      <a:round/>
                      <a:headEnd len="sm" w="sm" type="none"/>
                      <a:tailEnd len="sm" w="sm" type="none"/>
                    </a:lnR>
                    <a:lnT cap="flat" cmpd="sng" w="9525">
                      <a:solidFill>
                        <a:srgbClr val="D8D0AE"/>
                      </a:solidFill>
                      <a:prstDash val="solid"/>
                      <a:round/>
                      <a:headEnd len="sm" w="sm" type="none"/>
                      <a:tailEnd len="sm" w="sm" type="none"/>
                    </a:lnT>
                    <a:lnB cap="flat" cmpd="sng" w="9525">
                      <a:solidFill>
                        <a:srgbClr val="D8D0AE"/>
                      </a:solidFill>
                      <a:prstDash val="solid"/>
                      <a:round/>
                      <a:headEnd len="sm" w="sm" type="none"/>
                      <a:tailEnd len="sm" w="sm" type="none"/>
                    </a:lnB>
                  </a:tcPr>
                </a:tc>
                <a:tc>
                  <a:txBody>
                    <a:bodyPr/>
                    <a:lstStyle/>
                    <a:p>
                      <a:pPr indent="0" lvl="0" marL="0" marR="0" rtl="0" algn="l">
                        <a:spcBef>
                          <a:spcPts val="0"/>
                        </a:spcBef>
                        <a:spcAft>
                          <a:spcPts val="0"/>
                        </a:spcAft>
                        <a:buClr>
                          <a:srgbClr val="1B2A4A"/>
                        </a:buClr>
                        <a:buSzPts val="1200"/>
                        <a:buFont typeface="Calibri"/>
                        <a:buNone/>
                      </a:pPr>
                      <a:r>
                        <a:rPr lang="en-US" sz="1200" u="none" cap="none" strike="noStrike">
                          <a:solidFill>
                            <a:srgbClr val="1B2A4A"/>
                          </a:solidFill>
                          <a:latin typeface="Calibri"/>
                          <a:ea typeface="Calibri"/>
                          <a:cs typeface="Calibri"/>
                          <a:sym typeface="Calibri"/>
                        </a:rPr>
                        <a:t>FULLY_SUPPORTED · USEFUL</a:t>
                      </a:r>
                      <a:endParaRPr sz="1200" u="none" cap="none" strike="noStrike">
                        <a:latin typeface="Calibri"/>
                        <a:ea typeface="Calibri"/>
                        <a:cs typeface="Calibri"/>
                        <a:sym typeface="Calibri"/>
                      </a:endParaRPr>
                    </a:p>
                  </a:txBody>
                  <a:tcPr marT="45725" marB="45725" marR="91450" marL="91450" anchor="ctr">
                    <a:lnL cap="flat" cmpd="sng" w="9525">
                      <a:solidFill>
                        <a:srgbClr val="D8D0AE"/>
                      </a:solidFill>
                      <a:prstDash val="solid"/>
                      <a:round/>
                      <a:headEnd len="sm" w="sm" type="none"/>
                      <a:tailEnd len="sm" w="sm" type="none"/>
                    </a:lnL>
                    <a:lnR cap="flat" cmpd="sng" w="9525">
                      <a:solidFill>
                        <a:srgbClr val="D8D0AE"/>
                      </a:solidFill>
                      <a:prstDash val="solid"/>
                      <a:round/>
                      <a:headEnd len="sm" w="sm" type="none"/>
                      <a:tailEnd len="sm" w="sm" type="none"/>
                    </a:lnR>
                    <a:lnT cap="flat" cmpd="sng" w="9525">
                      <a:solidFill>
                        <a:srgbClr val="D8D0AE"/>
                      </a:solidFill>
                      <a:prstDash val="solid"/>
                      <a:round/>
                      <a:headEnd len="sm" w="sm" type="none"/>
                      <a:tailEnd len="sm" w="sm" type="none"/>
                    </a:lnT>
                    <a:lnB cap="flat" cmpd="sng" w="9525">
                      <a:solidFill>
                        <a:srgbClr val="D8D0AE"/>
                      </a:solidFill>
                      <a:prstDash val="solid"/>
                      <a:round/>
                      <a:headEnd len="sm" w="sm" type="none"/>
                      <a:tailEnd len="sm" w="sm" type="none"/>
                    </a:lnB>
                  </a:tcPr>
                </a:tc>
              </a:tr>
            </a:tbl>
          </a:graphicData>
        </a:graphic>
      </p:graphicFrame>
      <p:sp>
        <p:nvSpPr>
          <p:cNvPr id="516" name="Google Shape;516;p21"/>
          <p:cNvSpPr txBox="1"/>
          <p:nvPr/>
        </p:nvSpPr>
        <p:spPr>
          <a:xfrm>
            <a:off x="457200" y="6547104"/>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6B85"/>
              </a:buClr>
              <a:buSzPts val="900"/>
              <a:buFont typeface="Calibri"/>
              <a:buNone/>
            </a:pPr>
            <a:r>
              <a:rPr b="0" i="0" lang="en-US" sz="900" u="none" cap="none" strike="noStrike">
                <a:solidFill>
                  <a:srgbClr val="5B6B85"/>
                </a:solidFill>
                <a:latin typeface="Calibri"/>
                <a:ea typeface="Calibri"/>
                <a:cs typeface="Calibri"/>
                <a:sym typeface="Calibri"/>
              </a:rPr>
              <a:t>Self-RAG-Inspired Legal QA  ·  CS2308.CH203</a:t>
            </a:r>
            <a:endParaRPr b="0" i="0" sz="900" u="none" cap="none" strike="noStrike">
              <a:solidFill>
                <a:schemeClr val="dk1"/>
              </a:solidFill>
              <a:latin typeface="Calibri"/>
              <a:ea typeface="Calibri"/>
              <a:cs typeface="Calibri"/>
              <a:sym typeface="Calibri"/>
            </a:endParaRPr>
          </a:p>
        </p:txBody>
      </p:sp>
      <p:sp>
        <p:nvSpPr>
          <p:cNvPr id="517" name="Google Shape;517;p21"/>
          <p:cNvSpPr txBox="1"/>
          <p:nvPr/>
        </p:nvSpPr>
        <p:spPr>
          <a:xfrm>
            <a:off x="11274552" y="6547104"/>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6B85"/>
              </a:buClr>
              <a:buSzPts val="900"/>
              <a:buFont typeface="Calibri"/>
              <a:buNone/>
            </a:pPr>
            <a:r>
              <a:rPr b="0" i="0" lang="en-US" sz="900" u="none" cap="none" strike="noStrike">
                <a:solidFill>
                  <a:srgbClr val="5B6B85"/>
                </a:solidFill>
                <a:latin typeface="Calibri"/>
                <a:ea typeface="Calibri"/>
                <a:cs typeface="Calibri"/>
                <a:sym typeface="Calibri"/>
              </a:rPr>
              <a:t>19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2A4A"/>
        </a:solidFill>
      </p:bgPr>
    </p:bg>
    <p:spTree>
      <p:nvGrpSpPr>
        <p:cNvPr id="522" name="Shape 522"/>
        <p:cNvGrpSpPr/>
        <p:nvPr/>
      </p:nvGrpSpPr>
      <p:grpSpPr>
        <a:xfrm>
          <a:off x="0" y="0"/>
          <a:ext cx="0" cy="0"/>
          <a:chOff x="0" y="0"/>
          <a:chExt cx="0" cy="0"/>
        </a:xfrm>
      </p:grpSpPr>
      <p:sp>
        <p:nvSpPr>
          <p:cNvPr id="523" name="Google Shape;523;p22"/>
          <p:cNvSpPr txBox="1"/>
          <p:nvPr/>
        </p:nvSpPr>
        <p:spPr>
          <a:xfrm>
            <a:off x="457200" y="365760"/>
            <a:ext cx="105156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1200"/>
              <a:buFont typeface="Calibri"/>
              <a:buNone/>
            </a:pPr>
            <a:r>
              <a:rPr b="1" i="0" lang="en-US" sz="1200" u="none" cap="none" strike="noStrike">
                <a:solidFill>
                  <a:srgbClr val="C9A227"/>
                </a:solidFill>
                <a:latin typeface="Calibri"/>
                <a:ea typeface="Calibri"/>
                <a:cs typeface="Calibri"/>
                <a:sym typeface="Calibri"/>
              </a:rPr>
              <a:t>10 · KẾT LUẬN</a:t>
            </a:r>
            <a:endParaRPr b="0" i="0" sz="1200" u="none" cap="none" strike="noStrike">
              <a:solidFill>
                <a:schemeClr val="dk1"/>
              </a:solidFill>
              <a:latin typeface="Calibri"/>
              <a:ea typeface="Calibri"/>
              <a:cs typeface="Calibri"/>
              <a:sym typeface="Calibri"/>
            </a:endParaRPr>
          </a:p>
        </p:txBody>
      </p:sp>
      <p:sp>
        <p:nvSpPr>
          <p:cNvPr id="524" name="Google Shape;524;p22"/>
          <p:cNvSpPr txBox="1"/>
          <p:nvPr/>
        </p:nvSpPr>
        <p:spPr>
          <a:xfrm>
            <a:off x="457200" y="621792"/>
            <a:ext cx="1088136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500"/>
              <a:buFont typeface="Times New Roman"/>
              <a:buNone/>
            </a:pPr>
            <a:r>
              <a:rPr b="1" i="0" lang="en-US" sz="2500" u="none" cap="none" strike="noStrike">
                <a:solidFill>
                  <a:srgbClr val="FFFFFF"/>
                </a:solidFill>
                <a:latin typeface="Times New Roman"/>
                <a:ea typeface="Times New Roman"/>
                <a:cs typeface="Times New Roman"/>
                <a:sym typeface="Times New Roman"/>
              </a:rPr>
              <a:t>Self-reflection vẫn có giá trị — ngay cả khi chỉ mô phỏng bằng prompting</a:t>
            </a:r>
            <a:endParaRPr b="0" i="0" sz="2500" u="none" cap="none" strike="noStrike">
              <a:solidFill>
                <a:schemeClr val="dk1"/>
              </a:solidFill>
              <a:latin typeface="Calibri"/>
              <a:ea typeface="Calibri"/>
              <a:cs typeface="Calibri"/>
              <a:sym typeface="Calibri"/>
            </a:endParaRPr>
          </a:p>
        </p:txBody>
      </p:sp>
      <p:sp>
        <p:nvSpPr>
          <p:cNvPr id="525" name="Google Shape;525;p22"/>
          <p:cNvSpPr/>
          <p:nvPr/>
        </p:nvSpPr>
        <p:spPr>
          <a:xfrm>
            <a:off x="457200" y="1691640"/>
            <a:ext cx="5486400" cy="4480560"/>
          </a:xfrm>
          <a:prstGeom prst="roundRect">
            <a:avLst>
              <a:gd fmla="val 1633" name="adj"/>
            </a:avLst>
          </a:prstGeom>
          <a:solidFill>
            <a:srgbClr val="23345A"/>
          </a:solidFill>
          <a:ln>
            <a:noFill/>
          </a:ln>
          <a:effectLst>
            <a:outerShdw blurRad="76200" rotWithShape="0" algn="bl" dir="5400000" dist="25400">
              <a:srgbClr val="1B2A4A">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22"/>
          <p:cNvSpPr txBox="1"/>
          <p:nvPr/>
        </p:nvSpPr>
        <p:spPr>
          <a:xfrm>
            <a:off x="731520" y="1874520"/>
            <a:ext cx="49377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1600"/>
              <a:buFont typeface="Times New Roman"/>
              <a:buNone/>
            </a:pPr>
            <a:r>
              <a:rPr b="1" i="0" lang="en-US" sz="1600" u="none" cap="none" strike="noStrike">
                <a:solidFill>
                  <a:srgbClr val="C9A227"/>
                </a:solidFill>
                <a:latin typeface="Times New Roman"/>
                <a:ea typeface="Times New Roman"/>
                <a:cs typeface="Times New Roman"/>
                <a:sym typeface="Times New Roman"/>
              </a:rPr>
              <a:t>Kết luận chính</a:t>
            </a:r>
            <a:endParaRPr b="0" i="0" sz="1600" u="none" cap="none" strike="noStrike">
              <a:solidFill>
                <a:schemeClr val="dk1"/>
              </a:solidFill>
              <a:latin typeface="Calibri"/>
              <a:ea typeface="Calibri"/>
              <a:cs typeface="Calibri"/>
              <a:sym typeface="Calibri"/>
            </a:endParaRPr>
          </a:p>
        </p:txBody>
      </p:sp>
      <p:sp>
        <p:nvSpPr>
          <p:cNvPr id="527" name="Google Shape;527;p22"/>
          <p:cNvSpPr txBox="1"/>
          <p:nvPr/>
        </p:nvSpPr>
        <p:spPr>
          <a:xfrm>
            <a:off x="731520" y="2331720"/>
            <a:ext cx="4937760" cy="3749040"/>
          </a:xfrm>
          <a:prstGeom prst="rect">
            <a:avLst/>
          </a:prstGeom>
          <a:noFill/>
          <a:ln>
            <a:noFill/>
          </a:ln>
        </p:spPr>
        <p:txBody>
          <a:bodyPr anchorCtr="0" anchor="t" bIns="0" lIns="0" spcFirstLastPara="1" rIns="0" wrap="square" tIns="0">
            <a:noAutofit/>
          </a:bodyPr>
          <a:lstStyle/>
          <a:p>
            <a:pPr indent="-342900" lvl="0" marL="342900" marR="0" rtl="0" algn="l">
              <a:lnSpc>
                <a:spcPct val="108000"/>
              </a:lnSpc>
              <a:spcBef>
                <a:spcPts val="0"/>
              </a:spcBef>
              <a:spcAft>
                <a:spcPts val="0"/>
              </a:spcAft>
              <a:buClr>
                <a:srgbClr val="E7ECF5"/>
              </a:buClr>
              <a:buSzPts val="1250"/>
              <a:buFont typeface="Calibri"/>
              <a:buChar char="•"/>
            </a:pPr>
            <a:r>
              <a:rPr b="0" i="0" lang="en-US" sz="1250" u="none" cap="none" strike="noStrike">
                <a:solidFill>
                  <a:srgbClr val="E7ECF5"/>
                </a:solidFill>
                <a:latin typeface="Calibri"/>
                <a:ea typeface="Calibri"/>
                <a:cs typeface="Calibri"/>
                <a:sym typeface="Calibri"/>
              </a:rPr>
              <a:t>Self-RAG-inspired vượt trội cả 2 baseline trên mọi chỉ số chất lượng câu trả lời cùng lúc</a:t>
            </a:r>
            <a:endParaRPr b="0" i="0" sz="1250" u="none" cap="none" strike="noStrike">
              <a:solidFill>
                <a:schemeClr val="dk1"/>
              </a:solidFill>
              <a:latin typeface="Calibri"/>
              <a:ea typeface="Calibri"/>
              <a:cs typeface="Calibri"/>
              <a:sym typeface="Calibri"/>
            </a:endParaRPr>
          </a:p>
          <a:p>
            <a:pPr indent="-342900" lvl="0" marL="342900" marR="0" rtl="0" algn="l">
              <a:lnSpc>
                <a:spcPct val="108000"/>
              </a:lnSpc>
              <a:spcBef>
                <a:spcPts val="1000"/>
              </a:spcBef>
              <a:spcAft>
                <a:spcPts val="0"/>
              </a:spcAft>
              <a:buClr>
                <a:srgbClr val="E7ECF5"/>
              </a:buClr>
              <a:buSzPts val="1250"/>
              <a:buFont typeface="Calibri"/>
              <a:buChar char="•"/>
            </a:pPr>
            <a:r>
              <a:rPr b="0" i="0" lang="en-US" sz="1250" u="none" cap="none" strike="noStrike">
                <a:solidFill>
                  <a:srgbClr val="E7ECF5"/>
                </a:solidFill>
                <a:latin typeface="Calibri"/>
                <a:ea typeface="Calibri"/>
                <a:cs typeface="Calibri"/>
                <a:sym typeface="Calibri"/>
              </a:rPr>
              <a:t>ISREL giúp tăng hơn gấp đôi tỉ lệ câu trả lời được hỗ trợ đầy đủ — tái hiện qua 3 lần đánh giá độc lập</a:t>
            </a:r>
            <a:endParaRPr b="0" i="0" sz="1250" u="none" cap="none" strike="noStrike">
              <a:solidFill>
                <a:schemeClr val="dk1"/>
              </a:solidFill>
              <a:latin typeface="Calibri"/>
              <a:ea typeface="Calibri"/>
              <a:cs typeface="Calibri"/>
              <a:sym typeface="Calibri"/>
            </a:endParaRPr>
          </a:p>
          <a:p>
            <a:pPr indent="-342900" lvl="0" marL="342900" marR="0" rtl="0" algn="l">
              <a:lnSpc>
                <a:spcPct val="108000"/>
              </a:lnSpc>
              <a:spcBef>
                <a:spcPts val="1000"/>
              </a:spcBef>
              <a:spcAft>
                <a:spcPts val="0"/>
              </a:spcAft>
              <a:buClr>
                <a:srgbClr val="E7ECF5"/>
              </a:buClr>
              <a:buSzPts val="1250"/>
              <a:buFont typeface="Calibri"/>
              <a:buChar char="•"/>
            </a:pPr>
            <a:r>
              <a:rPr b="0" i="0" lang="en-US" sz="1250" u="none" cap="none" strike="noStrike">
                <a:solidFill>
                  <a:srgbClr val="E7ECF5"/>
                </a:solidFill>
                <a:latin typeface="Calibri"/>
                <a:ea typeface="Calibri"/>
                <a:cs typeface="Calibri"/>
                <a:sym typeface="Calibri"/>
              </a:rPr>
              <a:t>Giải quyết được đánh đổi đúng-vs-hữu ích mà baseline truy xuất cố định gặp phải</a:t>
            </a:r>
            <a:endParaRPr b="0" i="0" sz="1250" u="none" cap="none" strike="noStrike">
              <a:solidFill>
                <a:schemeClr val="dk1"/>
              </a:solidFill>
              <a:latin typeface="Calibri"/>
              <a:ea typeface="Calibri"/>
              <a:cs typeface="Calibri"/>
              <a:sym typeface="Calibri"/>
            </a:endParaRPr>
          </a:p>
          <a:p>
            <a:pPr indent="-342900" lvl="0" marL="342900" marR="0" rtl="0" algn="l">
              <a:lnSpc>
                <a:spcPct val="108000"/>
              </a:lnSpc>
              <a:spcBef>
                <a:spcPts val="1000"/>
              </a:spcBef>
              <a:spcAft>
                <a:spcPts val="0"/>
              </a:spcAft>
              <a:buClr>
                <a:srgbClr val="E7ECF5"/>
              </a:buClr>
              <a:buSzPts val="1250"/>
              <a:buFont typeface="Calibri"/>
              <a:buChar char="•"/>
            </a:pPr>
            <a:r>
              <a:rPr b="0" i="0" lang="en-US" sz="1250" u="none" cap="none" strike="noStrike">
                <a:solidFill>
                  <a:srgbClr val="E7ECF5"/>
                </a:solidFill>
                <a:latin typeface="Calibri"/>
                <a:ea typeface="Calibri"/>
                <a:cs typeface="Calibri"/>
                <a:sym typeface="Calibri"/>
              </a:rPr>
              <a:t>Ý tưởng cốt lõi của Self-RAG (truy xuất thích ứng + tự phê bình) vẫn có giá trị ở dạng hoàn toàn dựa trên prompting, không tinh chỉnh, trên ngôn ngữ ít tài nguyên và lĩnh vực chuyên biệt</a:t>
            </a:r>
            <a:endParaRPr b="0" i="0" sz="1250" u="none" cap="none" strike="noStrike">
              <a:solidFill>
                <a:schemeClr val="dk1"/>
              </a:solidFill>
              <a:latin typeface="Calibri"/>
              <a:ea typeface="Calibri"/>
              <a:cs typeface="Calibri"/>
              <a:sym typeface="Calibri"/>
            </a:endParaRPr>
          </a:p>
        </p:txBody>
      </p:sp>
      <p:sp>
        <p:nvSpPr>
          <p:cNvPr id="528" name="Google Shape;528;p22"/>
          <p:cNvSpPr/>
          <p:nvPr/>
        </p:nvSpPr>
        <p:spPr>
          <a:xfrm>
            <a:off x="6263640" y="1691640"/>
            <a:ext cx="5468112" cy="4480560"/>
          </a:xfrm>
          <a:prstGeom prst="roundRect">
            <a:avLst>
              <a:gd fmla="val 1633" name="adj"/>
            </a:avLst>
          </a:prstGeom>
          <a:solidFill>
            <a:srgbClr val="23345A"/>
          </a:solidFill>
          <a:ln>
            <a:noFill/>
          </a:ln>
          <a:effectLst>
            <a:outerShdw blurRad="76200" rotWithShape="0" algn="bl" dir="5400000" dist="25400">
              <a:srgbClr val="1B2A4A">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22"/>
          <p:cNvSpPr txBox="1"/>
          <p:nvPr/>
        </p:nvSpPr>
        <p:spPr>
          <a:xfrm>
            <a:off x="6537960" y="1874520"/>
            <a:ext cx="49377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1600"/>
              <a:buFont typeface="Times New Roman"/>
              <a:buNone/>
            </a:pPr>
            <a:r>
              <a:rPr b="1" i="0" lang="en-US" sz="1600" u="none" cap="none" strike="noStrike">
                <a:solidFill>
                  <a:srgbClr val="C9A227"/>
                </a:solidFill>
                <a:latin typeface="Times New Roman"/>
                <a:ea typeface="Times New Roman"/>
                <a:cs typeface="Times New Roman"/>
                <a:sym typeface="Times New Roman"/>
              </a:rPr>
              <a:t>Hướng phát triển</a:t>
            </a:r>
            <a:endParaRPr b="0" i="0" sz="1600" u="none" cap="none" strike="noStrike">
              <a:solidFill>
                <a:schemeClr val="dk1"/>
              </a:solidFill>
              <a:latin typeface="Calibri"/>
              <a:ea typeface="Calibri"/>
              <a:cs typeface="Calibri"/>
              <a:sym typeface="Calibri"/>
            </a:endParaRPr>
          </a:p>
        </p:txBody>
      </p:sp>
      <p:sp>
        <p:nvSpPr>
          <p:cNvPr id="530" name="Google Shape;530;p22"/>
          <p:cNvSpPr txBox="1"/>
          <p:nvPr/>
        </p:nvSpPr>
        <p:spPr>
          <a:xfrm>
            <a:off x="6537960" y="2331720"/>
            <a:ext cx="4937760" cy="3749040"/>
          </a:xfrm>
          <a:prstGeom prst="rect">
            <a:avLst/>
          </a:prstGeom>
          <a:noFill/>
          <a:ln>
            <a:noFill/>
          </a:ln>
        </p:spPr>
        <p:txBody>
          <a:bodyPr anchorCtr="0" anchor="t" bIns="0" lIns="0" spcFirstLastPara="1" rIns="0" wrap="square" tIns="0">
            <a:noAutofit/>
          </a:bodyPr>
          <a:lstStyle/>
          <a:p>
            <a:pPr indent="-342900" lvl="0" marL="342900" marR="0" rtl="0" algn="l">
              <a:lnSpc>
                <a:spcPct val="108000"/>
              </a:lnSpc>
              <a:spcBef>
                <a:spcPts val="0"/>
              </a:spcBef>
              <a:spcAft>
                <a:spcPts val="0"/>
              </a:spcAft>
              <a:buClr>
                <a:srgbClr val="E7ECF5"/>
              </a:buClr>
              <a:buSzPts val="1250"/>
              <a:buFont typeface="Calibri"/>
              <a:buChar char="•"/>
            </a:pPr>
            <a:r>
              <a:rPr b="0" i="0" lang="en-US" sz="1250" u="none" cap="none" strike="noStrike">
                <a:solidFill>
                  <a:srgbClr val="E7ECF5"/>
                </a:solidFill>
                <a:latin typeface="Calibri"/>
                <a:ea typeface="Calibri"/>
                <a:cs typeface="Calibri"/>
                <a:sym typeface="Calibri"/>
              </a:rPr>
              <a:t>Tinh chỉnh một critic model tiếng Việt nhẹ để thay thế judge dựa trên prompting — giảm chi phí và giới hạn cứng về cỡ mẫu</a:t>
            </a:r>
            <a:endParaRPr b="0" i="0" sz="1250" u="none" cap="none" strike="noStrike">
              <a:solidFill>
                <a:schemeClr val="dk1"/>
              </a:solidFill>
              <a:latin typeface="Calibri"/>
              <a:ea typeface="Calibri"/>
              <a:cs typeface="Calibri"/>
              <a:sym typeface="Calibri"/>
            </a:endParaRPr>
          </a:p>
          <a:p>
            <a:pPr indent="-342900" lvl="0" marL="342900" marR="0" rtl="0" algn="l">
              <a:lnSpc>
                <a:spcPct val="108000"/>
              </a:lnSpc>
              <a:spcBef>
                <a:spcPts val="1000"/>
              </a:spcBef>
              <a:spcAft>
                <a:spcPts val="0"/>
              </a:spcAft>
              <a:buClr>
                <a:srgbClr val="E7ECF5"/>
              </a:buClr>
              <a:buSzPts val="1250"/>
              <a:buFont typeface="Calibri"/>
              <a:buChar char="•"/>
            </a:pPr>
            <a:r>
              <a:rPr b="0" i="0" lang="en-US" sz="1250" u="none" cap="none" strike="noStrike">
                <a:solidFill>
                  <a:srgbClr val="E7ECF5"/>
                </a:solidFill>
                <a:latin typeface="Calibri"/>
                <a:ea typeface="Calibri"/>
                <a:cs typeface="Calibri"/>
                <a:sym typeface="Calibri"/>
              </a:rPr>
              <a:t>Đánh giá trên mẫu lớn hơn (vượt giới hạn free-tier hiện tại)</a:t>
            </a:r>
            <a:endParaRPr b="0" i="0" sz="1250" u="none" cap="none" strike="noStrike">
              <a:solidFill>
                <a:schemeClr val="dk1"/>
              </a:solidFill>
              <a:latin typeface="Calibri"/>
              <a:ea typeface="Calibri"/>
              <a:cs typeface="Calibri"/>
              <a:sym typeface="Calibri"/>
            </a:endParaRPr>
          </a:p>
          <a:p>
            <a:pPr indent="-342900" lvl="0" marL="342900" marR="0" rtl="0" algn="l">
              <a:lnSpc>
                <a:spcPct val="108000"/>
              </a:lnSpc>
              <a:spcBef>
                <a:spcPts val="1000"/>
              </a:spcBef>
              <a:spcAft>
                <a:spcPts val="0"/>
              </a:spcAft>
              <a:buClr>
                <a:srgbClr val="E7ECF5"/>
              </a:buClr>
              <a:buSzPts val="1250"/>
              <a:buFont typeface="Calibri"/>
              <a:buChar char="•"/>
            </a:pPr>
            <a:r>
              <a:rPr b="0" i="0" lang="en-US" sz="1250" u="none" cap="none" strike="noStrike">
                <a:solidFill>
                  <a:srgbClr val="E7ECF5"/>
                </a:solidFill>
                <a:latin typeface="Calibri"/>
                <a:ea typeface="Calibri"/>
                <a:cs typeface="Calibri"/>
                <a:sym typeface="Calibri"/>
              </a:rPr>
              <a:t>Khám phá cơ chế phản tư ở cấp độ token ngay trong lúc sinh văn bản, gần với beam-search cấp-đoạn của bài báo gốc, thay vì chấm điểm hậu kiểm như hiện tại</a:t>
            </a:r>
            <a:endParaRPr b="0" i="0" sz="1250" u="none" cap="none" strike="noStrike">
              <a:solidFill>
                <a:schemeClr val="dk1"/>
              </a:solidFill>
              <a:latin typeface="Calibri"/>
              <a:ea typeface="Calibri"/>
              <a:cs typeface="Calibri"/>
              <a:sym typeface="Calibri"/>
            </a:endParaRPr>
          </a:p>
        </p:txBody>
      </p:sp>
      <p:sp>
        <p:nvSpPr>
          <p:cNvPr id="531" name="Google Shape;531;p22"/>
          <p:cNvSpPr txBox="1"/>
          <p:nvPr/>
        </p:nvSpPr>
        <p:spPr>
          <a:xfrm>
            <a:off x="457200" y="6547104"/>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C9BB5"/>
              </a:buClr>
              <a:buSzPts val="900"/>
              <a:buFont typeface="Calibri"/>
              <a:buNone/>
            </a:pPr>
            <a:r>
              <a:rPr b="0" i="0" lang="en-US" sz="900" u="none" cap="none" strike="noStrike">
                <a:solidFill>
                  <a:srgbClr val="8C9BB5"/>
                </a:solidFill>
                <a:latin typeface="Calibri"/>
                <a:ea typeface="Calibri"/>
                <a:cs typeface="Calibri"/>
                <a:sym typeface="Calibri"/>
              </a:rPr>
              <a:t>Self-RAG-Inspired Legal QA  ·  CS2308.CH203</a:t>
            </a:r>
            <a:endParaRPr b="0" i="0" sz="900" u="none" cap="none" strike="noStrike">
              <a:solidFill>
                <a:schemeClr val="dk1"/>
              </a:solidFill>
              <a:latin typeface="Calibri"/>
              <a:ea typeface="Calibri"/>
              <a:cs typeface="Calibri"/>
              <a:sym typeface="Calibri"/>
            </a:endParaRPr>
          </a:p>
        </p:txBody>
      </p:sp>
      <p:sp>
        <p:nvSpPr>
          <p:cNvPr id="532" name="Google Shape;532;p22"/>
          <p:cNvSpPr txBox="1"/>
          <p:nvPr/>
        </p:nvSpPr>
        <p:spPr>
          <a:xfrm>
            <a:off x="11274552" y="6547104"/>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C9BB5"/>
              </a:buClr>
              <a:buSzPts val="900"/>
              <a:buFont typeface="Calibri"/>
              <a:buNone/>
            </a:pPr>
            <a:r>
              <a:rPr b="0" i="0" lang="en-US" sz="900" u="none" cap="none" strike="noStrike">
                <a:solidFill>
                  <a:srgbClr val="8C9BB5"/>
                </a:solidFill>
                <a:latin typeface="Calibri"/>
                <a:ea typeface="Calibri"/>
                <a:cs typeface="Calibri"/>
                <a:sym typeface="Calibri"/>
              </a:rPr>
              <a:t>20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7" name="Shape 537"/>
        <p:cNvGrpSpPr/>
        <p:nvPr/>
      </p:nvGrpSpPr>
      <p:grpSpPr>
        <a:xfrm>
          <a:off x="0" y="0"/>
          <a:ext cx="0" cy="0"/>
          <a:chOff x="0" y="0"/>
          <a:chExt cx="0" cy="0"/>
        </a:xfrm>
      </p:grpSpPr>
      <p:sp>
        <p:nvSpPr>
          <p:cNvPr id="538" name="Google Shape;538;p23"/>
          <p:cNvSpPr txBox="1"/>
          <p:nvPr/>
        </p:nvSpPr>
        <p:spPr>
          <a:xfrm>
            <a:off x="457200" y="320040"/>
            <a:ext cx="1051560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1200"/>
              <a:buFont typeface="Calibri"/>
              <a:buNone/>
            </a:pPr>
            <a:r>
              <a:rPr b="1" i="0" lang="en-US" sz="1200" u="none" cap="none" strike="noStrike">
                <a:solidFill>
                  <a:srgbClr val="C9A227"/>
                </a:solidFill>
                <a:latin typeface="Calibri"/>
                <a:ea typeface="Calibri"/>
                <a:cs typeface="Calibri"/>
                <a:sym typeface="Calibri"/>
              </a:rPr>
              <a:t>11 · HẠN CHẾ &amp; KẾT THÚC</a:t>
            </a:r>
            <a:endParaRPr b="0" i="0" sz="1200" u="none" cap="none" strike="noStrike">
              <a:solidFill>
                <a:schemeClr val="dk1"/>
              </a:solidFill>
              <a:latin typeface="Calibri"/>
              <a:ea typeface="Calibri"/>
              <a:cs typeface="Calibri"/>
              <a:sym typeface="Calibri"/>
            </a:endParaRPr>
          </a:p>
        </p:txBody>
      </p:sp>
      <p:sp>
        <p:nvSpPr>
          <p:cNvPr id="539" name="Google Shape;539;p23"/>
          <p:cNvSpPr txBox="1"/>
          <p:nvPr/>
        </p:nvSpPr>
        <p:spPr>
          <a:xfrm>
            <a:off x="457200" y="566928"/>
            <a:ext cx="1078992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B2A4A"/>
              </a:buClr>
              <a:buSzPts val="2800"/>
              <a:buFont typeface="Times New Roman"/>
              <a:buNone/>
            </a:pPr>
            <a:r>
              <a:rPr b="1" i="0" lang="en-US" sz="2800" u="none" cap="none" strike="noStrike">
                <a:solidFill>
                  <a:srgbClr val="1B2A4A"/>
                </a:solidFill>
                <a:latin typeface="Times New Roman"/>
                <a:ea typeface="Times New Roman"/>
                <a:cs typeface="Times New Roman"/>
                <a:sym typeface="Times New Roman"/>
              </a:rPr>
              <a:t>Limitations</a:t>
            </a:r>
            <a:endParaRPr b="0" i="0" sz="2800" u="none" cap="none" strike="noStrike">
              <a:solidFill>
                <a:schemeClr val="dk1"/>
              </a:solidFill>
              <a:latin typeface="Calibri"/>
              <a:ea typeface="Calibri"/>
              <a:cs typeface="Calibri"/>
              <a:sym typeface="Calibri"/>
            </a:endParaRPr>
          </a:p>
        </p:txBody>
      </p:sp>
      <p:sp>
        <p:nvSpPr>
          <p:cNvPr id="540" name="Google Shape;540;p23"/>
          <p:cNvSpPr/>
          <p:nvPr/>
        </p:nvSpPr>
        <p:spPr>
          <a:xfrm>
            <a:off x="457200" y="1554480"/>
            <a:ext cx="11274552" cy="3246120"/>
          </a:xfrm>
          <a:prstGeom prst="roundRect">
            <a:avLst>
              <a:gd fmla="val 2254" name="adj"/>
            </a:avLst>
          </a:prstGeom>
          <a:solidFill>
            <a:srgbClr val="EEF1F6"/>
          </a:solidFill>
          <a:ln>
            <a:noFill/>
          </a:ln>
          <a:effectLst>
            <a:outerShdw blurRad="76200" rotWithShape="0" algn="bl" dir="5400000" dist="25400">
              <a:srgbClr val="1B2A4A">
                <a:alpha val="1215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23"/>
          <p:cNvSpPr txBox="1"/>
          <p:nvPr/>
        </p:nvSpPr>
        <p:spPr>
          <a:xfrm>
            <a:off x="777240" y="1783080"/>
            <a:ext cx="10607040" cy="2926080"/>
          </a:xfrm>
          <a:prstGeom prst="rect">
            <a:avLst/>
          </a:prstGeom>
          <a:noFill/>
          <a:ln>
            <a:noFill/>
          </a:ln>
        </p:spPr>
        <p:txBody>
          <a:bodyPr anchorCtr="0" anchor="t" bIns="0" lIns="0" spcFirstLastPara="1" rIns="0" wrap="square" tIns="0">
            <a:noAutofit/>
          </a:bodyPr>
          <a:lstStyle/>
          <a:p>
            <a:pPr indent="-342900" lvl="0" marL="342900" marR="0" rtl="0" algn="l">
              <a:lnSpc>
                <a:spcPct val="108000"/>
              </a:lnSpc>
              <a:spcBef>
                <a:spcPts val="0"/>
              </a:spcBef>
              <a:spcAft>
                <a:spcPts val="0"/>
              </a:spcAft>
              <a:buClr>
                <a:srgbClr val="1B2A4A"/>
              </a:buClr>
              <a:buSzPts val="1250"/>
              <a:buFont typeface="Calibri"/>
              <a:buChar char="•"/>
            </a:pPr>
            <a:r>
              <a:rPr b="0" i="0" lang="en-US" sz="1250" u="none" cap="none" strike="noStrike">
                <a:solidFill>
                  <a:srgbClr val="1B2A4A"/>
                </a:solidFill>
                <a:latin typeface="Calibri"/>
                <a:ea typeface="Calibri"/>
                <a:cs typeface="Calibri"/>
                <a:sym typeface="Calibri"/>
              </a:rPr>
              <a:t>Tín hiệu phản tư được mô phỏng bằng prompting trên LLM tổng quát, không phải critic được huấn luyện chuyên biệt như paper gốc → có thể kém hiệu chỉnh, kém nhất quán hơn</a:t>
            </a:r>
            <a:endParaRPr b="0" i="0" sz="1250" u="none" cap="none" strike="noStrike">
              <a:solidFill>
                <a:schemeClr val="dk1"/>
              </a:solidFill>
              <a:latin typeface="Calibri"/>
              <a:ea typeface="Calibri"/>
              <a:cs typeface="Calibri"/>
              <a:sym typeface="Calibri"/>
            </a:endParaRPr>
          </a:p>
          <a:p>
            <a:pPr indent="-342900" lvl="0" marL="342900" marR="0" rtl="0" algn="l">
              <a:lnSpc>
                <a:spcPct val="108000"/>
              </a:lnSpc>
              <a:spcBef>
                <a:spcPts val="900"/>
              </a:spcBef>
              <a:spcAft>
                <a:spcPts val="0"/>
              </a:spcAft>
              <a:buClr>
                <a:srgbClr val="1B2A4A"/>
              </a:buClr>
              <a:buSzPts val="1250"/>
              <a:buFont typeface="Calibri"/>
              <a:buChar char="•"/>
            </a:pPr>
            <a:r>
              <a:rPr b="0" i="0" lang="en-US" sz="1250" u="none" cap="none" strike="noStrike">
                <a:solidFill>
                  <a:srgbClr val="1B2A4A"/>
                </a:solidFill>
                <a:latin typeface="Calibri"/>
                <a:ea typeface="Calibri"/>
                <a:cs typeface="Calibri"/>
                <a:sym typeface="Calibri"/>
              </a:rPr>
              <a:t>Dựa vào LLM judge thay vì người gán nhãn; ~6.4% số dòng vẫn có dấu hiệu nhiễu do nhãn mặc định dù đã sửa lỗi, chưa có đánh giá con người độc lập để hiệu chỉnh judge</a:t>
            </a:r>
            <a:endParaRPr b="0" i="0" sz="1250" u="none" cap="none" strike="noStrike">
              <a:solidFill>
                <a:schemeClr val="dk1"/>
              </a:solidFill>
              <a:latin typeface="Calibri"/>
              <a:ea typeface="Calibri"/>
              <a:cs typeface="Calibri"/>
              <a:sym typeface="Calibri"/>
            </a:endParaRPr>
          </a:p>
          <a:p>
            <a:pPr indent="-342900" lvl="0" marL="342900" marR="0" rtl="0" algn="l">
              <a:lnSpc>
                <a:spcPct val="108000"/>
              </a:lnSpc>
              <a:spcBef>
                <a:spcPts val="900"/>
              </a:spcBef>
              <a:spcAft>
                <a:spcPts val="0"/>
              </a:spcAft>
              <a:buClr>
                <a:srgbClr val="1B2A4A"/>
              </a:buClr>
              <a:buSzPts val="1250"/>
              <a:buFont typeface="Calibri"/>
              <a:buChar char="•"/>
            </a:pPr>
            <a:r>
              <a:rPr b="0" i="0" lang="en-US" sz="1250" u="none" cap="none" strike="noStrike">
                <a:solidFill>
                  <a:srgbClr val="1B2A4A"/>
                </a:solidFill>
                <a:latin typeface="Calibri"/>
                <a:ea typeface="Calibri"/>
                <a:cs typeface="Calibri"/>
                <a:sym typeface="Calibri"/>
              </a:rPr>
              <a:t>Vì lý do sử dụng API key free nên kết quả với bộ data so sánh bị hạn chế — chỉ 187/250 câu hỏi dự kiến, giới hạn cứng do rate-limit API miễn phí chứ không phải lựa chọn phương pháp luận</a:t>
            </a:r>
            <a:endParaRPr b="0" i="0" sz="1250" u="none" cap="none" strike="noStrike">
              <a:solidFill>
                <a:schemeClr val="dk1"/>
              </a:solidFill>
              <a:latin typeface="Calibri"/>
              <a:ea typeface="Calibri"/>
              <a:cs typeface="Calibri"/>
              <a:sym typeface="Calibri"/>
            </a:endParaRPr>
          </a:p>
          <a:p>
            <a:pPr indent="-342900" lvl="0" marL="342900" marR="0" rtl="0" algn="l">
              <a:lnSpc>
                <a:spcPct val="108000"/>
              </a:lnSpc>
              <a:spcBef>
                <a:spcPts val="900"/>
              </a:spcBef>
              <a:spcAft>
                <a:spcPts val="0"/>
              </a:spcAft>
              <a:buClr>
                <a:srgbClr val="1B2A4A"/>
              </a:buClr>
              <a:buSzPts val="1250"/>
              <a:buFont typeface="Calibri"/>
              <a:buChar char="•"/>
            </a:pPr>
            <a:r>
              <a:rPr b="0" i="0" lang="en-US" sz="1250" u="none" cap="none" strike="noStrike">
                <a:solidFill>
                  <a:srgbClr val="1B2A4A"/>
                </a:solidFill>
                <a:latin typeface="Calibri"/>
                <a:ea typeface="Calibri"/>
                <a:cs typeface="Calibri"/>
                <a:sym typeface="Calibri"/>
              </a:rPr>
              <a:t>Chỉ đánh giá trên một lĩnh vực (pháp luật) và một ngôn ngữ (tiếng Việt) — khả năng khái quát hoá chưa được kiểm chứng</a:t>
            </a:r>
            <a:endParaRPr b="0" i="0" sz="1250" u="none" cap="none" strike="noStrike">
              <a:solidFill>
                <a:schemeClr val="dk1"/>
              </a:solidFill>
              <a:latin typeface="Calibri"/>
              <a:ea typeface="Calibri"/>
              <a:cs typeface="Calibri"/>
              <a:sym typeface="Calibri"/>
            </a:endParaRPr>
          </a:p>
          <a:p>
            <a:pPr indent="-342900" lvl="0" marL="342900" marR="0" rtl="0" algn="l">
              <a:lnSpc>
                <a:spcPct val="108000"/>
              </a:lnSpc>
              <a:spcBef>
                <a:spcPts val="900"/>
              </a:spcBef>
              <a:spcAft>
                <a:spcPts val="0"/>
              </a:spcAft>
              <a:buClr>
                <a:srgbClr val="1B2A4A"/>
              </a:buClr>
              <a:buSzPts val="1250"/>
              <a:buFont typeface="Calibri"/>
              <a:buChar char="•"/>
            </a:pPr>
            <a:r>
              <a:rPr b="0" i="0" lang="en-US" sz="1250" u="none" cap="none" strike="noStrike">
                <a:solidFill>
                  <a:srgbClr val="1B2A4A"/>
                </a:solidFill>
                <a:latin typeface="Calibri"/>
                <a:ea typeface="Calibri"/>
                <a:cs typeface="Calibri"/>
                <a:sym typeface="Calibri"/>
              </a:rPr>
              <a:t>Một số lỗi xuất phát hoàn toàn từ tầng truy xuất (gold law chưa từng nằm trong top-k) — không module phản tư nào phía sau có thể sửa được</a:t>
            </a:r>
            <a:endParaRPr b="0" i="0" sz="1250" u="none" cap="none" strike="noStrike">
              <a:solidFill>
                <a:schemeClr val="dk1"/>
              </a:solidFill>
              <a:latin typeface="Calibri"/>
              <a:ea typeface="Calibri"/>
              <a:cs typeface="Calibri"/>
              <a:sym typeface="Calibri"/>
            </a:endParaRPr>
          </a:p>
        </p:txBody>
      </p:sp>
      <p:sp>
        <p:nvSpPr>
          <p:cNvPr id="542" name="Google Shape;542;p23"/>
          <p:cNvSpPr/>
          <p:nvPr/>
        </p:nvSpPr>
        <p:spPr>
          <a:xfrm>
            <a:off x="457200" y="5029200"/>
            <a:ext cx="11274552" cy="1234440"/>
          </a:xfrm>
          <a:prstGeom prst="roundRect">
            <a:avLst>
              <a:gd fmla="val 5926" name="adj"/>
            </a:avLst>
          </a:prstGeom>
          <a:solidFill>
            <a:srgbClr val="1B2A4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23"/>
          <p:cNvSpPr txBox="1"/>
          <p:nvPr/>
        </p:nvSpPr>
        <p:spPr>
          <a:xfrm>
            <a:off x="822960" y="5166360"/>
            <a:ext cx="68580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000"/>
              <a:buFont typeface="Times New Roman"/>
              <a:buNone/>
            </a:pPr>
            <a:r>
              <a:rPr b="1" i="0" lang="en-US" sz="2000" u="none" cap="none" strike="noStrike">
                <a:solidFill>
                  <a:srgbClr val="FFFFFF"/>
                </a:solidFill>
                <a:latin typeface="Times New Roman"/>
                <a:ea typeface="Times New Roman"/>
                <a:cs typeface="Times New Roman"/>
                <a:sym typeface="Times New Roman"/>
              </a:rPr>
              <a:t>Cảm ơn Thầy/Cô đã lắng nghe</a:t>
            </a:r>
            <a:endParaRPr b="0" i="0" sz="2000" u="none" cap="none" strike="noStrike">
              <a:solidFill>
                <a:schemeClr val="dk1"/>
              </a:solidFill>
              <a:latin typeface="Calibri"/>
              <a:ea typeface="Calibri"/>
              <a:cs typeface="Calibri"/>
              <a:sym typeface="Calibri"/>
            </a:endParaRPr>
          </a:p>
        </p:txBody>
      </p:sp>
      <p:sp>
        <p:nvSpPr>
          <p:cNvPr id="544" name="Google Shape;544;p23"/>
          <p:cNvSpPr txBox="1"/>
          <p:nvPr/>
        </p:nvSpPr>
        <p:spPr>
          <a:xfrm>
            <a:off x="822960" y="5669280"/>
            <a:ext cx="6858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D48A"/>
              </a:buClr>
              <a:buSzPts val="1300"/>
              <a:buFont typeface="Calibri"/>
              <a:buNone/>
            </a:pPr>
            <a:r>
              <a:rPr b="0" i="1" lang="en-US" sz="1300" u="none" cap="none" strike="noStrike">
                <a:solidFill>
                  <a:srgbClr val="E8D48A"/>
                </a:solidFill>
                <a:latin typeface="Calibri"/>
                <a:ea typeface="Calibri"/>
                <a:cs typeface="Calibri"/>
                <a:sym typeface="Calibri"/>
              </a:rPr>
              <a:t>Rất mong nhận được góp ý  ·  Q&amp;A</a:t>
            </a:r>
            <a:endParaRPr b="0" i="0" sz="1300" u="none" cap="none" strike="noStrike">
              <a:solidFill>
                <a:schemeClr val="dk1"/>
              </a:solidFill>
              <a:latin typeface="Calibri"/>
              <a:ea typeface="Calibri"/>
              <a:cs typeface="Calibri"/>
              <a:sym typeface="Calibri"/>
            </a:endParaRPr>
          </a:p>
        </p:txBody>
      </p:sp>
      <p:sp>
        <p:nvSpPr>
          <p:cNvPr id="545" name="Google Shape;545;p23"/>
          <p:cNvSpPr txBox="1"/>
          <p:nvPr/>
        </p:nvSpPr>
        <p:spPr>
          <a:xfrm>
            <a:off x="8412480" y="5285232"/>
            <a:ext cx="310896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Vũ Đức Mạnh · Nguyễn Hoàng Nam</a:t>
            </a:r>
            <a:endParaRPr b="0" i="0" sz="1200" u="none" cap="none" strike="noStrike">
              <a:solidFill>
                <a:schemeClr val="dk1"/>
              </a:solidFill>
              <a:latin typeface="Calibri"/>
              <a:ea typeface="Calibri"/>
              <a:cs typeface="Calibri"/>
              <a:sym typeface="Calibri"/>
            </a:endParaRPr>
          </a:p>
        </p:txBody>
      </p:sp>
      <p:sp>
        <p:nvSpPr>
          <p:cNvPr id="546" name="Google Shape;546;p23"/>
          <p:cNvSpPr txBox="1"/>
          <p:nvPr/>
        </p:nvSpPr>
        <p:spPr>
          <a:xfrm>
            <a:off x="8412480" y="5623560"/>
            <a:ext cx="3108960" cy="36576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C7D0E2"/>
              </a:buClr>
              <a:buSzPts val="1050"/>
              <a:buFont typeface="Calibri"/>
              <a:buNone/>
            </a:pPr>
            <a:r>
              <a:rPr b="0" i="0" lang="en-US" sz="1050" u="none" cap="none" strike="noStrike">
                <a:solidFill>
                  <a:srgbClr val="C7D0E2"/>
                </a:solidFill>
                <a:latin typeface="Calibri"/>
                <a:ea typeface="Calibri"/>
                <a:cs typeface="Calibri"/>
                <a:sym typeface="Calibri"/>
              </a:rPr>
              <a:t>CS2308.CH203 · UIT, ĐHQG-HCM</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